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handoutMasterIdLst>
    <p:handoutMasterId r:id="rId20"/>
  </p:handoutMasterIdLst>
  <p:sldIdLst>
    <p:sldId id="256" r:id="rId2"/>
    <p:sldId id="257" r:id="rId3"/>
    <p:sldId id="259" r:id="rId4"/>
    <p:sldId id="293" r:id="rId5"/>
    <p:sldId id="286" r:id="rId6"/>
    <p:sldId id="287" r:id="rId7"/>
    <p:sldId id="288" r:id="rId8"/>
    <p:sldId id="295" r:id="rId9"/>
    <p:sldId id="291" r:id="rId10"/>
    <p:sldId id="296" r:id="rId11"/>
    <p:sldId id="292" r:id="rId12"/>
    <p:sldId id="297" r:id="rId13"/>
    <p:sldId id="290" r:id="rId14"/>
    <p:sldId id="298" r:id="rId15"/>
    <p:sldId id="289" r:id="rId16"/>
    <p:sldId id="299" r:id="rId17"/>
    <p:sldId id="275"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1CDF746-EB7E-4D16-B1C3-090D75499F37}">
          <p14:sldIdLst>
            <p14:sldId id="256"/>
            <p14:sldId id="257"/>
            <p14:sldId id="259"/>
            <p14:sldId id="293"/>
            <p14:sldId id="286"/>
            <p14:sldId id="287"/>
            <p14:sldId id="288"/>
            <p14:sldId id="295"/>
            <p14:sldId id="291"/>
            <p14:sldId id="296"/>
            <p14:sldId id="292"/>
            <p14:sldId id="297"/>
            <p14:sldId id="290"/>
            <p14:sldId id="298"/>
            <p14:sldId id="289"/>
            <p14:sldId id="299"/>
            <p14:sldId id="27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BTM 4209 Micro economics</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450A8A7-1B1E-472D-A5E2-C39882B68DE1}" type="datetimeFigureOut">
              <a:rPr lang="en-US" smtClean="0"/>
              <a:t>1/2/2026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829BD4-DD46-45A3-8C86-9833C784FD6A}" type="slidenum">
              <a:rPr lang="en-US" smtClean="0"/>
              <a:t>‹#›</a:t>
            </a:fld>
            <a:endParaRPr lang="en-US"/>
          </a:p>
        </p:txBody>
      </p:sp>
    </p:spTree>
    <p:extLst>
      <p:ext uri="{BB962C8B-B14F-4D97-AF65-F5344CB8AC3E}">
        <p14:creationId xmlns:p14="http://schemas.microsoft.com/office/powerpoint/2010/main" val="409054115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BTM 4209 Micro economics</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905AC8-3697-4082-B305-A661C0FE1530}" type="datetimeFigureOut">
              <a:rPr lang="en-US" smtClean="0"/>
              <a:t>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102121-106C-4020-A6EB-02F95D7F7DCB}" type="slidenum">
              <a:rPr lang="en-US" smtClean="0"/>
              <a:t>‹#›</a:t>
            </a:fld>
            <a:endParaRPr lang="en-US"/>
          </a:p>
        </p:txBody>
      </p:sp>
    </p:spTree>
    <p:extLst>
      <p:ext uri="{BB962C8B-B14F-4D97-AF65-F5344CB8AC3E}">
        <p14:creationId xmlns:p14="http://schemas.microsoft.com/office/powerpoint/2010/main" val="1882555275"/>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102121-106C-4020-A6EB-02F95D7F7DCB}" type="slidenum">
              <a:rPr lang="en-US" smtClean="0"/>
              <a:t>2</a:t>
            </a:fld>
            <a:endParaRPr lang="en-US" dirty="0"/>
          </a:p>
        </p:txBody>
      </p:sp>
      <p:sp>
        <p:nvSpPr>
          <p:cNvPr id="5" name="Header Placeholder 4"/>
          <p:cNvSpPr>
            <a:spLocks noGrp="1"/>
          </p:cNvSpPr>
          <p:nvPr>
            <p:ph type="hdr" sz="quarter" idx="11"/>
          </p:nvPr>
        </p:nvSpPr>
        <p:spPr/>
        <p:txBody>
          <a:bodyPr/>
          <a:lstStyle/>
          <a:p>
            <a:r>
              <a:rPr lang="en-US" dirty="0"/>
              <a:t>BTM 4209 Micro economics</a:t>
            </a:r>
          </a:p>
        </p:txBody>
      </p:sp>
    </p:spTree>
    <p:extLst>
      <p:ext uri="{BB962C8B-B14F-4D97-AF65-F5344CB8AC3E}">
        <p14:creationId xmlns:p14="http://schemas.microsoft.com/office/powerpoint/2010/main" val="3690831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t>BTM 4209 Micro economics</a:t>
            </a:r>
          </a:p>
        </p:txBody>
      </p:sp>
      <p:sp>
        <p:nvSpPr>
          <p:cNvPr id="5" name="Slide Number Placeholder 4"/>
          <p:cNvSpPr>
            <a:spLocks noGrp="1"/>
          </p:cNvSpPr>
          <p:nvPr>
            <p:ph type="sldNum" sz="quarter" idx="11"/>
          </p:nvPr>
        </p:nvSpPr>
        <p:spPr/>
        <p:txBody>
          <a:bodyPr/>
          <a:lstStyle/>
          <a:p>
            <a:fld id="{D2102121-106C-4020-A6EB-02F95D7F7DCB}" type="slidenum">
              <a:rPr lang="en-US" smtClean="0"/>
              <a:t>3</a:t>
            </a:fld>
            <a:endParaRPr lang="en-US" dirty="0"/>
          </a:p>
        </p:txBody>
      </p:sp>
    </p:spTree>
    <p:extLst>
      <p:ext uri="{BB962C8B-B14F-4D97-AF65-F5344CB8AC3E}">
        <p14:creationId xmlns:p14="http://schemas.microsoft.com/office/powerpoint/2010/main" val="2278614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subtitle style</a:t>
            </a:r>
            <a:endParaRPr lang="en-US" dirty="0"/>
          </a:p>
        </p:txBody>
      </p:sp>
      <p:sp>
        <p:nvSpPr>
          <p:cNvPr id="4" name="Date Placeholder 3"/>
          <p:cNvSpPr>
            <a:spLocks noGrp="1"/>
          </p:cNvSpPr>
          <p:nvPr>
            <p:ph type="dt" sz="half" idx="10"/>
          </p:nvPr>
        </p:nvSpPr>
        <p:spPr/>
        <p:txBody>
          <a:bodyPr/>
          <a:lstStyle/>
          <a:p>
            <a:fld id="{D6321F3F-C687-4DDE-8985-23907D5BB27E}" type="datetime1">
              <a:rPr lang="en-US" smtClean="0"/>
              <a:t>1/2/2026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8DBE45-6775-406F-8D83-E5D85249CDF4}" type="datetime1">
              <a:rPr lang="en-US" smtClean="0"/>
              <a:t>1/2/2026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a:t>Click to edit Master text styles</a:t>
            </a:r>
          </a:p>
        </p:txBody>
      </p:sp>
      <p:sp>
        <p:nvSpPr>
          <p:cNvPr id="4" name="Date Placeholder 3"/>
          <p:cNvSpPr>
            <a:spLocks noGrp="1"/>
          </p:cNvSpPr>
          <p:nvPr>
            <p:ph type="dt" sz="half" idx="10"/>
          </p:nvPr>
        </p:nvSpPr>
        <p:spPr/>
        <p:txBody>
          <a:bodyPr/>
          <a:lstStyle/>
          <a:p>
            <a:fld id="{5310F38F-01EF-4BA3-AE3A-69058A5323E3}" type="datetime1">
              <a:rPr lang="en-US" smtClean="0"/>
              <a:t>1/2/2026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965C65-85FC-4218-809D-AE439DE85C65}" type="datetime1">
              <a:rPr lang="en-US" smtClean="0"/>
              <a:t>1/2/2026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FBE618-867C-428E-BD48-A6A1108581B5}" type="datetime1">
              <a:rPr lang="en-US" smtClean="0"/>
              <a:t>1/2/2026</a:t>
            </a:fld>
            <a:endParaRPr lang="en-US"/>
          </a:p>
        </p:txBody>
      </p:sp>
      <p:sp>
        <p:nvSpPr>
          <p:cNvPr id="8" name="Footer Placeholder 7"/>
          <p:cNvSpPr>
            <a:spLocks noGrp="1"/>
          </p:cNvSpPr>
          <p:nvPr>
            <p:ph type="ftr" sz="quarter" idx="11"/>
          </p:nvPr>
        </p:nvSpPr>
        <p:spPr/>
        <p:txBody>
          <a:bodyPr/>
          <a:lstStyle/>
          <a:p>
            <a:r>
              <a:rPr lang="en-US"/>
              <a:t>Md. Abul kalam Azad, BTM, IUT</a:t>
            </a:r>
          </a:p>
        </p:txBody>
      </p:sp>
      <p:sp>
        <p:nvSpPr>
          <p:cNvPr id="9" name="Slide Number Placeholder 8"/>
          <p:cNvSpPr>
            <a:spLocks noGrp="1"/>
          </p:cNvSpPr>
          <p:nvPr>
            <p:ph type="sldNum" sz="quarter" idx="12"/>
          </p:nvPr>
        </p:nvSpPr>
        <p:spPr/>
        <p:txBody>
          <a:bodyPr/>
          <a:lstStyle/>
          <a:p>
            <a:fld id="{D3475259-C304-4272-8FDF-2C3F4334C8F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1278D5-3430-48FB-B45C-BF8001592866}" type="datetime1">
              <a:rPr lang="en-US" smtClean="0"/>
              <a:t>1/2/2026</a:t>
            </a:fld>
            <a:endParaRPr lang="en-US"/>
          </a:p>
        </p:txBody>
      </p:sp>
      <p:sp>
        <p:nvSpPr>
          <p:cNvPr id="4" name="Footer Placeholder 3"/>
          <p:cNvSpPr>
            <a:spLocks noGrp="1"/>
          </p:cNvSpPr>
          <p:nvPr>
            <p:ph type="ftr" sz="quarter" idx="11"/>
          </p:nvPr>
        </p:nvSpPr>
        <p:spPr/>
        <p:txBody>
          <a:bodyPr/>
          <a:lstStyle/>
          <a:p>
            <a:r>
              <a:rPr lang="en-US"/>
              <a:t>Md. Abul kalam Azad, BTM, IUT</a:t>
            </a:r>
          </a:p>
        </p:txBody>
      </p:sp>
      <p:sp>
        <p:nvSpPr>
          <p:cNvPr id="5" name="Slide Number Placeholder 4"/>
          <p:cNvSpPr>
            <a:spLocks noGrp="1"/>
          </p:cNvSpPr>
          <p:nvPr>
            <p:ph type="sldNum" sz="quarter" idx="12"/>
          </p:nvPr>
        </p:nvSpPr>
        <p:spPr/>
        <p:txBody>
          <a:bodyPr/>
          <a:lstStyle/>
          <a:p>
            <a:fld id="{D3475259-C304-4272-8FDF-2C3F4334C8F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D3148B-8A36-49F4-820A-10C045CA49A9}" type="datetime1">
              <a:rPr lang="en-US" smtClean="0"/>
              <a:t>1/2/2026</a:t>
            </a:fld>
            <a:endParaRPr lang="en-US"/>
          </a:p>
        </p:txBody>
      </p:sp>
      <p:sp>
        <p:nvSpPr>
          <p:cNvPr id="3" name="Footer Placeholder 2"/>
          <p:cNvSpPr>
            <a:spLocks noGrp="1"/>
          </p:cNvSpPr>
          <p:nvPr>
            <p:ph type="ftr" sz="quarter" idx="11"/>
          </p:nvPr>
        </p:nvSpPr>
        <p:spPr/>
        <p:txBody>
          <a:bodyPr/>
          <a:lstStyle/>
          <a:p>
            <a:r>
              <a:rPr lang="en-US"/>
              <a:t>Md. Abul kalam Azad, BTM, IUT</a:t>
            </a:r>
          </a:p>
        </p:txBody>
      </p:sp>
      <p:sp>
        <p:nvSpPr>
          <p:cNvPr id="4" name="Slide Number Placeholder 3"/>
          <p:cNvSpPr>
            <a:spLocks noGrp="1"/>
          </p:cNvSpPr>
          <p:nvPr>
            <p:ph type="sldNum" sz="quarter" idx="12"/>
          </p:nvPr>
        </p:nvSpPr>
        <p:spPr/>
        <p:txBody>
          <a:bodyPr/>
          <a:lstStyle/>
          <a:p>
            <a:fld id="{D3475259-C304-4272-8FDF-2C3F4334C8F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a:t>Click to edit Master text styles</a:t>
            </a:r>
          </a:p>
        </p:txBody>
      </p:sp>
      <p:sp>
        <p:nvSpPr>
          <p:cNvPr id="5" name="Date Placeholder 4"/>
          <p:cNvSpPr>
            <a:spLocks noGrp="1"/>
          </p:cNvSpPr>
          <p:nvPr>
            <p:ph type="dt" sz="half" idx="10"/>
          </p:nvPr>
        </p:nvSpPr>
        <p:spPr/>
        <p:txBody>
          <a:bodyPr/>
          <a:lstStyle/>
          <a:p>
            <a:fld id="{14087253-20F4-4A42-9506-A370F9EE2DA5}" type="datetime1">
              <a:rPr lang="en-US" smtClean="0"/>
              <a:t>1/2/2026</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r>
              <a:rPr lang="en-US"/>
              <a:t>Md. Abul kalam Azad, BTM, IUT</a:t>
            </a:r>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D3475259-C304-4272-8FDF-2C3F4334C8F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605529-D9E1-461F-9B8A-3B9529BF5DAF}" type="datetime1">
              <a:rPr lang="en-US" smtClean="0"/>
              <a:t>1/2/2026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93E555-0476-4DA6-88B6-2DACA795D0B8}" type="datetime1">
              <a:rPr lang="en-US" smtClean="0"/>
              <a:t>1/2/2026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FAC5B1-70EB-46CC-993D-CFB79F1052EF}" type="datetime1">
              <a:rPr lang="en-US" smtClean="0"/>
              <a:t>1/2/2026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E6A70861-8773-4FB8-9956-232996F6B14B}" type="datetime1">
              <a:rPr lang="en-US" smtClean="0"/>
              <a:t>1/2/2026</a:t>
            </a:fld>
            <a:endParaRPr lang="en-US" dirty="0"/>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r>
              <a:rPr lang="en-US" dirty="0"/>
              <a:t>Md. </a:t>
            </a:r>
            <a:r>
              <a:rPr lang="en-US" dirty="0" err="1"/>
              <a:t>Abul</a:t>
            </a:r>
            <a:r>
              <a:rPr lang="en-US" dirty="0"/>
              <a:t> </a:t>
            </a:r>
            <a:r>
              <a:rPr lang="en-US" dirty="0" err="1"/>
              <a:t>kalam</a:t>
            </a:r>
            <a:r>
              <a:rPr lang="en-US" dirty="0"/>
              <a:t> Azad, BTM, IUT</a:t>
            </a:r>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D3475259-C304-4272-8FDF-2C3F4334C8F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A767D3-76B1-4EC9-9A1B-047AA29CB137}" type="datetime1">
              <a:rPr lang="en-US" smtClean="0"/>
              <a:t>1/2/2026</a:t>
            </a:fld>
            <a:endParaRPr lang="en-US" dirty="0"/>
          </a:p>
        </p:txBody>
      </p:sp>
      <p:sp>
        <p:nvSpPr>
          <p:cNvPr id="3" name="Rectangle 2"/>
          <p:cNvSpPr/>
          <p:nvPr/>
        </p:nvSpPr>
        <p:spPr>
          <a:xfrm>
            <a:off x="1676400" y="1981201"/>
            <a:ext cx="5562600" cy="1077218"/>
          </a:xfrm>
          <a:prstGeom prst="rect">
            <a:avLst/>
          </a:prstGeom>
        </p:spPr>
        <p:txBody>
          <a:bodyPr wrap="square">
            <a:spAutoFit/>
          </a:bodyPr>
          <a:lstStyle/>
          <a:p>
            <a:pPr algn="ctr"/>
            <a:r>
              <a:rPr lang="en-US" sz="3200" b="1" dirty="0"/>
              <a:t>The Five Messages Leaders Must Manage by </a:t>
            </a:r>
            <a:r>
              <a:rPr lang="en-US" sz="3200" b="1" i="1" dirty="0"/>
              <a:t>John Hamm</a:t>
            </a:r>
            <a:endParaRPr lang="en-US" sz="3200" b="1" dirty="0"/>
          </a:p>
        </p:txBody>
      </p:sp>
    </p:spTree>
    <p:extLst>
      <p:ext uri="{BB962C8B-B14F-4D97-AF65-F5344CB8AC3E}">
        <p14:creationId xmlns:p14="http://schemas.microsoft.com/office/powerpoint/2010/main" val="3151377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502262-9A86-47E4-881F-F15A9109CDB7}" type="datetime1">
              <a:rPr lang="en-US" smtClean="0"/>
              <a:t>1/2/2026</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897579149"/>
              </p:ext>
            </p:extLst>
          </p:nvPr>
        </p:nvGraphicFramePr>
        <p:xfrm>
          <a:off x="1524001" y="2362200"/>
          <a:ext cx="6172199" cy="539931"/>
        </p:xfrm>
        <a:graphic>
          <a:graphicData uri="http://schemas.openxmlformats.org/drawingml/2006/table">
            <a:tbl>
              <a:tblPr firstRow="1" firstCol="1" bandRow="1">
                <a:tableStyleId>{5C22544A-7EE6-4342-B048-85BDC9FD1C3A}</a:tableStyleId>
              </a:tblPr>
              <a:tblGrid>
                <a:gridCol w="6172199">
                  <a:extLst>
                    <a:ext uri="{9D8B030D-6E8A-4147-A177-3AD203B41FA5}">
                      <a16:colId xmlns:a16="http://schemas.microsoft.com/office/drawing/2014/main" val="20000"/>
                    </a:ext>
                  </a:extLst>
                </a:gridCol>
              </a:tblGrid>
              <a:tr h="539931">
                <a:tc>
                  <a:txBody>
                    <a:bodyPr/>
                    <a:lstStyle/>
                    <a:p>
                      <a:pPr marL="0" marR="0" indent="0" algn="just">
                        <a:spcBef>
                          <a:spcPts val="0"/>
                        </a:spcBef>
                        <a:spcAft>
                          <a:spcPts val="0"/>
                        </a:spcAft>
                        <a:buFont typeface="Arial" pitchFamily="34" charset="0"/>
                        <a:buNone/>
                      </a:pPr>
                      <a:r>
                        <a:rPr lang="en-US" sz="2400" dirty="0">
                          <a:solidFill>
                            <a:schemeClr val="tx1"/>
                          </a:solidFill>
                          <a:effectLst/>
                        </a:rPr>
                        <a:t>Harvard Business Review on Communication </a:t>
                      </a:r>
                      <a:endParaRPr lang="en-US" sz="2400" dirty="0">
                        <a:solidFill>
                          <a:schemeClr val="tx1"/>
                        </a:solidFill>
                        <a:effectLst/>
                        <a:latin typeface="Calibri"/>
                        <a:ea typeface="Calibri"/>
                        <a:cs typeface="Vrinda"/>
                      </a:endParaRPr>
                    </a:p>
                  </a:txBody>
                  <a:tcPr marL="68580" marR="68580" marT="0" marB="0">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12499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C241D0F-F9A4-4EC4-9C7A-2950CD22A946}" type="datetime1">
              <a:rPr lang="en-US" smtClean="0"/>
              <a:t>1/2/2026</a:t>
            </a:fld>
            <a:endParaRPr lang="en-US" dirty="0"/>
          </a:p>
        </p:txBody>
      </p:sp>
      <p:sp>
        <p:nvSpPr>
          <p:cNvPr id="3" name="TextBox 2"/>
          <p:cNvSpPr txBox="1"/>
          <p:nvPr/>
        </p:nvSpPr>
        <p:spPr>
          <a:xfrm>
            <a:off x="1239981" y="482025"/>
            <a:ext cx="6741459" cy="584775"/>
          </a:xfrm>
          <a:prstGeom prst="rect">
            <a:avLst/>
          </a:prstGeom>
          <a:noFill/>
        </p:spPr>
        <p:txBody>
          <a:bodyPr wrap="square" rtlCol="0">
            <a:spAutoFit/>
          </a:bodyPr>
          <a:lstStyle/>
          <a:p>
            <a:r>
              <a:rPr lang="en-US" sz="3200" dirty="0"/>
              <a:t>LO1: How leaders talk?</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 name="Rectangle 9"/>
          <p:cNvSpPr/>
          <p:nvPr/>
        </p:nvSpPr>
        <p:spPr>
          <a:xfrm>
            <a:off x="2590800" y="1884218"/>
            <a:ext cx="5638190" cy="1569660"/>
          </a:xfrm>
          <a:prstGeom prst="rect">
            <a:avLst/>
          </a:prstGeom>
        </p:spPr>
        <p:txBody>
          <a:bodyPr wrap="square">
            <a:spAutoFit/>
          </a:bodyPr>
          <a:lstStyle/>
          <a:p>
            <a:pPr algn="ctr"/>
            <a:r>
              <a:rPr lang="en-US" sz="2400" dirty="0">
                <a:solidFill>
                  <a:srgbClr val="FF0000"/>
                </a:solidFill>
                <a:latin typeface="Times New Roman" pitchFamily="18" charset="0"/>
                <a:cs typeface="Times New Roman" pitchFamily="18" charset="0"/>
              </a:rPr>
              <a:t>IF YOU WANT TO KNOW</a:t>
            </a:r>
          </a:p>
          <a:p>
            <a:pPr algn="just"/>
            <a:r>
              <a:rPr lang="en-US" sz="2400" b="1" dirty="0">
                <a:latin typeface="Times New Roman" pitchFamily="18" charset="0"/>
                <a:cs typeface="Times New Roman" pitchFamily="18" charset="0"/>
              </a:rPr>
              <a:t>Why</a:t>
            </a:r>
            <a:r>
              <a:rPr lang="en-US" sz="2400" dirty="0">
                <a:latin typeface="Times New Roman" pitchFamily="18" charset="0"/>
                <a:cs typeface="Times New Roman" pitchFamily="18" charset="0"/>
              </a:rPr>
              <a:t> so many organizations sink into	</a:t>
            </a:r>
            <a:r>
              <a:rPr lang="en-US" sz="2400" b="1" dirty="0">
                <a:latin typeface="Times New Roman" pitchFamily="18" charset="0"/>
                <a:cs typeface="Times New Roman" pitchFamily="18" charset="0"/>
              </a:rPr>
              <a:t>chaos</a:t>
            </a:r>
            <a:r>
              <a:rPr lang="en-US" sz="2400" dirty="0">
                <a:latin typeface="Times New Roman" pitchFamily="18" charset="0"/>
                <a:cs typeface="Times New Roman" pitchFamily="18" charset="0"/>
              </a:rPr>
              <a:t>, look no further than their leaders’ </a:t>
            </a:r>
            <a:r>
              <a:rPr lang="en-US" sz="2400" b="1" dirty="0">
                <a:latin typeface="Times New Roman" pitchFamily="18" charset="0"/>
                <a:cs typeface="Times New Roman" pitchFamily="18" charset="0"/>
              </a:rPr>
              <a:t>mouths</a:t>
            </a:r>
            <a:r>
              <a:rPr lang="en-US" sz="2400" dirty="0">
                <a:latin typeface="Times New Roman" pitchFamily="18" charset="0"/>
                <a:cs typeface="Times New Roman" pitchFamily="18" charset="0"/>
              </a:rPr>
              <a:t>.	</a:t>
            </a:r>
          </a:p>
        </p:txBody>
      </p:sp>
      <p:pic>
        <p:nvPicPr>
          <p:cNvPr id="11" name="Picture 2" descr="Image result for mouth manager"/>
          <p:cNvPicPr>
            <a:picLocks noChangeAspect="1" noChangeArrowheads="1"/>
          </p:cNvPicPr>
          <p:nvPr/>
        </p:nvPicPr>
        <p:blipFill>
          <a:blip r:embed="rId3" cstate="print">
            <a:clrChange>
              <a:clrFrom>
                <a:srgbClr val="FFFFFF"/>
              </a:clrFrom>
              <a:clrTo>
                <a:srgbClr val="FFFFFF">
                  <a:alpha val="0"/>
                </a:srgbClr>
              </a:clrTo>
            </a:clrChange>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876011" y="1397186"/>
            <a:ext cx="1562389" cy="205181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143000" y="3733800"/>
            <a:ext cx="1676400"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Unclear statement of leaders</a:t>
            </a:r>
          </a:p>
        </p:txBody>
      </p:sp>
      <p:sp>
        <p:nvSpPr>
          <p:cNvPr id="17" name="TextBox 16"/>
          <p:cNvSpPr txBox="1"/>
          <p:nvPr/>
        </p:nvSpPr>
        <p:spPr>
          <a:xfrm>
            <a:off x="3505200" y="3733800"/>
            <a:ext cx="1676400"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Self defined meaning by top managers</a:t>
            </a:r>
          </a:p>
        </p:txBody>
      </p:sp>
      <p:sp>
        <p:nvSpPr>
          <p:cNvPr id="18" name="TextBox 17"/>
          <p:cNvSpPr txBox="1"/>
          <p:nvPr/>
        </p:nvSpPr>
        <p:spPr>
          <a:xfrm>
            <a:off x="6019800" y="3733800"/>
            <a:ext cx="1676400"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Corporate objectives derailed</a:t>
            </a:r>
          </a:p>
        </p:txBody>
      </p:sp>
      <p:cxnSp>
        <p:nvCxnSpPr>
          <p:cNvPr id="16" name="Straight Arrow Connector 15"/>
          <p:cNvCxnSpPr>
            <a:stCxn id="13" idx="3"/>
            <a:endCxn id="17" idx="1"/>
          </p:cNvCxnSpPr>
          <p:nvPr/>
        </p:nvCxnSpPr>
        <p:spPr>
          <a:xfrm>
            <a:off x="2819400" y="4195465"/>
            <a:ext cx="6858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7" idx="3"/>
            <a:endCxn id="18" idx="1"/>
          </p:cNvCxnSpPr>
          <p:nvPr/>
        </p:nvCxnSpPr>
        <p:spPr>
          <a:xfrm>
            <a:off x="5181600" y="4195465"/>
            <a:ext cx="8382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143000" y="5029200"/>
            <a:ext cx="3467710" cy="646331"/>
          </a:xfrm>
          <a:prstGeom prst="rect">
            <a:avLst/>
          </a:prstGeom>
          <a:noFill/>
        </p:spPr>
        <p:txBody>
          <a:bodyPr wrap="square" rtlCol="0">
            <a:spAutoFit/>
          </a:bodyPr>
          <a:lstStyle/>
          <a:p>
            <a:r>
              <a:rPr lang="en-US" dirty="0"/>
              <a:t>“Let’s focus on the	key priorities” “Customers come first,”</a:t>
            </a:r>
          </a:p>
        </p:txBody>
      </p:sp>
      <p:cxnSp>
        <p:nvCxnSpPr>
          <p:cNvPr id="26" name="Straight Arrow Connector 25"/>
          <p:cNvCxnSpPr>
            <a:stCxn id="13" idx="2"/>
          </p:cNvCxnSpPr>
          <p:nvPr/>
        </p:nvCxnSpPr>
        <p:spPr>
          <a:xfrm>
            <a:off x="1981200" y="4657130"/>
            <a:ext cx="0" cy="372070"/>
          </a:xfrm>
          <a:prstGeom prst="straightConnector1">
            <a:avLst/>
          </a:prstGeom>
          <a:ln w="38100">
            <a:prstDash val="sys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6473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down)">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down)">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down)">
                                      <p:cBhvr>
                                        <p:cTn id="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animBg="1"/>
      <p:bldP spid="17" grpId="0" animBg="1"/>
      <p:bldP spid="18" grpId="0" animBg="1"/>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a:t>
            </a:r>
          </a:p>
        </p:txBody>
      </p:sp>
      <p:sp>
        <p:nvSpPr>
          <p:cNvPr id="3" name="Content Placeholder 2"/>
          <p:cNvSpPr>
            <a:spLocks noGrp="1"/>
          </p:cNvSpPr>
          <p:nvPr>
            <p:ph idx="1"/>
          </p:nvPr>
        </p:nvSpPr>
        <p:spPr>
          <a:xfrm>
            <a:off x="457200" y="1100628"/>
            <a:ext cx="8458200" cy="2556972"/>
          </a:xfrm>
        </p:spPr>
        <p:txBody>
          <a:bodyPr>
            <a:noAutofit/>
          </a:bodyPr>
          <a:lstStyle/>
          <a:p>
            <a:pPr algn="just"/>
            <a:r>
              <a:rPr lang="en-US" sz="2500" b="0" dirty="0">
                <a:latin typeface="Times New Roman" pitchFamily="18" charset="0"/>
                <a:cs typeface="Times New Roman" pitchFamily="18" charset="0"/>
              </a:rPr>
              <a:t>     Over and over again, they present grand, overarching—yet fuzzy—notions of where they think the company is going. CEO uses inflated terms like vision, loyalty, accountability, customer relationships, teamwork, focus, priority, culture, decision making, results, and so on, virtually ad infinitum.</a:t>
            </a:r>
          </a:p>
          <a:p>
            <a:pPr algn="just"/>
            <a:r>
              <a:rPr lang="en-US" sz="2500" b="0" dirty="0">
                <a:latin typeface="Times New Roman" pitchFamily="18" charset="0"/>
                <a:cs typeface="Times New Roman" pitchFamily="18" charset="0"/>
              </a:rPr>
              <a:t>     </a:t>
            </a:r>
          </a:p>
        </p:txBody>
      </p:sp>
      <p:sp>
        <p:nvSpPr>
          <p:cNvPr id="4" name="Date Placeholder 3"/>
          <p:cNvSpPr>
            <a:spLocks noGrp="1"/>
          </p:cNvSpPr>
          <p:nvPr>
            <p:ph type="dt" sz="half" idx="10"/>
          </p:nvPr>
        </p:nvSpPr>
        <p:spPr/>
        <p:txBody>
          <a:bodyPr/>
          <a:lstStyle/>
          <a:p>
            <a:fld id="{3F8DBE45-6775-406F-8D83-E5D85249CDF4}" type="datetime1">
              <a:rPr lang="en-US" smtClean="0"/>
              <a:t>1/2/2026</a:t>
            </a:fld>
            <a:endParaRPr lang="en-US" dirty="0"/>
          </a:p>
        </p:txBody>
      </p:sp>
      <p:sp>
        <p:nvSpPr>
          <p:cNvPr id="6" name="TextBox 5">
            <a:extLst>
              <a:ext uri="{FF2B5EF4-FFF2-40B4-BE49-F238E27FC236}">
                <a16:creationId xmlns:a16="http://schemas.microsoft.com/office/drawing/2014/main" id="{2FEB42AB-C3F4-2023-4129-6A51713FD48D}"/>
              </a:ext>
            </a:extLst>
          </p:cNvPr>
          <p:cNvSpPr txBox="1"/>
          <p:nvPr/>
        </p:nvSpPr>
        <p:spPr>
          <a:xfrm>
            <a:off x="822960" y="3962400"/>
            <a:ext cx="8092440" cy="1246495"/>
          </a:xfrm>
          <a:prstGeom prst="rect">
            <a:avLst/>
          </a:prstGeom>
          <a:noFill/>
        </p:spPr>
        <p:txBody>
          <a:bodyPr wrap="square">
            <a:spAutoFit/>
          </a:bodyPr>
          <a:lstStyle/>
          <a:p>
            <a:pPr algn="just"/>
            <a:r>
              <a:rPr lang="en-US" sz="2500" b="0" dirty="0">
                <a:latin typeface="Times New Roman" pitchFamily="18" charset="0"/>
                <a:cs typeface="Times New Roman" pitchFamily="18" charset="0"/>
              </a:rPr>
              <a:t>Leadership, at any level, certainly isn’t easy—but unclear, vague, roller-coaster pronouncements make many top managers’ jobs infinitely more difficult than they need to be.</a:t>
            </a:r>
            <a:endParaRPr lang="en-US" sz="2500" dirty="0">
              <a:latin typeface="Times New Roman" pitchFamily="18" charset="0"/>
              <a:cs typeface="Times New Roman" pitchFamily="18" charset="0"/>
            </a:endParaRPr>
          </a:p>
        </p:txBody>
      </p:sp>
    </p:spTree>
    <p:extLst>
      <p:ext uri="{BB962C8B-B14F-4D97-AF65-F5344CB8AC3E}">
        <p14:creationId xmlns:p14="http://schemas.microsoft.com/office/powerpoint/2010/main" val="3521279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D937D4-29F7-40BA-A189-255F741753D5}" type="datetime1">
              <a:rPr lang="en-US" smtClean="0"/>
              <a:t>1/2/2026</a:t>
            </a:fld>
            <a:endParaRPr lang="en-US" dirty="0"/>
          </a:p>
        </p:txBody>
      </p:sp>
      <p:sp>
        <p:nvSpPr>
          <p:cNvPr id="3" name="TextBox 2"/>
          <p:cNvSpPr txBox="1"/>
          <p:nvPr/>
        </p:nvSpPr>
        <p:spPr>
          <a:xfrm>
            <a:off x="1239981" y="467591"/>
            <a:ext cx="6741459" cy="584775"/>
          </a:xfrm>
          <a:prstGeom prst="rect">
            <a:avLst/>
          </a:prstGeom>
          <a:noFill/>
        </p:spPr>
        <p:txBody>
          <a:bodyPr wrap="square" rtlCol="0">
            <a:spAutoFit/>
          </a:bodyPr>
          <a:lstStyle/>
          <a:p>
            <a:r>
              <a:rPr lang="en-US" sz="3200" dirty="0"/>
              <a:t>LO1: How leaders talk?</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030" name="Picture 6" descr="Image result for communication in sw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593" y="1221918"/>
            <a:ext cx="3750830" cy="509533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mage result for communication in surg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599" y="1408112"/>
            <a:ext cx="3718697" cy="4459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59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01894BF-5944-4AA8-B263-CCCDFA0486F1}" type="datetime1">
              <a:rPr lang="en-US" smtClean="0"/>
              <a:t>1/2/2026</a:t>
            </a:fld>
            <a:endParaRPr lang="en-US" dirty="0"/>
          </a:p>
        </p:txBody>
      </p:sp>
      <p:sp>
        <p:nvSpPr>
          <p:cNvPr id="3" name="TextBox 2"/>
          <p:cNvSpPr txBox="1"/>
          <p:nvPr/>
        </p:nvSpPr>
        <p:spPr>
          <a:xfrm>
            <a:off x="1239981" y="467591"/>
            <a:ext cx="6741459" cy="584775"/>
          </a:xfrm>
          <a:prstGeom prst="rect">
            <a:avLst/>
          </a:prstGeom>
          <a:noFill/>
        </p:spPr>
        <p:txBody>
          <a:bodyPr wrap="square" rtlCol="0">
            <a:spAutoFit/>
          </a:bodyPr>
          <a:lstStyle/>
          <a:p>
            <a:r>
              <a:rPr lang="en-US" sz="3200" dirty="0"/>
              <a:t>LO2: The five messages for a leader</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 name="TextBox 8"/>
          <p:cNvSpPr txBox="1"/>
          <p:nvPr/>
        </p:nvSpPr>
        <p:spPr>
          <a:xfrm>
            <a:off x="914400" y="1676400"/>
            <a:ext cx="6858000" cy="3077766"/>
          </a:xfrm>
          <a:prstGeom prst="rect">
            <a:avLst/>
          </a:prstGeom>
          <a:noFill/>
        </p:spPr>
        <p:txBody>
          <a:bodyPr wrap="square" rtlCol="0">
            <a:spAutoFit/>
          </a:bodyPr>
          <a:lstStyle/>
          <a:p>
            <a:pPr>
              <a:spcBef>
                <a:spcPts val="1200"/>
              </a:spcBef>
            </a:pPr>
            <a:r>
              <a:rPr lang="en-US" sz="2400" dirty="0">
                <a:latin typeface="Times New Roman" pitchFamily="18" charset="0"/>
                <a:cs typeface="Times New Roman" pitchFamily="18" charset="0"/>
              </a:rPr>
              <a:t>Five topics extraordinary influence within a company:</a:t>
            </a:r>
          </a:p>
          <a:p>
            <a:pPr marL="914400" lvl="1" indent="-457200">
              <a:spcBef>
                <a:spcPts val="1200"/>
              </a:spcBef>
              <a:buFont typeface="+mj-lt"/>
              <a:buAutoNum type="alphaLcParenR"/>
            </a:pPr>
            <a:r>
              <a:rPr lang="en-US" sz="2400" dirty="0">
                <a:latin typeface="Times New Roman" pitchFamily="18" charset="0"/>
                <a:cs typeface="Times New Roman" pitchFamily="18" charset="0"/>
              </a:rPr>
              <a:t>Organizational structure and hierarchy</a:t>
            </a:r>
          </a:p>
          <a:p>
            <a:pPr marL="914400" lvl="1" indent="-457200">
              <a:spcBef>
                <a:spcPts val="1200"/>
              </a:spcBef>
              <a:buFont typeface="+mj-lt"/>
              <a:buAutoNum type="alphaLcParenR"/>
            </a:pPr>
            <a:r>
              <a:rPr lang="en-US" sz="2400" dirty="0">
                <a:latin typeface="Times New Roman" pitchFamily="18" charset="0"/>
                <a:cs typeface="Times New Roman" pitchFamily="18" charset="0"/>
              </a:rPr>
              <a:t>Financial results</a:t>
            </a:r>
          </a:p>
          <a:p>
            <a:pPr marL="914400" lvl="1" indent="-457200">
              <a:spcBef>
                <a:spcPts val="1200"/>
              </a:spcBef>
              <a:buFont typeface="+mj-lt"/>
              <a:buAutoNum type="alphaLcParenR"/>
            </a:pPr>
            <a:r>
              <a:rPr lang="en-US" sz="2400" dirty="0">
                <a:latin typeface="Times New Roman" pitchFamily="18" charset="0"/>
                <a:cs typeface="Times New Roman" pitchFamily="18" charset="0"/>
              </a:rPr>
              <a:t>The leader’s sense of his or her job</a:t>
            </a:r>
          </a:p>
          <a:p>
            <a:pPr marL="914400" lvl="1" indent="-457200">
              <a:spcBef>
                <a:spcPts val="1200"/>
              </a:spcBef>
              <a:buFont typeface="+mj-lt"/>
              <a:buAutoNum type="alphaLcParenR"/>
            </a:pPr>
            <a:r>
              <a:rPr lang="en-US" sz="2400" dirty="0">
                <a:latin typeface="Times New Roman" pitchFamily="18" charset="0"/>
                <a:cs typeface="Times New Roman" pitchFamily="18" charset="0"/>
              </a:rPr>
              <a:t>Time management, and </a:t>
            </a:r>
          </a:p>
          <a:p>
            <a:pPr marL="914400" lvl="1" indent="-457200">
              <a:spcBef>
                <a:spcPts val="1200"/>
              </a:spcBef>
              <a:buFont typeface="+mj-lt"/>
              <a:buAutoNum type="alphaLcParenR"/>
            </a:pPr>
            <a:r>
              <a:rPr lang="en-US" sz="2400" dirty="0">
                <a:latin typeface="Times New Roman" pitchFamily="18" charset="0"/>
                <a:cs typeface="Times New Roman" pitchFamily="18" charset="0"/>
              </a:rPr>
              <a:t>Corporate culture.</a:t>
            </a:r>
          </a:p>
        </p:txBody>
      </p:sp>
    </p:spTree>
    <p:extLst>
      <p:ext uri="{BB962C8B-B14F-4D97-AF65-F5344CB8AC3E}">
        <p14:creationId xmlns:p14="http://schemas.microsoft.com/office/powerpoint/2010/main" val="2932025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002F171-0CAA-449E-B6DB-9BE2624D5F22}" type="datetime1">
              <a:rPr lang="en-US" smtClean="0"/>
              <a:t>1/2/2026</a:t>
            </a:fld>
            <a:endParaRPr lang="en-US" dirty="0"/>
          </a:p>
        </p:txBody>
      </p:sp>
      <p:sp>
        <p:nvSpPr>
          <p:cNvPr id="3" name="TextBox 2"/>
          <p:cNvSpPr txBox="1"/>
          <p:nvPr/>
        </p:nvSpPr>
        <p:spPr>
          <a:xfrm>
            <a:off x="1260763" y="914400"/>
            <a:ext cx="6741459" cy="523220"/>
          </a:xfrm>
          <a:prstGeom prst="rect">
            <a:avLst/>
          </a:prstGeom>
          <a:noFill/>
        </p:spPr>
        <p:txBody>
          <a:bodyPr wrap="square" rtlCol="0">
            <a:spAutoFit/>
          </a:bodyPr>
          <a:lstStyle/>
          <a:p>
            <a:pPr marL="0" lvl="1"/>
            <a:r>
              <a:rPr lang="en-US" sz="2800" dirty="0"/>
              <a:t>LO2: a: Organizational structure &amp; hierarchy</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 name="TextBox 8"/>
          <p:cNvSpPr txBox="1"/>
          <p:nvPr/>
        </p:nvSpPr>
        <p:spPr>
          <a:xfrm>
            <a:off x="1102659" y="2209800"/>
            <a:ext cx="6858000" cy="1200329"/>
          </a:xfrm>
          <a:prstGeom prst="rect">
            <a:avLst/>
          </a:prstGeom>
          <a:noFill/>
        </p:spPr>
        <p:txBody>
          <a:bodyPr wrap="square" rtlCol="0">
            <a:spAutoFit/>
          </a:bodyPr>
          <a:lstStyle/>
          <a:p>
            <a:pPr algn="just">
              <a:spcBef>
                <a:spcPts val="1200"/>
              </a:spcBef>
            </a:pPr>
            <a:r>
              <a:rPr lang="en-US" sz="2400" dirty="0">
                <a:latin typeface="Times New Roman" pitchFamily="18" charset="0"/>
                <a:cs typeface="Times New Roman" pitchFamily="18" charset="0"/>
              </a:rPr>
              <a:t>When your company reorganizes, quickly frame the change	as a way to optimize your company’s resources—not to oust	 or devalue employees.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856" y="3747190"/>
            <a:ext cx="7030816" cy="2044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251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ipe(down)">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a:t>
            </a:r>
          </a:p>
        </p:txBody>
      </p:sp>
      <p:sp>
        <p:nvSpPr>
          <p:cNvPr id="3" name="Content Placeholder 2"/>
          <p:cNvSpPr>
            <a:spLocks noGrp="1"/>
          </p:cNvSpPr>
          <p:nvPr>
            <p:ph idx="1"/>
          </p:nvPr>
        </p:nvSpPr>
        <p:spPr>
          <a:xfrm>
            <a:off x="762000" y="1100628"/>
            <a:ext cx="7848600" cy="4995372"/>
          </a:xfrm>
        </p:spPr>
        <p:txBody>
          <a:bodyPr>
            <a:noAutofit/>
          </a:bodyPr>
          <a:lstStyle/>
          <a:p>
            <a:pPr algn="just"/>
            <a:r>
              <a:rPr lang="en-US" sz="2400" b="0" dirty="0">
                <a:latin typeface="Times New Roman" pitchFamily="18" charset="0"/>
                <a:cs typeface="Times New Roman" pitchFamily="18" charset="0"/>
              </a:rPr>
              <a:t>    When your company reorganizes, quickly frame the change as a way to optimize your company’s resources—not to oust or devalue employees.</a:t>
            </a:r>
          </a:p>
          <a:p>
            <a:pPr algn="just"/>
            <a:r>
              <a:rPr lang="en-US" sz="2400" b="0" dirty="0">
                <a:latin typeface="Times New Roman" pitchFamily="18" charset="0"/>
                <a:cs typeface="Times New Roman" pitchFamily="18" charset="0"/>
              </a:rPr>
              <a:t>    </a:t>
            </a:r>
            <a:r>
              <a:rPr lang="en-US" sz="2400" b="0" dirty="0">
                <a:solidFill>
                  <a:srgbClr val="FF0000"/>
                </a:solidFill>
                <a:latin typeface="Times New Roman" pitchFamily="18" charset="0"/>
                <a:cs typeface="Times New Roman" pitchFamily="18" charset="0"/>
              </a:rPr>
              <a:t>Example: </a:t>
            </a:r>
            <a:r>
              <a:rPr lang="en-US" sz="2400" b="0" dirty="0">
                <a:latin typeface="Times New Roman" pitchFamily="18" charset="0"/>
                <a:cs typeface="Times New Roman" pitchFamily="18" charset="0"/>
              </a:rPr>
              <a:t>The CEO of a small software company had to realign internal resources when a close rival began gaining an advantage. He called an all-hands meeting, explaining, “We’re in a war for market share. I don’t think we’re properly configured to win the battle, so I’m restructuring resources so we can execute more effectively. Most of you will continue doing the same jobs, but you may have a different supervisor.” He showed them the new organization chart, then asked them to begin working in their new positions after lunch.</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364208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25961B-A750-4390-BF0E-167BD6FBD503}" type="datetime1">
              <a:rPr lang="en-US" smtClean="0"/>
              <a:t>1/2/2026</a:t>
            </a:fld>
            <a:endParaRPr lang="en-US" dirty="0"/>
          </a:p>
        </p:txBody>
      </p:sp>
      <p:sp>
        <p:nvSpPr>
          <p:cNvPr id="3" name="TextBox 2"/>
          <p:cNvSpPr txBox="1"/>
          <p:nvPr/>
        </p:nvSpPr>
        <p:spPr>
          <a:xfrm>
            <a:off x="1239981" y="924791"/>
            <a:ext cx="6741459" cy="584775"/>
          </a:xfrm>
          <a:prstGeom prst="rect">
            <a:avLst/>
          </a:prstGeom>
          <a:noFill/>
        </p:spPr>
        <p:txBody>
          <a:bodyPr wrap="square" rtlCol="0">
            <a:spAutoFit/>
          </a:bodyPr>
          <a:lstStyle/>
          <a:p>
            <a:r>
              <a:rPr lang="en-US" sz="3200" dirty="0"/>
              <a:t>LO2: b: Financial results</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 name="TextBox 8"/>
          <p:cNvSpPr txBox="1"/>
          <p:nvPr/>
        </p:nvSpPr>
        <p:spPr>
          <a:xfrm>
            <a:off x="1123440" y="2209800"/>
            <a:ext cx="6858000" cy="1200329"/>
          </a:xfrm>
          <a:prstGeom prst="rect">
            <a:avLst/>
          </a:prstGeom>
          <a:noFill/>
        </p:spPr>
        <p:txBody>
          <a:bodyPr wrap="square" rtlCol="0">
            <a:spAutoFit/>
          </a:bodyPr>
          <a:lstStyle/>
          <a:p>
            <a:pPr algn="just">
              <a:spcBef>
                <a:spcPts val="1200"/>
              </a:spcBef>
            </a:pPr>
            <a:r>
              <a:rPr lang="en-US" sz="2400" dirty="0">
                <a:latin typeface="Times New Roman" pitchFamily="18" charset="0"/>
                <a:cs typeface="Times New Roman" pitchFamily="18" charset="0"/>
              </a:rPr>
              <a:t>Discuss disappointing	results	not as evidence of punishable failure but	as useful diagnostic and learning tools that enable constant improvement.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733800"/>
            <a:ext cx="68580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658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ipe(down)">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a:t>
            </a:r>
          </a:p>
        </p:txBody>
      </p:sp>
      <p:sp>
        <p:nvSpPr>
          <p:cNvPr id="3" name="Content Placeholder 2"/>
          <p:cNvSpPr>
            <a:spLocks noGrp="1"/>
          </p:cNvSpPr>
          <p:nvPr>
            <p:ph idx="1"/>
          </p:nvPr>
        </p:nvSpPr>
        <p:spPr>
          <a:xfrm>
            <a:off x="914400" y="990600"/>
            <a:ext cx="7696200" cy="4385772"/>
          </a:xfrm>
        </p:spPr>
        <p:txBody>
          <a:bodyPr>
            <a:noAutofit/>
          </a:bodyPr>
          <a:lstStyle/>
          <a:p>
            <a:pPr algn="just"/>
            <a:r>
              <a:rPr lang="en-US" sz="2400" b="0" dirty="0">
                <a:latin typeface="Times New Roman" pitchFamily="18" charset="0"/>
                <a:cs typeface="Times New Roman" pitchFamily="18" charset="0"/>
              </a:rPr>
              <a:t>     Discuss disappointing results not as evidence of punishable failure but as useful diagnostic and learning tools that enable constant improvement.</a:t>
            </a:r>
          </a:p>
          <a:p>
            <a:pPr algn="just"/>
            <a:r>
              <a:rPr lang="en-US" sz="2400" b="0" dirty="0">
                <a:solidFill>
                  <a:srgbClr val="FF0000"/>
                </a:solidFill>
                <a:latin typeface="Times New Roman" pitchFamily="18" charset="0"/>
                <a:cs typeface="Times New Roman" pitchFamily="18" charset="0"/>
              </a:rPr>
              <a:t>    Example: </a:t>
            </a:r>
            <a:r>
              <a:rPr lang="en-US" sz="2400" b="0" dirty="0">
                <a:latin typeface="Times New Roman" pitchFamily="18" charset="0"/>
                <a:cs typeface="Times New Roman" pitchFamily="18" charset="0"/>
              </a:rPr>
              <a:t>When a technology firm missed a quarterly goal, the CEO asked his team rigorous questions about what caused the shortfall, rather than placing blame. Instead of worrying about who would take the heat, team members uncovered the problem’s root cause and identified ways to prevent a recurrence. From then on, the company’s track record for quality was the envy of the industry.</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F8DBE45-6775-406F-8D83-E5D85249CDF4}" type="datetime1">
              <a:rPr lang="en-US" smtClean="0"/>
              <a:t>1/2/2026</a:t>
            </a:fld>
            <a:endParaRPr lang="en-US" dirty="0"/>
          </a:p>
        </p:txBody>
      </p:sp>
    </p:spTree>
    <p:extLst>
      <p:ext uri="{BB962C8B-B14F-4D97-AF65-F5344CB8AC3E}">
        <p14:creationId xmlns:p14="http://schemas.microsoft.com/office/powerpoint/2010/main" val="1386319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063397-50F9-4336-A5E6-AF17C3599BF7}" type="datetime1">
              <a:rPr lang="en-US" smtClean="0"/>
              <a:t>1/2/2026</a:t>
            </a:fld>
            <a:endParaRPr lang="en-US" dirty="0"/>
          </a:p>
        </p:txBody>
      </p:sp>
      <p:sp>
        <p:nvSpPr>
          <p:cNvPr id="3" name="TextBox 2"/>
          <p:cNvSpPr txBox="1"/>
          <p:nvPr/>
        </p:nvSpPr>
        <p:spPr>
          <a:xfrm>
            <a:off x="914400" y="914400"/>
            <a:ext cx="7142019" cy="584775"/>
          </a:xfrm>
          <a:prstGeom prst="rect">
            <a:avLst/>
          </a:prstGeom>
          <a:noFill/>
        </p:spPr>
        <p:txBody>
          <a:bodyPr wrap="square" rtlCol="0">
            <a:spAutoFit/>
          </a:bodyPr>
          <a:lstStyle/>
          <a:p>
            <a:r>
              <a:rPr lang="en-US" sz="3200" dirty="0"/>
              <a:t>LO2: c: The leader’s sense of his or her job</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 name="TextBox 8"/>
          <p:cNvSpPr txBox="1"/>
          <p:nvPr/>
        </p:nvSpPr>
        <p:spPr>
          <a:xfrm>
            <a:off x="949036" y="2362200"/>
            <a:ext cx="6858000" cy="830997"/>
          </a:xfrm>
          <a:prstGeom prst="rect">
            <a:avLst/>
          </a:prstGeom>
          <a:noFill/>
        </p:spPr>
        <p:txBody>
          <a:bodyPr wrap="square" rtlCol="0">
            <a:spAutoFit/>
          </a:bodyPr>
          <a:lstStyle/>
          <a:p>
            <a:pPr>
              <a:spcBef>
                <a:spcPts val="1200"/>
              </a:spcBef>
            </a:pPr>
            <a:r>
              <a:rPr lang="en-US" sz="2400" dirty="0">
                <a:latin typeface="Times New Roman" pitchFamily="18" charset="0"/>
                <a:cs typeface="Times New Roman" pitchFamily="18" charset="0"/>
              </a:rPr>
              <a:t>Let followers know that your	job is not to provide all the answers but to invite their	ideas.</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973" y="3691587"/>
            <a:ext cx="6678125" cy="171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0940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down)">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a:t>
            </a:r>
          </a:p>
        </p:txBody>
      </p:sp>
      <p:sp>
        <p:nvSpPr>
          <p:cNvPr id="3" name="Content Placeholder 2"/>
          <p:cNvSpPr>
            <a:spLocks noGrp="1"/>
          </p:cNvSpPr>
          <p:nvPr>
            <p:ph idx="1"/>
          </p:nvPr>
        </p:nvSpPr>
        <p:spPr>
          <a:xfrm>
            <a:off x="822960" y="1100628"/>
            <a:ext cx="7787640" cy="4004772"/>
          </a:xfrm>
        </p:spPr>
        <p:txBody>
          <a:bodyPr>
            <a:noAutofit/>
          </a:bodyPr>
          <a:lstStyle/>
          <a:p>
            <a:pPr algn="just"/>
            <a:r>
              <a:rPr lang="en-US" sz="2400" b="0" dirty="0">
                <a:latin typeface="Times New Roman" pitchFamily="18" charset="0"/>
                <a:cs typeface="Times New Roman" pitchFamily="18" charset="0"/>
              </a:rPr>
              <a:t>Example:</a:t>
            </a:r>
          </a:p>
          <a:p>
            <a:pPr algn="just"/>
            <a:r>
              <a:rPr lang="en-US" sz="2400" b="0" dirty="0">
                <a:latin typeface="Times New Roman" pitchFamily="18" charset="0"/>
                <a:cs typeface="Times New Roman" pitchFamily="18" charset="0"/>
              </a:rPr>
              <a:t>When one CEO met with functional leaders to discuss the</a:t>
            </a:r>
          </a:p>
          <a:p>
            <a:pPr algn="just"/>
            <a:r>
              <a:rPr lang="en-US" sz="2400" b="0" dirty="0">
                <a:latin typeface="Times New Roman" pitchFamily="18" charset="0"/>
                <a:cs typeface="Times New Roman" pitchFamily="18" charset="0"/>
              </a:rPr>
              <a:t>company’s failure to  increase market share, he listened to </a:t>
            </a:r>
          </a:p>
          <a:p>
            <a:pPr algn="just"/>
            <a:r>
              <a:rPr lang="en-US" sz="2400" b="0" dirty="0">
                <a:latin typeface="Times New Roman" pitchFamily="18" charset="0"/>
                <a:cs typeface="Times New Roman" pitchFamily="18" charset="0"/>
              </a:rPr>
              <a:t>their viewpoints, posed questions, and  challenged opinions </a:t>
            </a:r>
          </a:p>
          <a:p>
            <a:pPr algn="just"/>
            <a:r>
              <a:rPr lang="en-US" sz="2400" b="0" dirty="0">
                <a:latin typeface="Times New Roman" pitchFamily="18" charset="0"/>
                <a:cs typeface="Times New Roman" pitchFamily="18" charset="0"/>
              </a:rPr>
              <a:t>rather than stating his own theory. He then assigned a task </a:t>
            </a:r>
          </a:p>
          <a:p>
            <a:pPr algn="just"/>
            <a:r>
              <a:rPr lang="en-US" sz="2400" b="0" dirty="0">
                <a:latin typeface="Times New Roman" pitchFamily="18" charset="0"/>
                <a:cs typeface="Times New Roman" pitchFamily="18" charset="0"/>
              </a:rPr>
              <a:t>force  to address the problem. The team generated   numerous </a:t>
            </a:r>
          </a:p>
          <a:p>
            <a:pPr algn="just"/>
            <a:r>
              <a:rPr lang="en-US" sz="2400" b="0" dirty="0">
                <a:latin typeface="Times New Roman" pitchFamily="18" charset="0"/>
                <a:cs typeface="Times New Roman" pitchFamily="18" charset="0"/>
              </a:rPr>
              <a:t>recovery plans, the most  compelling of which was    </a:t>
            </a:r>
          </a:p>
          <a:p>
            <a:pPr algn="just"/>
            <a:r>
              <a:rPr lang="en-US" sz="2400" b="0" dirty="0">
                <a:latin typeface="Times New Roman" pitchFamily="18" charset="0"/>
                <a:cs typeface="Times New Roman" pitchFamily="18" charset="0"/>
              </a:rPr>
              <a:t>implemented. The plan produced the desired market-share   </a:t>
            </a:r>
          </a:p>
          <a:p>
            <a:pPr algn="just"/>
            <a:r>
              <a:rPr lang="en-US" sz="2400" b="0" dirty="0">
                <a:latin typeface="Times New Roman" pitchFamily="18" charset="0"/>
                <a:cs typeface="Times New Roman" pitchFamily="18" charset="0"/>
              </a:rPr>
              <a:t>gains in the next three quarters.</a:t>
            </a:r>
          </a:p>
        </p:txBody>
      </p:sp>
      <p:sp>
        <p:nvSpPr>
          <p:cNvPr id="4" name="Date Placeholder 3"/>
          <p:cNvSpPr>
            <a:spLocks noGrp="1"/>
          </p:cNvSpPr>
          <p:nvPr>
            <p:ph type="dt" sz="half" idx="10"/>
          </p:nvPr>
        </p:nvSpPr>
        <p:spPr/>
        <p:txBody>
          <a:bodyPr/>
          <a:lstStyle/>
          <a:p>
            <a:fld id="{3F8DBE45-6775-406F-8D83-E5D85249CDF4}" type="datetime1">
              <a:rPr lang="en-US" smtClean="0"/>
              <a:t>1/2/2026</a:t>
            </a:fld>
            <a:endParaRPr lang="en-US" dirty="0"/>
          </a:p>
        </p:txBody>
      </p:sp>
    </p:spTree>
    <p:extLst>
      <p:ext uri="{BB962C8B-B14F-4D97-AF65-F5344CB8AC3E}">
        <p14:creationId xmlns:p14="http://schemas.microsoft.com/office/powerpoint/2010/main" val="1069174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830073F-E27A-4A78-8544-CF8977568E1E}" type="datetime1">
              <a:rPr lang="en-US" smtClean="0"/>
              <a:t>1/2/2026</a:t>
            </a:fld>
            <a:endParaRPr lang="en-US" dirty="0"/>
          </a:p>
        </p:txBody>
      </p:sp>
      <p:sp>
        <p:nvSpPr>
          <p:cNvPr id="3" name="TextBox 2"/>
          <p:cNvSpPr txBox="1"/>
          <p:nvPr/>
        </p:nvSpPr>
        <p:spPr>
          <a:xfrm>
            <a:off x="1239981" y="467591"/>
            <a:ext cx="6741459" cy="584775"/>
          </a:xfrm>
          <a:prstGeom prst="rect">
            <a:avLst/>
          </a:prstGeom>
          <a:noFill/>
        </p:spPr>
        <p:txBody>
          <a:bodyPr wrap="square" rtlCol="0">
            <a:spAutoFit/>
          </a:bodyPr>
          <a:lstStyle/>
          <a:p>
            <a:r>
              <a:rPr lang="en-US" sz="3200" dirty="0"/>
              <a:t>LO2: d: </a:t>
            </a:r>
            <a:r>
              <a:rPr lang="en-US" sz="3200" dirty="0">
                <a:latin typeface="Times New Roman" pitchFamily="18" charset="0"/>
                <a:cs typeface="Times New Roman" pitchFamily="18" charset="0"/>
              </a:rPr>
              <a:t>Time management</a:t>
            </a:r>
            <a:endParaRPr lang="en-US" sz="3200" dirty="0"/>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 name="TextBox 8"/>
          <p:cNvSpPr txBox="1"/>
          <p:nvPr/>
        </p:nvSpPr>
        <p:spPr>
          <a:xfrm>
            <a:off x="914400" y="1295400"/>
            <a:ext cx="6858000" cy="2985433"/>
          </a:xfrm>
          <a:prstGeom prst="rect">
            <a:avLst/>
          </a:prstGeom>
          <a:noFill/>
        </p:spPr>
        <p:txBody>
          <a:bodyPr wrap="square" rtlCol="0">
            <a:spAutoFit/>
          </a:bodyPr>
          <a:lstStyle/>
          <a:p>
            <a:pPr marL="342900" indent="-342900" algn="just">
              <a:spcBef>
                <a:spcPts val="1200"/>
              </a:spcBef>
              <a:buFont typeface="Arial" pitchFamily="34" charset="0"/>
              <a:buChar char="•"/>
            </a:pPr>
            <a:r>
              <a:rPr lang="en-US" sz="2400" dirty="0">
                <a:latin typeface="Times New Roman" pitchFamily="18" charset="0"/>
                <a:cs typeface="Times New Roman" pitchFamily="18" charset="0"/>
              </a:rPr>
              <a:t>Communicate the importance of using time strategically, rather than trying to get more things done faster. </a:t>
            </a:r>
          </a:p>
          <a:p>
            <a:pPr marL="342900" indent="-342900" algn="just">
              <a:spcBef>
                <a:spcPts val="1200"/>
              </a:spcBef>
              <a:buFont typeface="Arial" pitchFamily="34" charset="0"/>
              <a:buChar char="•"/>
            </a:pPr>
            <a:r>
              <a:rPr lang="en-US" sz="2400" dirty="0">
                <a:latin typeface="Times New Roman" pitchFamily="18" charset="0"/>
                <a:cs typeface="Times New Roman" pitchFamily="18" charset="0"/>
              </a:rPr>
              <a:t>Ask where you can best focus your team’s energy.</a:t>
            </a:r>
          </a:p>
          <a:p>
            <a:pPr marL="342900" indent="-342900" algn="just">
              <a:spcBef>
                <a:spcPts val="1200"/>
              </a:spcBef>
              <a:buFont typeface="Arial" pitchFamily="34" charset="0"/>
              <a:buChar char="•"/>
            </a:pPr>
            <a:r>
              <a:rPr lang="en-US" sz="2400" dirty="0">
                <a:latin typeface="Times New Roman" pitchFamily="18" charset="0"/>
                <a:cs typeface="Times New Roman" pitchFamily="18" charset="0"/>
              </a:rPr>
              <a:t>By understanding that you have a choice about how limited time can be used, you can free up needed resources to focus on your most important goals.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5419" y="4419600"/>
            <a:ext cx="6636981" cy="1662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3834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down)">
                                      <p:cBhvr>
                                        <p:cTn id="7"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143000"/>
            <a:ext cx="7200900" cy="3537477"/>
          </a:xfrm>
        </p:spPr>
        <p:txBody>
          <a:bodyPr>
            <a:normAutofit/>
          </a:bodyPr>
          <a:lstStyle/>
          <a:p>
            <a:pPr algn="just"/>
            <a:r>
              <a:rPr lang="en-US" sz="2400" b="0" dirty="0">
                <a:latin typeface="Times New Roman" pitchFamily="18" charset="0"/>
                <a:cs typeface="Times New Roman" pitchFamily="18" charset="0"/>
              </a:rPr>
              <a:t>    Communicate the importance of using time strategically, rather than trying to get more things done faster. Ask where you can best focus your team’s energy. By understanding that you have a choice about how limited time can be used, you can free up needed resources to focus on your most important goals.</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F8DBE45-6775-406F-8D83-E5D85249CDF4}" type="datetime1">
              <a:rPr lang="en-US" smtClean="0"/>
              <a:t>1/2/2026</a:t>
            </a:fld>
            <a:endParaRPr lang="en-US" dirty="0"/>
          </a:p>
        </p:txBody>
      </p:sp>
    </p:spTree>
    <p:extLst>
      <p:ext uri="{BB962C8B-B14F-4D97-AF65-F5344CB8AC3E}">
        <p14:creationId xmlns:p14="http://schemas.microsoft.com/office/powerpoint/2010/main" val="1310929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B543C2-C65D-480A-A93D-031A29770D33}" type="datetime1">
              <a:rPr lang="en-US" smtClean="0"/>
              <a:t>1/2/2026</a:t>
            </a:fld>
            <a:endParaRPr lang="en-US" dirty="0"/>
          </a:p>
        </p:txBody>
      </p:sp>
      <p:sp>
        <p:nvSpPr>
          <p:cNvPr id="3" name="TextBox 2"/>
          <p:cNvSpPr txBox="1"/>
          <p:nvPr/>
        </p:nvSpPr>
        <p:spPr>
          <a:xfrm>
            <a:off x="1239981" y="467591"/>
            <a:ext cx="6741459" cy="584775"/>
          </a:xfrm>
          <a:prstGeom prst="rect">
            <a:avLst/>
          </a:prstGeom>
          <a:noFill/>
        </p:spPr>
        <p:txBody>
          <a:bodyPr wrap="square" rtlCol="0">
            <a:spAutoFit/>
          </a:bodyPr>
          <a:lstStyle/>
          <a:p>
            <a:r>
              <a:rPr lang="en-US" sz="3200" dirty="0"/>
              <a:t>LO2: e: </a:t>
            </a:r>
            <a:r>
              <a:rPr lang="en-US" sz="3200" dirty="0">
                <a:latin typeface="Times New Roman" pitchFamily="18" charset="0"/>
                <a:cs typeface="Times New Roman" pitchFamily="18" charset="0"/>
              </a:rPr>
              <a:t>Corporate culture </a:t>
            </a:r>
            <a:endParaRPr lang="en-US" sz="3200" dirty="0"/>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 name="TextBox 8"/>
          <p:cNvSpPr txBox="1"/>
          <p:nvPr/>
        </p:nvSpPr>
        <p:spPr>
          <a:xfrm>
            <a:off x="914400" y="1676400"/>
            <a:ext cx="6858000" cy="830997"/>
          </a:xfrm>
          <a:prstGeom prst="rect">
            <a:avLst/>
          </a:prstGeom>
          <a:noFill/>
        </p:spPr>
        <p:txBody>
          <a:bodyPr wrap="square" rtlCol="0">
            <a:spAutoFit/>
          </a:bodyPr>
          <a:lstStyle/>
          <a:p>
            <a:pPr>
              <a:spcBef>
                <a:spcPts val="1200"/>
              </a:spcBef>
            </a:pPr>
            <a:r>
              <a:rPr lang="en-US" sz="2400" dirty="0">
                <a:latin typeface="Times New Roman" pitchFamily="18" charset="0"/>
                <a:cs typeface="Times New Roman" pitchFamily="18" charset="0"/>
              </a:rPr>
              <a:t>Create	a healthy culture by articulating the right goals and defining criteria for success.</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446" y="2805113"/>
            <a:ext cx="6725157" cy="184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076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wipe(down)">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a:t>
            </a:r>
          </a:p>
        </p:txBody>
      </p:sp>
      <p:sp>
        <p:nvSpPr>
          <p:cNvPr id="3" name="Content Placeholder 2"/>
          <p:cNvSpPr>
            <a:spLocks noGrp="1"/>
          </p:cNvSpPr>
          <p:nvPr>
            <p:ph idx="1"/>
          </p:nvPr>
        </p:nvSpPr>
        <p:spPr>
          <a:xfrm>
            <a:off x="822960" y="1100628"/>
            <a:ext cx="7863840" cy="4538172"/>
          </a:xfrm>
        </p:spPr>
        <p:txBody>
          <a:bodyPr>
            <a:noAutofit/>
          </a:bodyPr>
          <a:lstStyle/>
          <a:p>
            <a:pPr algn="just"/>
            <a:r>
              <a:rPr lang="en-US" sz="2300" b="0" dirty="0">
                <a:latin typeface="Times New Roman" pitchFamily="18" charset="0"/>
                <a:cs typeface="Times New Roman" pitchFamily="18" charset="0"/>
              </a:rPr>
              <a:t>Create a healthy culture by articulating the right goals</a:t>
            </a:r>
          </a:p>
          <a:p>
            <a:pPr algn="just"/>
            <a:r>
              <a:rPr lang="en-US" sz="2300" b="0" dirty="0">
                <a:latin typeface="Times New Roman" pitchFamily="18" charset="0"/>
                <a:cs typeface="Times New Roman" pitchFamily="18" charset="0"/>
              </a:rPr>
              <a:t>and defining criteria  of success.</a:t>
            </a:r>
          </a:p>
          <a:p>
            <a:pPr algn="just"/>
            <a:r>
              <a:rPr lang="en-US" sz="2300" b="0" dirty="0">
                <a:solidFill>
                  <a:srgbClr val="FF0000"/>
                </a:solidFill>
                <a:latin typeface="Times New Roman" pitchFamily="18" charset="0"/>
                <a:cs typeface="Times New Roman" pitchFamily="18" charset="0"/>
              </a:rPr>
              <a:t>Example: </a:t>
            </a:r>
            <a:r>
              <a:rPr lang="en-US" sz="2300" b="0" dirty="0">
                <a:latin typeface="Times New Roman" pitchFamily="18" charset="0"/>
                <a:cs typeface="Times New Roman" pitchFamily="18" charset="0"/>
              </a:rPr>
              <a:t>The CEO of a telephony-software company runs  his </a:t>
            </a:r>
          </a:p>
          <a:p>
            <a:pPr algn="just"/>
            <a:r>
              <a:rPr lang="en-US" sz="2300" b="0" dirty="0">
                <a:latin typeface="Times New Roman" pitchFamily="18" charset="0"/>
                <a:cs typeface="Times New Roman" pitchFamily="18" charset="0"/>
              </a:rPr>
              <a:t>firm like a   high performing sports team. He displays   metrics—</a:t>
            </a:r>
          </a:p>
          <a:p>
            <a:pPr algn="just"/>
            <a:r>
              <a:rPr lang="en-US" sz="2300" b="0" dirty="0">
                <a:latin typeface="Times New Roman" pitchFamily="18" charset="0"/>
                <a:cs typeface="Times New Roman" pitchFamily="18" charset="0"/>
              </a:rPr>
              <a:t>sales, expenses, revenues—on a scoreboard for  all to see. And </a:t>
            </a:r>
          </a:p>
          <a:p>
            <a:pPr algn="just"/>
            <a:r>
              <a:rPr lang="en-US" sz="2300" b="0" dirty="0">
                <a:latin typeface="Times New Roman" pitchFamily="18" charset="0"/>
                <a:cs typeface="Times New Roman" pitchFamily="18" charset="0"/>
              </a:rPr>
              <a:t>he clearly defines what success looks like:  “P/E  ratio of15, </a:t>
            </a:r>
          </a:p>
          <a:p>
            <a:pPr algn="just"/>
            <a:r>
              <a:rPr lang="en-US" sz="2300" b="0" dirty="0">
                <a:latin typeface="Times New Roman" pitchFamily="18" charset="0"/>
                <a:cs typeface="Times New Roman" pitchFamily="18" charset="0"/>
              </a:rPr>
              <a:t>market share of 20%, 30% year-over-year revenue </a:t>
            </a:r>
          </a:p>
          <a:p>
            <a:pPr algn="just"/>
            <a:r>
              <a:rPr lang="en-US" sz="2300" b="0" dirty="0">
                <a:latin typeface="Times New Roman" pitchFamily="18" charset="0"/>
                <a:cs typeface="Times New Roman" pitchFamily="18" charset="0"/>
              </a:rPr>
              <a:t>growth.” </a:t>
            </a:r>
          </a:p>
          <a:p>
            <a:pPr algn="just"/>
            <a:r>
              <a:rPr lang="en-US" sz="2300" b="0" dirty="0">
                <a:latin typeface="Times New Roman" pitchFamily="18" charset="0"/>
                <a:cs typeface="Times New Roman" pitchFamily="18" charset="0"/>
              </a:rPr>
              <a:t>Large goals—“$20million by the  third quarter”—are </a:t>
            </a:r>
          </a:p>
          <a:p>
            <a:pPr algn="just"/>
            <a:r>
              <a:rPr lang="en-US" sz="2300" b="0" dirty="0">
                <a:latin typeface="Times New Roman" pitchFamily="18" charset="0"/>
                <a:cs typeface="Times New Roman" pitchFamily="18" charset="0"/>
              </a:rPr>
              <a:t>broken into strategic parts marked on  the scoreboard.</a:t>
            </a:r>
            <a:endParaRPr lang="en-US" sz="23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F8DBE45-6775-406F-8D83-E5D85249CDF4}" type="datetime1">
              <a:rPr lang="en-US" smtClean="0"/>
              <a:t>1/2/2026</a:t>
            </a:fld>
            <a:endParaRPr lang="en-US" dirty="0"/>
          </a:p>
        </p:txBody>
      </p:sp>
    </p:spTree>
    <p:extLst>
      <p:ext uri="{BB962C8B-B14F-4D97-AF65-F5344CB8AC3E}">
        <p14:creationId xmlns:p14="http://schemas.microsoft.com/office/powerpoint/2010/main" val="219487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0AFD16E-85A0-48C2-BF51-CF90754FF562}" type="datetime1">
              <a:rPr lang="en-US" smtClean="0"/>
              <a:t>1/2/2026</a:t>
            </a:fld>
            <a:endParaRPr lang="en-US" dirty="0"/>
          </a:p>
        </p:txBody>
      </p:sp>
      <p:sp>
        <p:nvSpPr>
          <p:cNvPr id="2" name="AutoShape 2" descr="Image result for Only you are responsible for your succes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409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18426"/>
          <a:stretch/>
        </p:blipFill>
        <p:spPr bwMode="auto">
          <a:xfrm>
            <a:off x="467592" y="1219200"/>
            <a:ext cx="8070882" cy="4685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088771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1197</TotalTime>
  <Words>877</Words>
  <Application>Microsoft Office PowerPoint</Application>
  <PresentationFormat>On-screen Show (4:3)</PresentationFormat>
  <Paragraphs>81</Paragraphs>
  <Slides>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Franklin Gothic Book</vt:lpstr>
      <vt:lpstr>Franklin Gothic Medium</vt:lpstr>
      <vt:lpstr>Times New Roman</vt:lpstr>
      <vt:lpstr>Wingdings</vt:lpstr>
      <vt:lpstr>Angles</vt:lpstr>
      <vt:lpstr>PowerPoint Presentation</vt:lpstr>
      <vt:lpstr>PowerPoint Presentation</vt:lpstr>
      <vt:lpstr>PowerPoint Presentation</vt:lpstr>
      <vt:lpstr>Continue</vt:lpstr>
      <vt:lpstr>PowerPoint Presentation</vt:lpstr>
      <vt:lpstr>PowerPoint Presentation</vt:lpstr>
      <vt:lpstr>PowerPoint Presentation</vt:lpstr>
      <vt:lpstr>Continue…….</vt:lpstr>
      <vt:lpstr>PowerPoint Presentation</vt:lpstr>
      <vt:lpstr>Continue</vt:lpstr>
      <vt:lpstr>PowerPoint Presentation</vt:lpstr>
      <vt:lpstr>Continue</vt:lpstr>
      <vt:lpstr>PowerPoint Presentation</vt:lpstr>
      <vt:lpstr>PowerPoint Presentation</vt:lpstr>
      <vt:lpstr>PowerPoint Presentation</vt:lpstr>
      <vt:lpstr>Continue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Naznin Akther</cp:lastModifiedBy>
  <cp:revision>73</cp:revision>
  <dcterms:created xsi:type="dcterms:W3CDTF">2018-06-27T04:30:06Z</dcterms:created>
  <dcterms:modified xsi:type="dcterms:W3CDTF">2026-01-02T15:32:05Z</dcterms:modified>
</cp:coreProperties>
</file>