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80" r:id="rId2"/>
    <p:sldId id="263" r:id="rId3"/>
    <p:sldId id="257" r:id="rId4"/>
    <p:sldId id="281" r:id="rId5"/>
    <p:sldId id="259" r:id="rId6"/>
    <p:sldId id="260" r:id="rId7"/>
    <p:sldId id="266" r:id="rId8"/>
    <p:sldId id="268" r:id="rId9"/>
    <p:sldId id="270" r:id="rId10"/>
    <p:sldId id="276" r:id="rId11"/>
    <p:sldId id="278" r:id="rId12"/>
    <p:sldId id="284" r:id="rId13"/>
    <p:sldId id="285" r:id="rId14"/>
    <p:sldId id="258" r:id="rId15"/>
    <p:sldId id="262" r:id="rId16"/>
    <p:sldId id="283" r:id="rId17"/>
    <p:sldId id="264" r:id="rId18"/>
    <p:sldId id="26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znin Akther" userId="44f60e3936ac843d" providerId="LiveId" clId="{92FDD558-369A-4AAF-8CC1-0FB6B3AAA58B}"/>
    <pc:docChg chg="custSel modSld">
      <pc:chgData name="Naznin Akther" userId="44f60e3936ac843d" providerId="LiveId" clId="{92FDD558-369A-4AAF-8CC1-0FB6B3AAA58B}" dt="2026-02-09T05:04:44.794" v="49" actId="14100"/>
      <pc:docMkLst>
        <pc:docMk/>
      </pc:docMkLst>
      <pc:sldChg chg="modSp mod">
        <pc:chgData name="Naznin Akther" userId="44f60e3936ac843d" providerId="LiveId" clId="{92FDD558-369A-4AAF-8CC1-0FB6B3AAA58B}" dt="2026-02-09T02:51:02.998" v="0" actId="20577"/>
        <pc:sldMkLst>
          <pc:docMk/>
          <pc:sldMk cId="0" sldId="257"/>
        </pc:sldMkLst>
        <pc:spChg chg="mod">
          <ac:chgData name="Naznin Akther" userId="44f60e3936ac843d" providerId="LiveId" clId="{92FDD558-369A-4AAF-8CC1-0FB6B3AAA58B}" dt="2026-02-09T02:51:02.998" v="0" actId="20577"/>
          <ac:spMkLst>
            <pc:docMk/>
            <pc:sldMk cId="0" sldId="257"/>
            <ac:spMk id="3" creationId="{00000000-0000-0000-0000-000000000000}"/>
          </ac:spMkLst>
        </pc:spChg>
      </pc:sldChg>
      <pc:sldChg chg="modSp mod">
        <pc:chgData name="Naznin Akther" userId="44f60e3936ac843d" providerId="LiveId" clId="{92FDD558-369A-4AAF-8CC1-0FB6B3AAA58B}" dt="2026-02-09T03:01:20.607" v="31" actId="255"/>
        <pc:sldMkLst>
          <pc:docMk/>
          <pc:sldMk cId="0" sldId="259"/>
        </pc:sldMkLst>
        <pc:spChg chg="mod">
          <ac:chgData name="Naznin Akther" userId="44f60e3936ac843d" providerId="LiveId" clId="{92FDD558-369A-4AAF-8CC1-0FB6B3AAA58B}" dt="2026-02-09T03:01:20.607" v="31" actId="255"/>
          <ac:spMkLst>
            <pc:docMk/>
            <pc:sldMk cId="0" sldId="259"/>
            <ac:spMk id="3" creationId="{00000000-0000-0000-0000-000000000000}"/>
          </ac:spMkLst>
        </pc:spChg>
      </pc:sldChg>
      <pc:sldChg chg="modSp mod">
        <pc:chgData name="Naznin Akther" userId="44f60e3936ac843d" providerId="LiveId" clId="{92FDD558-369A-4AAF-8CC1-0FB6B3AAA58B}" dt="2026-02-09T05:04:44.794" v="49" actId="14100"/>
        <pc:sldMkLst>
          <pc:docMk/>
          <pc:sldMk cId="3747327224" sldId="265"/>
        </pc:sldMkLst>
        <pc:spChg chg="mod">
          <ac:chgData name="Naznin Akther" userId="44f60e3936ac843d" providerId="LiveId" clId="{92FDD558-369A-4AAF-8CC1-0FB6B3AAA58B}" dt="2026-02-09T05:04:44.794" v="49" actId="14100"/>
          <ac:spMkLst>
            <pc:docMk/>
            <pc:sldMk cId="3747327224" sldId="265"/>
            <ac:spMk id="3" creationId="{00000000-0000-0000-0000-000000000000}"/>
          </ac:spMkLst>
        </pc:spChg>
      </pc:sldChg>
      <pc:sldChg chg="modSp mod">
        <pc:chgData name="Naznin Akther" userId="44f60e3936ac843d" providerId="LiveId" clId="{92FDD558-369A-4AAF-8CC1-0FB6B3AAA58B}" dt="2026-02-09T03:24:24.921" v="34" actId="20577"/>
        <pc:sldMkLst>
          <pc:docMk/>
          <pc:sldMk cId="2015902469" sldId="266"/>
        </pc:sldMkLst>
        <pc:spChg chg="mod">
          <ac:chgData name="Naznin Akther" userId="44f60e3936ac843d" providerId="LiveId" clId="{92FDD558-369A-4AAF-8CC1-0FB6B3AAA58B}" dt="2026-02-09T03:24:24.921" v="34" actId="20577"/>
          <ac:spMkLst>
            <pc:docMk/>
            <pc:sldMk cId="2015902469" sldId="266"/>
            <ac:spMk id="6147" creationId="{00000000-0000-0000-0000-000000000000}"/>
          </ac:spMkLst>
        </pc:spChg>
      </pc:sldChg>
      <pc:sldChg chg="modSp mod">
        <pc:chgData name="Naznin Akther" userId="44f60e3936ac843d" providerId="LiveId" clId="{92FDD558-369A-4AAF-8CC1-0FB6B3AAA58B}" dt="2026-02-09T03:25:39.264" v="36" actId="33524"/>
        <pc:sldMkLst>
          <pc:docMk/>
          <pc:sldMk cId="3368960742" sldId="270"/>
        </pc:sldMkLst>
        <pc:spChg chg="mod">
          <ac:chgData name="Naznin Akther" userId="44f60e3936ac843d" providerId="LiveId" clId="{92FDD558-369A-4AAF-8CC1-0FB6B3AAA58B}" dt="2026-02-09T03:25:39.264" v="36" actId="33524"/>
          <ac:spMkLst>
            <pc:docMk/>
            <pc:sldMk cId="3368960742" sldId="270"/>
            <ac:spMk id="9219" creationId="{00000000-0000-0000-0000-000000000000}"/>
          </ac:spMkLst>
        </pc:spChg>
      </pc:sldChg>
      <pc:sldChg chg="modSp mod">
        <pc:chgData name="Naznin Akther" userId="44f60e3936ac843d" providerId="LiveId" clId="{92FDD558-369A-4AAF-8CC1-0FB6B3AAA58B}" dt="2026-02-09T03:26:02.312" v="38" actId="255"/>
        <pc:sldMkLst>
          <pc:docMk/>
          <pc:sldMk cId="2375208491" sldId="278"/>
        </pc:sldMkLst>
        <pc:spChg chg="mod">
          <ac:chgData name="Naznin Akther" userId="44f60e3936ac843d" providerId="LiveId" clId="{92FDD558-369A-4AAF-8CC1-0FB6B3AAA58B}" dt="2026-02-09T03:26:02.312" v="38" actId="255"/>
          <ac:spMkLst>
            <pc:docMk/>
            <pc:sldMk cId="2375208491" sldId="278"/>
            <ac:spMk id="2" creationId="{00000000-0000-0000-0000-000000000000}"/>
          </ac:spMkLst>
        </pc:spChg>
      </pc:sldChg>
      <pc:sldChg chg="modSp mod">
        <pc:chgData name="Naznin Akther" userId="44f60e3936ac843d" providerId="LiveId" clId="{92FDD558-369A-4AAF-8CC1-0FB6B3AAA58B}" dt="2026-02-09T02:53:16.952" v="27" actId="20577"/>
        <pc:sldMkLst>
          <pc:docMk/>
          <pc:sldMk cId="0" sldId="281"/>
        </pc:sldMkLst>
        <pc:spChg chg="mod">
          <ac:chgData name="Naznin Akther" userId="44f60e3936ac843d" providerId="LiveId" clId="{92FDD558-369A-4AAF-8CC1-0FB6B3AAA58B}" dt="2026-02-09T02:53:16.952" v="27" actId="20577"/>
          <ac:spMkLst>
            <pc:docMk/>
            <pc:sldMk cId="0" sldId="281"/>
            <ac:spMk id="3" creationId="{00000000-0000-0000-0000-000000000000}"/>
          </ac:spMkLst>
        </pc:spChg>
      </pc:sldChg>
      <pc:sldChg chg="modSp mod">
        <pc:chgData name="Naznin Akther" userId="44f60e3936ac843d" providerId="LiveId" clId="{92FDD558-369A-4AAF-8CC1-0FB6B3AAA58B}" dt="2026-02-09T02:53:37.801" v="29" actId="20577"/>
        <pc:sldMkLst>
          <pc:docMk/>
          <pc:sldMk cId="2146802284" sldId="284"/>
        </pc:sldMkLst>
        <pc:spChg chg="mod">
          <ac:chgData name="Naznin Akther" userId="44f60e3936ac843d" providerId="LiveId" clId="{92FDD558-369A-4AAF-8CC1-0FB6B3AAA58B}" dt="2026-02-09T02:53:37.801" v="29" actId="20577"/>
          <ac:spMkLst>
            <pc:docMk/>
            <pc:sldMk cId="2146802284" sldId="284"/>
            <ac:spMk id="5" creationId="{5F80E4C5-D6F4-B4A6-032C-860965861D60}"/>
          </ac:spMkLst>
        </pc:spChg>
      </pc:sldChg>
      <pc:sldChg chg="addSp modSp mod">
        <pc:chgData name="Naznin Akther" userId="44f60e3936ac843d" providerId="LiveId" clId="{92FDD558-369A-4AAF-8CC1-0FB6B3AAA58B}" dt="2026-02-09T04:25:09.498" v="48" actId="255"/>
        <pc:sldMkLst>
          <pc:docMk/>
          <pc:sldMk cId="146296673" sldId="285"/>
        </pc:sldMkLst>
        <pc:spChg chg="add mod">
          <ac:chgData name="Naznin Akther" userId="44f60e3936ac843d" providerId="LiveId" clId="{92FDD558-369A-4AAF-8CC1-0FB6B3AAA58B}" dt="2026-02-09T04:25:09.498" v="48" actId="255"/>
          <ac:spMkLst>
            <pc:docMk/>
            <pc:sldMk cId="146296673" sldId="285"/>
            <ac:spMk id="3" creationId="{D3DDF82E-2DA7-63AE-E88F-186EB205F9F1}"/>
          </ac:spMkLst>
        </pc:spChg>
        <pc:spChg chg="mod">
          <ac:chgData name="Naznin Akther" userId="44f60e3936ac843d" providerId="LiveId" clId="{92FDD558-369A-4AAF-8CC1-0FB6B3AAA58B}" dt="2026-02-09T04:24:54.397" v="43" actId="1076"/>
          <ac:spMkLst>
            <pc:docMk/>
            <pc:sldMk cId="146296673" sldId="285"/>
            <ac:spMk id="5" creationId="{41D6E5FA-9B4F-9694-3E3D-8FED70FF8FB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AA0940-FEA6-4075-A98F-ADE0E88DADF9}"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D8090F-5553-4217-9F98-271A3FEFCAE3}" type="slidenum">
              <a:rPr lang="en-US" smtClean="0"/>
              <a:t>‹#›</a:t>
            </a:fld>
            <a:endParaRPr lang="en-US"/>
          </a:p>
        </p:txBody>
      </p:sp>
    </p:spTree>
    <p:extLst>
      <p:ext uri="{BB962C8B-B14F-4D97-AF65-F5344CB8AC3E}">
        <p14:creationId xmlns:p14="http://schemas.microsoft.com/office/powerpoint/2010/main" val="680830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79C5CCD-1404-484B-927D-C116A68BF0EB}" type="slidenum">
              <a:rPr lang="en-US"/>
              <a:pPr eaLnBrk="1" hangingPunct="1"/>
              <a:t>2</a:t>
            </a:fld>
            <a:endParaRPr lang="en-US"/>
          </a:p>
        </p:txBody>
      </p:sp>
    </p:spTree>
    <p:extLst>
      <p:ext uri="{BB962C8B-B14F-4D97-AF65-F5344CB8AC3E}">
        <p14:creationId xmlns:p14="http://schemas.microsoft.com/office/powerpoint/2010/main" val="3198198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2/9/2026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Introduction to Business Law</a:t>
            </a:r>
          </a:p>
        </p:txBody>
      </p:sp>
      <p:sp>
        <p:nvSpPr>
          <p:cNvPr id="3" name="Subtitle 2"/>
          <p:cNvSpPr>
            <a:spLocks noGrp="1"/>
          </p:cNvSpPr>
          <p:nvPr>
            <p:ph type="subTitle" idx="1"/>
          </p:nvPr>
        </p:nvSpPr>
        <p:spPr/>
        <p:txBody>
          <a:bodyPr/>
          <a:lstStyle/>
          <a:p>
            <a:r>
              <a:t>With Reference to Bangladesh Legal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1024128" y="585216"/>
            <a:ext cx="9720072" cy="960249"/>
          </a:xfrm>
        </p:spPr>
        <p:txBody>
          <a:bodyPr/>
          <a:lstStyle/>
          <a:p>
            <a:r>
              <a:rPr lang="en-US" b="1" dirty="0"/>
              <a:t>Introduction…</a:t>
            </a:r>
          </a:p>
        </p:txBody>
      </p:sp>
      <p:sp>
        <p:nvSpPr>
          <p:cNvPr id="3075" name="Content Placeholder 2"/>
          <p:cNvSpPr>
            <a:spLocks noGrp="1"/>
          </p:cNvSpPr>
          <p:nvPr>
            <p:ph idx="1"/>
          </p:nvPr>
        </p:nvSpPr>
        <p:spPr>
          <a:xfrm>
            <a:off x="631065" y="1545465"/>
            <a:ext cx="10113137" cy="4763895"/>
          </a:xfrm>
        </p:spPr>
        <p:txBody>
          <a:bodyPr/>
          <a:lstStyle/>
          <a:p>
            <a:pPr algn="ctr">
              <a:buFont typeface="Wingdings" panose="05000000000000000000" pitchFamily="2" charset="2"/>
              <a:buNone/>
            </a:pPr>
            <a:r>
              <a:rPr lang="en-US" b="1" dirty="0"/>
              <a:t>		</a:t>
            </a:r>
            <a:r>
              <a:rPr lang="en-US" dirty="0"/>
              <a:t>     Law is a Body of Rules……….. </a:t>
            </a:r>
          </a:p>
          <a:p>
            <a:pPr algn="ctr">
              <a:buFont typeface="Wingdings" panose="05000000000000000000" pitchFamily="2" charset="2"/>
              <a:buNone/>
            </a:pPr>
            <a:r>
              <a:rPr lang="en-US" dirty="0"/>
              <a:t>     	Purpose To govern the society…..</a:t>
            </a:r>
          </a:p>
          <a:p>
            <a:pPr algn="ctr">
              <a:buFont typeface="Wingdings" panose="05000000000000000000" pitchFamily="2" charset="2"/>
              <a:buNone/>
            </a:pPr>
            <a:r>
              <a:rPr lang="en-US" dirty="0"/>
              <a:t> They are made by Governing authorities..</a:t>
            </a:r>
          </a:p>
          <a:p>
            <a:pPr>
              <a:buFont typeface="Wingdings" panose="05000000000000000000" pitchFamily="2" charset="2"/>
              <a:buNone/>
            </a:pPr>
            <a:endParaRPr lang="en-US" dirty="0"/>
          </a:p>
          <a:p>
            <a:pPr>
              <a:buFont typeface="Wingdings" panose="05000000000000000000" pitchFamily="2" charset="2"/>
              <a:buNone/>
            </a:pPr>
            <a:r>
              <a:rPr lang="en-US" dirty="0"/>
              <a:t>	But these Rules can be implemented by Judicial authorities………only.</a:t>
            </a:r>
            <a:br>
              <a:rPr lang="en-US" b="1" dirty="0"/>
            </a:br>
            <a:endParaRPr lang="en-US" b="1" dirty="0"/>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9C848EB-1C04-497B-B007-986016F94BBB}" type="slidenum">
              <a:rPr lang="en-US" altLang="en-US">
                <a:solidFill>
                  <a:srgbClr val="898989"/>
                </a:solidFill>
              </a:rPr>
              <a:pPr eaLnBrk="1" hangingPunct="1"/>
              <a:t>2</a:t>
            </a:fld>
            <a:endParaRPr lang="en-US" altLang="en-US">
              <a:solidFill>
                <a:srgbClr val="898989"/>
              </a:solidFill>
            </a:endParaRPr>
          </a:p>
        </p:txBody>
      </p:sp>
    </p:spTree>
    <p:extLst>
      <p:ext uri="{BB962C8B-B14F-4D97-AF65-F5344CB8AC3E}">
        <p14:creationId xmlns:p14="http://schemas.microsoft.com/office/powerpoint/2010/main" val="1743089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3808" y="158496"/>
            <a:ext cx="9720072" cy="1030224"/>
          </a:xfrm>
        </p:spPr>
        <p:txBody>
          <a:bodyPr/>
          <a:lstStyle/>
          <a:p>
            <a:r>
              <a:rPr dirty="0"/>
              <a:t>Meaning of Business Law</a:t>
            </a:r>
          </a:p>
        </p:txBody>
      </p:sp>
      <p:sp>
        <p:nvSpPr>
          <p:cNvPr id="3" name="Content Placeholder 2"/>
          <p:cNvSpPr>
            <a:spLocks noGrp="1"/>
          </p:cNvSpPr>
          <p:nvPr>
            <p:ph idx="1"/>
          </p:nvPr>
        </p:nvSpPr>
        <p:spPr>
          <a:xfrm>
            <a:off x="369062" y="1026160"/>
            <a:ext cx="11453876" cy="5673344"/>
          </a:xfrm>
        </p:spPr>
        <p:txBody>
          <a:bodyPr>
            <a:noAutofit/>
          </a:bodyPr>
          <a:lstStyle/>
          <a:p>
            <a:pPr algn="just"/>
            <a:r>
              <a:rPr sz="3000" dirty="0"/>
              <a:t>Business law refers to the body of laws that govern commercial and business activities.</a:t>
            </a:r>
            <a:r>
              <a:rPr lang="en-US" sz="3000" dirty="0"/>
              <a:t> </a:t>
            </a:r>
            <a:r>
              <a:rPr sz="3000" dirty="0"/>
              <a:t>It regulates the rights, duties, and obligations of businesses and individuals.</a:t>
            </a:r>
            <a:endParaRPr lang="en-US" sz="3000" dirty="0"/>
          </a:p>
          <a:p>
            <a:pPr algn="just"/>
            <a:r>
              <a:rPr lang="en-US" sz="3000" dirty="0"/>
              <a:t>According to S.R. Daver, “ BL is the branch of law which is application to or concerned with trade &amp; commerce in connection with various business transactions”.</a:t>
            </a:r>
          </a:p>
          <a:p>
            <a:pPr algn="just"/>
            <a:r>
              <a:rPr lang="en-US" sz="3000" dirty="0"/>
              <a:t>BL includes all the laws that dictate how to form &amp; run a business. </a:t>
            </a:r>
          </a:p>
          <a:p>
            <a:pPr algn="just"/>
            <a:r>
              <a:rPr lang="en-US" sz="3000" dirty="0"/>
              <a:t> How to start, buy, manage, close, or sell any type of a business. </a:t>
            </a:r>
          </a:p>
          <a:p>
            <a:pPr algn="just"/>
            <a:r>
              <a:rPr lang="en-US" sz="3000" dirty="0"/>
              <a:t> It relates to trade, industry, &amp; commerce. </a:t>
            </a:r>
          </a:p>
          <a:p>
            <a:pPr algn="just"/>
            <a:r>
              <a:rPr lang="en-US" sz="3000" dirty="0"/>
              <a:t> It includes state, federal laws as well as administrative regulations </a:t>
            </a:r>
            <a:endParaRPr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848" y="300736"/>
            <a:ext cx="9720072" cy="959104"/>
          </a:xfrm>
        </p:spPr>
        <p:txBody>
          <a:bodyPr/>
          <a:lstStyle/>
          <a:p>
            <a:r>
              <a:rPr dirty="0"/>
              <a:t>Objectives of Business Law</a:t>
            </a:r>
          </a:p>
        </p:txBody>
      </p:sp>
      <p:sp>
        <p:nvSpPr>
          <p:cNvPr id="3" name="Content Placeholder 2"/>
          <p:cNvSpPr>
            <a:spLocks noGrp="1"/>
          </p:cNvSpPr>
          <p:nvPr>
            <p:ph idx="1"/>
          </p:nvPr>
        </p:nvSpPr>
        <p:spPr>
          <a:xfrm>
            <a:off x="660400" y="1127760"/>
            <a:ext cx="10932160" cy="4988560"/>
          </a:xfrm>
        </p:spPr>
        <p:txBody>
          <a:bodyPr>
            <a:noAutofit/>
          </a:bodyPr>
          <a:lstStyle/>
          <a:p>
            <a:pPr algn="just">
              <a:buFont typeface="Wingdings" panose="05000000000000000000" pitchFamily="2" charset="2"/>
              <a:buChar char="q"/>
            </a:pPr>
            <a:r>
              <a:rPr lang="en-US" sz="3500" dirty="0"/>
              <a:t>To lay the framework in order to carry out the commercial transactions of individuals, partnership concerns or join stock company (JSC). It helps the merchants avoid &amp; settle their conflicts. </a:t>
            </a:r>
          </a:p>
          <a:p>
            <a:pPr algn="just">
              <a:buFont typeface="Wingdings" panose="05000000000000000000" pitchFamily="2" charset="2"/>
              <a:buChar char="q"/>
            </a:pPr>
            <a:r>
              <a:rPr lang="en-US" sz="3500" dirty="0"/>
              <a:t>It has social objectives, to serve the country at large. </a:t>
            </a:r>
          </a:p>
          <a:p>
            <a:pPr algn="just">
              <a:buFont typeface="Wingdings" panose="05000000000000000000" pitchFamily="2" charset="2"/>
              <a:buChar char="q"/>
            </a:pPr>
            <a:r>
              <a:rPr lang="en-US" sz="3500" dirty="0"/>
              <a:t>It strive towards equitable distribution of wealth by preventing the concentration of economic power in the hands of few business houses.</a:t>
            </a:r>
          </a:p>
          <a:p>
            <a:pPr algn="just">
              <a:buFont typeface="Wingdings" panose="05000000000000000000" pitchFamily="2" charset="2"/>
              <a:buChar char="q"/>
            </a:pPr>
            <a:r>
              <a:rPr lang="en-US" sz="3500" dirty="0"/>
              <a:t> Facilitates the businesses to achieve their goal faster.</a:t>
            </a:r>
            <a:endParaRPr sz="3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422656"/>
            <a:ext cx="9720072" cy="776224"/>
          </a:xfrm>
        </p:spPr>
        <p:txBody>
          <a:bodyPr/>
          <a:lstStyle/>
          <a:p>
            <a:r>
              <a:rPr dirty="0"/>
              <a:t>Sources of Business Law in Bangladesh</a:t>
            </a:r>
          </a:p>
        </p:txBody>
      </p:sp>
      <p:sp>
        <p:nvSpPr>
          <p:cNvPr id="3" name="Content Placeholder 2"/>
          <p:cNvSpPr>
            <a:spLocks noGrp="1"/>
          </p:cNvSpPr>
          <p:nvPr>
            <p:ph idx="1"/>
          </p:nvPr>
        </p:nvSpPr>
        <p:spPr>
          <a:xfrm>
            <a:off x="1235963" y="1417320"/>
            <a:ext cx="9720073" cy="4023360"/>
          </a:xfrm>
        </p:spPr>
        <p:txBody>
          <a:bodyPr>
            <a:normAutofit/>
          </a:bodyPr>
          <a:lstStyle/>
          <a:p>
            <a:r>
              <a:rPr sz="3000" dirty="0"/>
              <a:t>• The Constitution of Bangladesh</a:t>
            </a:r>
          </a:p>
          <a:p>
            <a:r>
              <a:rPr sz="3000" dirty="0"/>
              <a:t>• Statutory Laws (Acts of Parliament)</a:t>
            </a:r>
          </a:p>
          <a:p>
            <a:r>
              <a:rPr sz="3000" dirty="0"/>
              <a:t>• Judicial Decisions</a:t>
            </a:r>
          </a:p>
          <a:p>
            <a:r>
              <a:rPr sz="3000" dirty="0"/>
              <a:t>• Customs and Usages</a:t>
            </a:r>
          </a:p>
          <a:p>
            <a:r>
              <a:rPr sz="3000" dirty="0"/>
              <a:t>• English Common Law (where applicable)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48640"/>
            <a:ext cx="9720072" cy="959104"/>
          </a:xfrm>
        </p:spPr>
        <p:txBody>
          <a:bodyPr/>
          <a:lstStyle/>
          <a:p>
            <a:r>
              <a:rPr dirty="0"/>
              <a:t>Major Business Laws in Bangladesh</a:t>
            </a:r>
          </a:p>
        </p:txBody>
      </p:sp>
      <p:sp>
        <p:nvSpPr>
          <p:cNvPr id="3" name="Content Placeholder 2"/>
          <p:cNvSpPr>
            <a:spLocks noGrp="1"/>
          </p:cNvSpPr>
          <p:nvPr>
            <p:ph idx="1"/>
          </p:nvPr>
        </p:nvSpPr>
        <p:spPr>
          <a:xfrm>
            <a:off x="1024127" y="1808480"/>
            <a:ext cx="9720073" cy="4023360"/>
          </a:xfrm>
        </p:spPr>
        <p:txBody>
          <a:bodyPr>
            <a:normAutofit/>
          </a:bodyPr>
          <a:lstStyle/>
          <a:p>
            <a:pPr algn="just"/>
            <a:r>
              <a:rPr sz="3500" dirty="0"/>
              <a:t>• Contract Act, 1872</a:t>
            </a:r>
          </a:p>
          <a:p>
            <a:pPr algn="just"/>
            <a:r>
              <a:rPr sz="3500" dirty="0"/>
              <a:t>• Sale of Goods Act, 1930</a:t>
            </a:r>
          </a:p>
          <a:p>
            <a:pPr algn="just"/>
            <a:r>
              <a:rPr sz="3500" dirty="0"/>
              <a:t>• Partnership Act, 1932</a:t>
            </a:r>
          </a:p>
          <a:p>
            <a:pPr algn="just"/>
            <a:r>
              <a:rPr sz="3500" dirty="0"/>
              <a:t>• Companies Act, 1994</a:t>
            </a:r>
          </a:p>
          <a:p>
            <a:pPr algn="just"/>
            <a:r>
              <a:rPr sz="3500" dirty="0"/>
              <a:t>• Negotiable Instruments Act, 1881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27912" y="366276"/>
            <a:ext cx="9832763" cy="638276"/>
          </a:xfrm>
        </p:spPr>
        <p:txBody>
          <a:bodyPr>
            <a:normAutofit/>
          </a:bodyPr>
          <a:lstStyle/>
          <a:p>
            <a:pPr algn="ctr"/>
            <a:r>
              <a:rPr lang="en-US" sz="4000" b="1" u="sng" dirty="0"/>
              <a:t>Law of Contract</a:t>
            </a:r>
          </a:p>
        </p:txBody>
      </p:sp>
      <p:sp>
        <p:nvSpPr>
          <p:cNvPr id="6147" name="Rectangle 3"/>
          <p:cNvSpPr>
            <a:spLocks noGrp="1" noChangeArrowheads="1"/>
          </p:cNvSpPr>
          <p:nvPr>
            <p:ph idx="1"/>
          </p:nvPr>
        </p:nvSpPr>
        <p:spPr>
          <a:xfrm>
            <a:off x="566671" y="1004552"/>
            <a:ext cx="10934164" cy="5243848"/>
          </a:xfrm>
        </p:spPr>
        <p:txBody>
          <a:bodyPr rtlCol="0">
            <a:normAutofit fontScale="25000" lnSpcReduction="20000"/>
          </a:bodyPr>
          <a:lstStyle/>
          <a:p>
            <a:pPr algn="just">
              <a:spcAft>
                <a:spcPts val="0"/>
              </a:spcAft>
              <a:buNone/>
              <a:defRPr/>
            </a:pPr>
            <a:r>
              <a:rPr lang="en-US" sz="10200" dirty="0"/>
              <a:t>	The law of contracts is the most important branch of the Business law or commercial laws. The Contract Act, 1872 governs agreements enforceable by law.</a:t>
            </a:r>
          </a:p>
          <a:p>
            <a:pPr algn="just">
              <a:spcAft>
                <a:spcPts val="0"/>
              </a:spcAft>
              <a:buNone/>
              <a:defRPr/>
            </a:pPr>
            <a:r>
              <a:rPr lang="en-US" sz="10200" dirty="0"/>
              <a:t>	It has vital significance not only for the business world, but also for every one of us.</a:t>
            </a:r>
          </a:p>
          <a:p>
            <a:pPr algn="just">
              <a:spcAft>
                <a:spcPts val="0"/>
              </a:spcAft>
              <a:buNone/>
              <a:defRPr/>
            </a:pPr>
            <a:r>
              <a:rPr lang="en-US" sz="10200" dirty="0"/>
              <a:t> …..As we all enters into contracts of one kind or the other in all walks of our routine life. </a:t>
            </a:r>
          </a:p>
          <a:p>
            <a:pPr algn="just">
              <a:buFont typeface="Wingdings" panose="05000000000000000000" pitchFamily="2" charset="2"/>
              <a:buNone/>
            </a:pPr>
            <a:endParaRPr lang="en-US" sz="10200" dirty="0"/>
          </a:p>
          <a:p>
            <a:pPr algn="just">
              <a:buFont typeface="Wingdings" panose="05000000000000000000" pitchFamily="2" charset="2"/>
              <a:buNone/>
            </a:pPr>
            <a:r>
              <a:rPr lang="en-US" sz="10200" dirty="0"/>
              <a:t>For example…….When one buys or borrows the essentials as well as luxuries of life, in the form of goods or services from early morning to late evening during the life period, one naturally enters into contracts. </a:t>
            </a:r>
          </a:p>
          <a:p>
            <a:pPr algn="just">
              <a:buFont typeface="Wingdings" panose="05000000000000000000" pitchFamily="2" charset="2"/>
              <a:buNone/>
            </a:pPr>
            <a:r>
              <a:rPr lang="en-US" sz="10200" dirty="0"/>
              <a:t>Bread, butter, home-appliances, clothes, books, stationery, journey-tickets etc. are some of the goods and services we buy or borrow in our daily life and for that purposes we enter into different </a:t>
            </a:r>
            <a:r>
              <a:rPr lang="en-US" sz="10200" i="1" dirty="0"/>
              <a:t>kinds of contracts</a:t>
            </a:r>
            <a:r>
              <a:rPr lang="en-US" sz="2800" dirty="0"/>
              <a:t>. </a:t>
            </a:r>
          </a:p>
          <a:p>
            <a:pPr algn="just">
              <a:spcAft>
                <a:spcPts val="0"/>
              </a:spcAft>
              <a:buNone/>
              <a:defRPr/>
            </a:pPr>
            <a:endParaRPr lang="en-US" sz="2800" dirty="0"/>
          </a:p>
          <a:p>
            <a:pPr algn="just">
              <a:spcAft>
                <a:spcPts val="0"/>
              </a:spcAft>
              <a:defRPr/>
            </a:pPr>
            <a:endParaRPr lang="en-US" sz="2800" b="1" dirty="0"/>
          </a:p>
          <a:p>
            <a:pPr algn="just">
              <a:spcAft>
                <a:spcPts val="0"/>
              </a:spcAft>
              <a:buNone/>
              <a:defRPr/>
            </a:pPr>
            <a:r>
              <a:rPr lang="en-US" sz="2800" b="1" dirty="0"/>
              <a:t>	</a:t>
            </a:r>
            <a:endParaRPr lang="en-US" dirty="0"/>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EB22AAD-C67B-44D6-BB17-7B00D58D587B}" type="slidenum">
              <a:rPr lang="en-US" altLang="en-US">
                <a:solidFill>
                  <a:srgbClr val="898989"/>
                </a:solidFill>
              </a:rPr>
              <a:pPr eaLnBrk="1" hangingPunct="1"/>
              <a:t>7</a:t>
            </a:fld>
            <a:endParaRPr lang="en-US" altLang="en-US">
              <a:solidFill>
                <a:srgbClr val="898989"/>
              </a:solidFill>
            </a:endParaRPr>
          </a:p>
        </p:txBody>
      </p:sp>
    </p:spTree>
    <p:extLst>
      <p:ext uri="{BB962C8B-B14F-4D97-AF65-F5344CB8AC3E}">
        <p14:creationId xmlns:p14="http://schemas.microsoft.com/office/powerpoint/2010/main" val="2015902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981200" y="277814"/>
            <a:ext cx="8229600" cy="638175"/>
          </a:xfrm>
        </p:spPr>
        <p:txBody>
          <a:bodyPr/>
          <a:lstStyle/>
          <a:p>
            <a:pPr algn="ctr"/>
            <a:r>
              <a:rPr lang="en-US" sz="2800" b="1" dirty="0"/>
              <a:t>Continues…</a:t>
            </a:r>
          </a:p>
        </p:txBody>
      </p:sp>
      <p:sp>
        <p:nvSpPr>
          <p:cNvPr id="8195" name="Rectangle 3"/>
          <p:cNvSpPr>
            <a:spLocks noGrp="1" noChangeArrowheads="1"/>
          </p:cNvSpPr>
          <p:nvPr>
            <p:ph idx="1"/>
          </p:nvPr>
        </p:nvSpPr>
        <p:spPr>
          <a:xfrm>
            <a:off x="682579" y="915989"/>
            <a:ext cx="11011437" cy="5227234"/>
          </a:xfrm>
        </p:spPr>
        <p:txBody>
          <a:bodyPr rtlCol="0">
            <a:normAutofit fontScale="85000" lnSpcReduction="20000"/>
          </a:bodyPr>
          <a:lstStyle/>
          <a:p>
            <a:pPr algn="just">
              <a:spcAft>
                <a:spcPts val="0"/>
              </a:spcAft>
              <a:buNone/>
              <a:defRPr/>
            </a:pPr>
            <a:r>
              <a:rPr lang="en-US" sz="2100" b="1" dirty="0"/>
              <a:t>		</a:t>
            </a:r>
          </a:p>
          <a:p>
            <a:pPr algn="just">
              <a:spcAft>
                <a:spcPts val="0"/>
              </a:spcAft>
              <a:buNone/>
              <a:defRPr/>
            </a:pPr>
            <a:r>
              <a:rPr lang="en-US" sz="2100" dirty="0"/>
              <a:t>	</a:t>
            </a:r>
            <a:r>
              <a:rPr lang="en-US" sz="2800" dirty="0">
                <a:solidFill>
                  <a:srgbClr val="000099"/>
                </a:solidFill>
              </a:rPr>
              <a:t>In business at every moment, there may be a transaction that gives rise to a contract. The law of contracts is fundamental to the existence of the business world. </a:t>
            </a:r>
          </a:p>
          <a:p>
            <a:pPr algn="just">
              <a:spcAft>
                <a:spcPts val="0"/>
              </a:spcAft>
              <a:buNone/>
              <a:defRPr/>
            </a:pPr>
            <a:r>
              <a:rPr lang="en-US" sz="2800" dirty="0">
                <a:solidFill>
                  <a:srgbClr val="000099"/>
                </a:solidFill>
              </a:rPr>
              <a:t>Without this total business world as well as entire economic system may collapse. </a:t>
            </a:r>
          </a:p>
          <a:p>
            <a:pPr algn="just">
              <a:buNone/>
            </a:pPr>
            <a:endParaRPr lang="en-US" sz="2800" b="1" i="1" dirty="0">
              <a:solidFill>
                <a:srgbClr val="000099"/>
              </a:solidFill>
            </a:endParaRPr>
          </a:p>
          <a:p>
            <a:pPr algn="just">
              <a:buNone/>
            </a:pPr>
            <a:r>
              <a:rPr lang="en-US" sz="2800" i="1" dirty="0">
                <a:solidFill>
                  <a:srgbClr val="000099"/>
                </a:solidFill>
              </a:rPr>
              <a:t>A contract is an Agreement between two or more persons, creating an obligation upon them to fulfill or not to fulfill some duties laid down specifically in the agreement.</a:t>
            </a:r>
          </a:p>
          <a:p>
            <a:pPr algn="just">
              <a:buNone/>
            </a:pPr>
            <a:endParaRPr lang="en-US" sz="2800" i="1" dirty="0">
              <a:solidFill>
                <a:srgbClr val="000099"/>
              </a:solidFill>
            </a:endParaRPr>
          </a:p>
          <a:p>
            <a:pPr algn="just">
              <a:buNone/>
            </a:pPr>
            <a:r>
              <a:rPr lang="en-US" sz="2800" i="1" dirty="0">
                <a:solidFill>
                  <a:srgbClr val="000099"/>
                </a:solidFill>
              </a:rPr>
              <a:t>	This agreement creates a legal relationship of rights and duties on the parties and if these obligations in the agreement are not fulfilled then specific action could be taken by courts on the defaulter parties.</a:t>
            </a:r>
            <a:endParaRPr lang="en-US" sz="2800" dirty="0">
              <a:solidFill>
                <a:srgbClr val="000099"/>
              </a:solidFill>
            </a:endParaRPr>
          </a:p>
          <a:p>
            <a:pPr algn="just">
              <a:spcAft>
                <a:spcPts val="0"/>
              </a:spcAft>
              <a:buNone/>
              <a:defRPr/>
            </a:pPr>
            <a:endParaRPr lang="en-US" sz="2800" dirty="0">
              <a:solidFill>
                <a:srgbClr val="000099"/>
              </a:solidFill>
            </a:endParaRPr>
          </a:p>
          <a:p>
            <a:pPr algn="just">
              <a:spcAft>
                <a:spcPts val="0"/>
              </a:spcAft>
              <a:buNone/>
              <a:defRPr/>
            </a:pPr>
            <a:endParaRPr lang="en-US" sz="2800" b="1" dirty="0"/>
          </a:p>
          <a:p>
            <a:pPr algn="just">
              <a:spcAft>
                <a:spcPts val="0"/>
              </a:spcAft>
              <a:buNone/>
              <a:defRPr/>
            </a:pPr>
            <a:r>
              <a:rPr lang="en-US" sz="2800" b="1" i="1" dirty="0">
                <a:solidFill>
                  <a:srgbClr val="000099"/>
                </a:solidFill>
              </a:rPr>
              <a:t>	</a:t>
            </a:r>
            <a:r>
              <a:rPr lang="en-US" sz="2800" b="1" dirty="0"/>
              <a:t>	</a:t>
            </a:r>
            <a:endParaRPr lang="en-US" sz="2400" b="1" i="1" dirty="0">
              <a:solidFill>
                <a:srgbClr val="000099"/>
              </a:solidFill>
            </a:endParaRP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D35C33-4FA4-42E1-8B72-589FF2C6B22C}" type="slidenum">
              <a:rPr lang="en-US" altLang="en-US">
                <a:solidFill>
                  <a:srgbClr val="898989"/>
                </a:solidFill>
              </a:rPr>
              <a:pPr eaLnBrk="1" hangingPunct="1"/>
              <a:t>8</a:t>
            </a:fld>
            <a:endParaRPr lang="en-US" altLang="en-US">
              <a:solidFill>
                <a:srgbClr val="898989"/>
              </a:solidFill>
            </a:endParaRPr>
          </a:p>
        </p:txBody>
      </p:sp>
    </p:spTree>
    <p:extLst>
      <p:ext uri="{BB962C8B-B14F-4D97-AF65-F5344CB8AC3E}">
        <p14:creationId xmlns:p14="http://schemas.microsoft.com/office/powerpoint/2010/main" val="2454601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981200" y="277814"/>
            <a:ext cx="8229600" cy="561975"/>
          </a:xfrm>
        </p:spPr>
        <p:txBody>
          <a:bodyPr rtlCol="0">
            <a:normAutofit/>
          </a:bodyPr>
          <a:lstStyle/>
          <a:p>
            <a:pPr>
              <a:defRPr/>
            </a:pPr>
            <a:r>
              <a:rPr lang="en-US" sz="3200" b="1" u="sng" dirty="0"/>
              <a:t>Law of Contract Continues….</a:t>
            </a:r>
          </a:p>
        </p:txBody>
      </p:sp>
      <p:sp>
        <p:nvSpPr>
          <p:cNvPr id="9219" name="Rectangle 3"/>
          <p:cNvSpPr>
            <a:spLocks noGrp="1" noChangeArrowheads="1"/>
          </p:cNvSpPr>
          <p:nvPr>
            <p:ph idx="1"/>
          </p:nvPr>
        </p:nvSpPr>
        <p:spPr>
          <a:xfrm>
            <a:off x="399245" y="839789"/>
            <a:ext cx="11178862" cy="5630915"/>
          </a:xfrm>
        </p:spPr>
        <p:txBody>
          <a:bodyPr>
            <a:normAutofit/>
          </a:bodyPr>
          <a:lstStyle/>
          <a:p>
            <a:pPr algn="just">
              <a:buFont typeface="Wingdings" panose="05000000000000000000" pitchFamily="2" charset="2"/>
              <a:buNone/>
            </a:pPr>
            <a:r>
              <a:rPr lang="en-US" sz="2600" dirty="0"/>
              <a:t>	In other words, contract is a legally binding agreement between two or more person and parties for a particular purpose. </a:t>
            </a:r>
          </a:p>
          <a:p>
            <a:pPr algn="just">
              <a:buFont typeface="Wingdings" panose="05000000000000000000" pitchFamily="2" charset="2"/>
              <a:buNone/>
            </a:pPr>
            <a:r>
              <a:rPr lang="en-US" sz="2600" dirty="0"/>
              <a:t>It is an exchange or promise between parties to do or absent from doing an act, which is an enforceable by the court of law.</a:t>
            </a:r>
          </a:p>
          <a:p>
            <a:pPr>
              <a:buFont typeface="Wingdings" panose="05000000000000000000" pitchFamily="2" charset="2"/>
              <a:buNone/>
            </a:pPr>
            <a:r>
              <a:rPr lang="en-US" sz="2600" dirty="0"/>
              <a:t>    </a:t>
            </a:r>
            <a:r>
              <a:rPr lang="en-US" sz="2600" u="sng" dirty="0"/>
              <a:t>CONTRACT:-</a:t>
            </a:r>
          </a:p>
          <a:p>
            <a:pPr>
              <a:buFont typeface="Wingdings" panose="05000000000000000000" pitchFamily="2" charset="2"/>
              <a:buNone/>
            </a:pPr>
            <a:r>
              <a:rPr lang="en-US" sz="2600" dirty="0">
                <a:solidFill>
                  <a:srgbClr val="FF0000"/>
                </a:solidFill>
              </a:rPr>
              <a:t>             AGREEMENT + ENFORCEABILITY BY LAW</a:t>
            </a:r>
          </a:p>
          <a:p>
            <a:pPr algn="ctr">
              <a:buFont typeface="Wingdings" panose="05000000000000000000" pitchFamily="2" charset="2"/>
              <a:buNone/>
            </a:pPr>
            <a:r>
              <a:rPr lang="en-US" sz="2600" dirty="0"/>
              <a:t>So, it is true that Law of Contract is the extension of agreement.</a:t>
            </a:r>
          </a:p>
          <a:p>
            <a:pPr marL="609600" indent="-609600">
              <a:lnSpc>
                <a:spcPct val="80000"/>
              </a:lnSpc>
              <a:buNone/>
            </a:pPr>
            <a:r>
              <a:rPr lang="en-US" sz="2600" dirty="0"/>
              <a:t>1.	“Every agreement and promise enforceable by Law is a Contract”……….</a:t>
            </a:r>
            <a:r>
              <a:rPr lang="en-US" sz="2600" u="sng" dirty="0"/>
              <a:t>Sir Fredrick Pollock</a:t>
            </a:r>
            <a:endParaRPr lang="en-US" sz="2600" dirty="0"/>
          </a:p>
          <a:p>
            <a:pPr marL="609600" indent="-609600">
              <a:lnSpc>
                <a:spcPct val="80000"/>
              </a:lnSpc>
              <a:buNone/>
            </a:pPr>
            <a:r>
              <a:rPr lang="en-US" sz="2600" dirty="0"/>
              <a:t>2.	“An agreement which create and define obligations between the parties is Law of Contract……..</a:t>
            </a:r>
            <a:r>
              <a:rPr lang="en-US" sz="2600" u="sng" dirty="0"/>
              <a:t>Samoans</a:t>
            </a:r>
          </a:p>
          <a:p>
            <a:pPr algn="ctr">
              <a:buFont typeface="Wingdings" panose="05000000000000000000" pitchFamily="2" charset="2"/>
              <a:buNone/>
            </a:pPr>
            <a:endParaRPr lang="en-US" sz="2400" dirty="0">
              <a:solidFill>
                <a:srgbClr val="FF0000"/>
              </a:solidFill>
            </a:endParaRP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56C163-252A-417F-948A-FD78F293DC1B}" type="slidenum">
              <a:rPr lang="en-US" altLang="en-US">
                <a:solidFill>
                  <a:srgbClr val="898989"/>
                </a:solidFill>
              </a:rPr>
              <a:pPr eaLnBrk="1" hangingPunct="1"/>
              <a:t>9</a:t>
            </a:fld>
            <a:endParaRPr lang="en-US" altLang="en-US">
              <a:solidFill>
                <a:srgbClr val="898989"/>
              </a:solidFill>
            </a:endParaRPr>
          </a:p>
        </p:txBody>
      </p:sp>
    </p:spTree>
    <p:extLst>
      <p:ext uri="{BB962C8B-B14F-4D97-AF65-F5344CB8AC3E}">
        <p14:creationId xmlns:p14="http://schemas.microsoft.com/office/powerpoint/2010/main" val="3368960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981200" y="277814"/>
            <a:ext cx="8229600" cy="790575"/>
          </a:xfrm>
        </p:spPr>
        <p:txBody>
          <a:bodyPr/>
          <a:lstStyle/>
          <a:p>
            <a:r>
              <a:rPr lang="en-US" sz="3200" b="1" u="sng" dirty="0"/>
              <a:t>Essentials Elements of a Valid Contract</a:t>
            </a:r>
          </a:p>
        </p:txBody>
      </p:sp>
      <p:sp>
        <p:nvSpPr>
          <p:cNvPr id="12291" name="Rectangle 3"/>
          <p:cNvSpPr>
            <a:spLocks noGrp="1" noChangeArrowheads="1"/>
          </p:cNvSpPr>
          <p:nvPr>
            <p:ph idx="1"/>
          </p:nvPr>
        </p:nvSpPr>
        <p:spPr>
          <a:xfrm>
            <a:off x="1095778" y="1752600"/>
            <a:ext cx="4114800" cy="5105400"/>
          </a:xfrm>
        </p:spPr>
        <p:txBody>
          <a:bodyPr rtlCol="0">
            <a:normAutofit/>
          </a:bodyPr>
          <a:lstStyle/>
          <a:p>
            <a:pPr marL="0" indent="0">
              <a:lnSpc>
                <a:spcPct val="80000"/>
              </a:lnSpc>
              <a:spcAft>
                <a:spcPts val="0"/>
              </a:spcAft>
              <a:buNone/>
              <a:defRPr/>
            </a:pPr>
            <a:endParaRPr lang="en-US" sz="2800" b="1" dirty="0"/>
          </a:p>
          <a:p>
            <a:pPr marL="571500" indent="-571500">
              <a:lnSpc>
                <a:spcPct val="80000"/>
              </a:lnSpc>
              <a:spcAft>
                <a:spcPts val="0"/>
              </a:spcAft>
              <a:buNone/>
              <a:defRPr/>
            </a:pPr>
            <a:r>
              <a:rPr lang="en-US" sz="2400" b="1" dirty="0"/>
              <a:t>1.	Agreement.</a:t>
            </a:r>
          </a:p>
          <a:p>
            <a:pPr marL="571500" indent="-571500">
              <a:lnSpc>
                <a:spcPct val="80000"/>
              </a:lnSpc>
              <a:spcAft>
                <a:spcPts val="0"/>
              </a:spcAft>
              <a:buFont typeface="Wingdings" pitchFamily="2" charset="2"/>
              <a:buAutoNum type="arabicPeriod"/>
              <a:defRPr/>
            </a:pPr>
            <a:endParaRPr lang="en-US" sz="2400" b="1" dirty="0"/>
          </a:p>
          <a:p>
            <a:pPr marL="571500" indent="-571500">
              <a:lnSpc>
                <a:spcPct val="80000"/>
              </a:lnSpc>
              <a:spcAft>
                <a:spcPts val="0"/>
              </a:spcAft>
              <a:buNone/>
              <a:defRPr/>
            </a:pPr>
            <a:r>
              <a:rPr lang="en-US" sz="2400" b="1" dirty="0"/>
              <a:t>2.	Enforceability by law.</a:t>
            </a:r>
          </a:p>
          <a:p>
            <a:pPr marL="571500" indent="-571500">
              <a:lnSpc>
                <a:spcPct val="80000"/>
              </a:lnSpc>
              <a:spcAft>
                <a:spcPts val="0"/>
              </a:spcAft>
              <a:buNone/>
              <a:defRPr/>
            </a:pPr>
            <a:r>
              <a:rPr lang="en-US" sz="2400" b="1" dirty="0"/>
              <a:t>3.	At least 2 parties.</a:t>
            </a:r>
          </a:p>
          <a:p>
            <a:pPr marL="571500" indent="-571500">
              <a:lnSpc>
                <a:spcPct val="80000"/>
              </a:lnSpc>
              <a:spcAft>
                <a:spcPts val="0"/>
              </a:spcAft>
              <a:buFont typeface="Wingdings" pitchFamily="2" charset="2"/>
              <a:buAutoNum type="arabicPeriod"/>
              <a:defRPr/>
            </a:pPr>
            <a:endParaRPr lang="en-US" sz="2400" b="1" dirty="0"/>
          </a:p>
          <a:p>
            <a:pPr marL="571500" indent="-571500">
              <a:lnSpc>
                <a:spcPct val="80000"/>
              </a:lnSpc>
              <a:spcAft>
                <a:spcPts val="0"/>
              </a:spcAft>
              <a:buNone/>
              <a:defRPr/>
            </a:pPr>
            <a:r>
              <a:rPr lang="en-US" sz="2400" b="1" dirty="0"/>
              <a:t>4.	Proposal.</a:t>
            </a:r>
          </a:p>
          <a:p>
            <a:pPr marL="571500" indent="-571500">
              <a:lnSpc>
                <a:spcPct val="80000"/>
              </a:lnSpc>
              <a:spcAft>
                <a:spcPts val="0"/>
              </a:spcAft>
              <a:buFont typeface="Wingdings" pitchFamily="2" charset="2"/>
              <a:buAutoNum type="arabicPeriod"/>
              <a:defRPr/>
            </a:pPr>
            <a:endParaRPr lang="en-US" sz="2400" b="1" dirty="0"/>
          </a:p>
          <a:p>
            <a:pPr marL="571500" indent="-571500">
              <a:lnSpc>
                <a:spcPct val="80000"/>
              </a:lnSpc>
              <a:spcAft>
                <a:spcPts val="0"/>
              </a:spcAft>
              <a:buNone/>
              <a:defRPr/>
            </a:pPr>
            <a:r>
              <a:rPr lang="en-US" sz="2400" b="1" dirty="0"/>
              <a:t>5.	Acceptance.</a:t>
            </a:r>
          </a:p>
          <a:p>
            <a:pPr marL="571500" indent="-571500">
              <a:lnSpc>
                <a:spcPct val="80000"/>
              </a:lnSpc>
              <a:spcAft>
                <a:spcPts val="0"/>
              </a:spcAft>
              <a:buNone/>
              <a:defRPr/>
            </a:pPr>
            <a:br>
              <a:rPr lang="en-US" sz="2800" b="1" dirty="0"/>
            </a:br>
            <a:endParaRPr lang="en-US" sz="2800" b="1" dirty="0"/>
          </a:p>
          <a:p>
            <a:pPr marL="571500" indent="-571500">
              <a:lnSpc>
                <a:spcPct val="80000"/>
              </a:lnSpc>
              <a:spcAft>
                <a:spcPts val="0"/>
              </a:spcAft>
              <a:buFont typeface="Wingdings" pitchFamily="2" charset="2"/>
              <a:buAutoNum type="arabicPeriod"/>
              <a:defRPr/>
            </a:pPr>
            <a:endParaRPr lang="en-US" b="1" dirty="0"/>
          </a:p>
          <a:p>
            <a:pPr marL="457200" indent="-457200" algn="just">
              <a:lnSpc>
                <a:spcPct val="80000"/>
              </a:lnSpc>
              <a:spcAft>
                <a:spcPts val="0"/>
              </a:spcAft>
              <a:buFontTx/>
              <a:buAutoNum type="arabicPeriod"/>
              <a:defRPr/>
            </a:pPr>
            <a:endParaRPr lang="en-US" sz="2400" b="1" dirty="0"/>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4E0961-80AB-40C8-AE6F-92CF9907874B}" type="slidenum">
              <a:rPr lang="en-US" altLang="en-US">
                <a:solidFill>
                  <a:srgbClr val="898989"/>
                </a:solidFill>
              </a:rPr>
              <a:pPr eaLnBrk="1" hangingPunct="1"/>
              <a:t>10</a:t>
            </a:fld>
            <a:endParaRPr lang="en-US" altLang="en-US">
              <a:solidFill>
                <a:srgbClr val="898989"/>
              </a:solidFill>
            </a:endParaRPr>
          </a:p>
        </p:txBody>
      </p:sp>
      <p:sp>
        <p:nvSpPr>
          <p:cNvPr id="6" name="Rectangle 5"/>
          <p:cNvSpPr/>
          <p:nvPr/>
        </p:nvSpPr>
        <p:spPr>
          <a:xfrm>
            <a:off x="6787703" y="2228296"/>
            <a:ext cx="3733800" cy="4154984"/>
          </a:xfrm>
          <a:prstGeom prst="rect">
            <a:avLst/>
          </a:prstGeom>
        </p:spPr>
        <p:txBody>
          <a:bodyPr>
            <a:spAutoFit/>
          </a:bodyPr>
          <a:lstStyle/>
          <a:p>
            <a:pPr marL="571500" indent="-571500">
              <a:lnSpc>
                <a:spcPct val="80000"/>
              </a:lnSpc>
              <a:defRPr/>
            </a:pPr>
            <a:r>
              <a:rPr lang="en-US" sz="2400" b="1" dirty="0">
                <a:latin typeface="Arial" charset="0"/>
              </a:rPr>
              <a:t>6.	</a:t>
            </a:r>
            <a:r>
              <a:rPr lang="en-US" sz="2400" b="1" dirty="0"/>
              <a:t>Intention to legal relations.</a:t>
            </a:r>
          </a:p>
          <a:p>
            <a:pPr marL="571500" indent="-571500">
              <a:lnSpc>
                <a:spcPct val="80000"/>
              </a:lnSpc>
              <a:buFont typeface="Wingdings" pitchFamily="2" charset="2"/>
              <a:buAutoNum type="arabicPeriod"/>
              <a:defRPr/>
            </a:pPr>
            <a:endParaRPr lang="en-US" sz="2400" b="1" dirty="0"/>
          </a:p>
          <a:p>
            <a:pPr marL="571500" indent="-571500">
              <a:lnSpc>
                <a:spcPct val="80000"/>
              </a:lnSpc>
              <a:defRPr/>
            </a:pPr>
            <a:r>
              <a:rPr lang="en-US" sz="2400" b="1" dirty="0"/>
              <a:t>7.	Free consent.</a:t>
            </a:r>
          </a:p>
          <a:p>
            <a:pPr marL="571500" indent="-571500">
              <a:lnSpc>
                <a:spcPct val="80000"/>
              </a:lnSpc>
              <a:buFont typeface="Wingdings" pitchFamily="2" charset="2"/>
              <a:buAutoNum type="arabicPeriod"/>
              <a:defRPr/>
            </a:pPr>
            <a:endParaRPr lang="en-US" sz="2400" b="1" dirty="0"/>
          </a:p>
          <a:p>
            <a:pPr marL="571500" indent="-571500">
              <a:lnSpc>
                <a:spcPct val="80000"/>
              </a:lnSpc>
              <a:defRPr/>
            </a:pPr>
            <a:r>
              <a:rPr lang="en-US" sz="2400" b="1" dirty="0"/>
              <a:t>8.	Contractual capacity.</a:t>
            </a:r>
          </a:p>
          <a:p>
            <a:pPr marL="571500" indent="-571500">
              <a:lnSpc>
                <a:spcPct val="80000"/>
              </a:lnSpc>
              <a:buFont typeface="Wingdings" pitchFamily="2" charset="2"/>
              <a:buAutoNum type="arabicPeriod"/>
              <a:defRPr/>
            </a:pPr>
            <a:endParaRPr lang="en-US" sz="2400" b="1" dirty="0"/>
          </a:p>
          <a:p>
            <a:pPr marL="571500" indent="-571500">
              <a:lnSpc>
                <a:spcPct val="80000"/>
              </a:lnSpc>
              <a:defRPr/>
            </a:pPr>
            <a:r>
              <a:rPr lang="en-US" sz="2400" b="1" dirty="0"/>
              <a:t>9.	Consideration.</a:t>
            </a:r>
          </a:p>
          <a:p>
            <a:pPr marL="571500" indent="-571500">
              <a:lnSpc>
                <a:spcPct val="80000"/>
              </a:lnSpc>
              <a:buFont typeface="Wingdings" pitchFamily="2" charset="2"/>
              <a:buAutoNum type="arabicPeriod"/>
              <a:defRPr/>
            </a:pPr>
            <a:endParaRPr lang="en-US" sz="2400" b="1" dirty="0"/>
          </a:p>
          <a:p>
            <a:pPr marL="571500" indent="-571500">
              <a:lnSpc>
                <a:spcPct val="80000"/>
              </a:lnSpc>
              <a:defRPr/>
            </a:pPr>
            <a:r>
              <a:rPr lang="en-US" sz="2400" b="1" dirty="0"/>
              <a:t>10.	Lawful objects.</a:t>
            </a:r>
          </a:p>
          <a:p>
            <a:pPr marL="571500" indent="-571500">
              <a:lnSpc>
                <a:spcPct val="80000"/>
              </a:lnSpc>
              <a:buFont typeface="Wingdings" pitchFamily="2" charset="2"/>
              <a:buAutoNum type="arabicPeriod"/>
              <a:defRPr/>
            </a:pPr>
            <a:endParaRPr lang="en-US" sz="2400" b="1" dirty="0"/>
          </a:p>
          <a:p>
            <a:pPr marL="571500" indent="-571500">
              <a:lnSpc>
                <a:spcPct val="80000"/>
              </a:lnSpc>
              <a:defRPr/>
            </a:pPr>
            <a:r>
              <a:rPr lang="en-US" sz="2400" b="1" dirty="0"/>
              <a:t>11.	Possibility of performance.</a:t>
            </a:r>
            <a:br>
              <a:rPr lang="en-US" b="1" dirty="0">
                <a:latin typeface="Arial" charset="0"/>
              </a:rPr>
            </a:br>
            <a:endParaRPr lang="en-US" dirty="0">
              <a:latin typeface="Arial" charset="0"/>
            </a:endParaRPr>
          </a:p>
        </p:txBody>
      </p:sp>
      <p:sp>
        <p:nvSpPr>
          <p:cNvPr id="2" name="Rectangle 1"/>
          <p:cNvSpPr/>
          <p:nvPr/>
        </p:nvSpPr>
        <p:spPr>
          <a:xfrm>
            <a:off x="1210614" y="1068389"/>
            <a:ext cx="9092485" cy="461665"/>
          </a:xfrm>
          <a:prstGeom prst="rect">
            <a:avLst/>
          </a:prstGeom>
        </p:spPr>
        <p:txBody>
          <a:bodyPr wrap="square">
            <a:spAutoFit/>
          </a:bodyPr>
          <a:lstStyle/>
          <a:p>
            <a:pPr algn="ctr">
              <a:buFont typeface="Wingdings" panose="05000000000000000000" pitchFamily="2" charset="2"/>
              <a:buNone/>
            </a:pPr>
            <a:r>
              <a:rPr lang="en-US" sz="2400" b="1" dirty="0">
                <a:solidFill>
                  <a:srgbClr val="000099"/>
                </a:solidFill>
              </a:rPr>
              <a:t>Proposal  +  Acceptance  +  Consideration</a:t>
            </a:r>
          </a:p>
        </p:txBody>
      </p:sp>
    </p:spTree>
    <p:extLst>
      <p:ext uri="{BB962C8B-B14F-4D97-AF65-F5344CB8AC3E}">
        <p14:creationId xmlns:p14="http://schemas.microsoft.com/office/powerpoint/2010/main" val="3295273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981200" y="274638"/>
            <a:ext cx="8229600" cy="563562"/>
          </a:xfrm>
        </p:spPr>
        <p:txBody>
          <a:bodyPr rtlCol="0">
            <a:normAutofit fontScale="90000"/>
          </a:bodyPr>
          <a:lstStyle/>
          <a:p>
            <a:pPr algn="r">
              <a:defRPr/>
            </a:pPr>
            <a:br>
              <a:rPr lang="en-US" sz="4000" b="1" dirty="0"/>
            </a:br>
            <a:endParaRPr lang="en-US" sz="3800" dirty="0"/>
          </a:p>
        </p:txBody>
      </p:sp>
      <p:sp>
        <p:nvSpPr>
          <p:cNvPr id="13315" name="Rectangle 3"/>
          <p:cNvSpPr>
            <a:spLocks noGrp="1" noChangeArrowheads="1"/>
          </p:cNvSpPr>
          <p:nvPr>
            <p:ph idx="1"/>
          </p:nvPr>
        </p:nvSpPr>
        <p:spPr>
          <a:xfrm>
            <a:off x="1133341" y="990601"/>
            <a:ext cx="10148552" cy="5135563"/>
          </a:xfrm>
        </p:spPr>
        <p:txBody>
          <a:bodyPr rtlCol="0">
            <a:normAutofit fontScale="92500" lnSpcReduction="10000"/>
          </a:bodyPr>
          <a:lstStyle/>
          <a:p>
            <a:pPr algn="just">
              <a:spcAft>
                <a:spcPts val="0"/>
              </a:spcAft>
              <a:buNone/>
              <a:defRPr/>
            </a:pPr>
            <a:endParaRPr lang="en-US" sz="2800" b="1" dirty="0"/>
          </a:p>
          <a:p>
            <a:pPr algn="ctr">
              <a:spcAft>
                <a:spcPts val="0"/>
              </a:spcAft>
              <a:buNone/>
              <a:defRPr/>
            </a:pPr>
            <a:r>
              <a:rPr lang="en-US" sz="2800" b="1" dirty="0"/>
              <a:t>	</a:t>
            </a:r>
          </a:p>
          <a:p>
            <a:pPr algn="ctr">
              <a:spcAft>
                <a:spcPts val="0"/>
              </a:spcAft>
              <a:buNone/>
              <a:defRPr/>
            </a:pPr>
            <a:endParaRPr lang="en-US" sz="2800" b="1" i="1" dirty="0"/>
          </a:p>
          <a:p>
            <a:pPr algn="ctr">
              <a:spcAft>
                <a:spcPts val="0"/>
              </a:spcAft>
              <a:buNone/>
              <a:defRPr/>
            </a:pPr>
            <a:endParaRPr lang="en-US" b="1" dirty="0"/>
          </a:p>
          <a:p>
            <a:pPr algn="just">
              <a:buFont typeface="Wingdings" panose="05000000000000000000" pitchFamily="2" charset="2"/>
              <a:buNone/>
            </a:pPr>
            <a:r>
              <a:rPr lang="en-US" b="1" dirty="0"/>
              <a:t>	</a:t>
            </a:r>
            <a:r>
              <a:rPr lang="en-US" sz="2400" dirty="0"/>
              <a:t>	“A is ready to buy a Cell phone from B with a price of 20,000 </a:t>
            </a:r>
            <a:r>
              <a:rPr lang="en-US" sz="2400" dirty="0" err="1"/>
              <a:t>Rs</a:t>
            </a:r>
            <a:r>
              <a:rPr lang="en-US" sz="2400" dirty="0"/>
              <a:t>, and B is also agree for this deal. </a:t>
            </a:r>
          </a:p>
          <a:p>
            <a:pPr algn="just">
              <a:buFont typeface="Wingdings" panose="05000000000000000000" pitchFamily="2" charset="2"/>
              <a:buNone/>
            </a:pPr>
            <a:endParaRPr lang="en-US" sz="2400" dirty="0"/>
          </a:p>
          <a:p>
            <a:pPr algn="just">
              <a:buFont typeface="Wingdings" panose="05000000000000000000" pitchFamily="2" charset="2"/>
              <a:buNone/>
            </a:pPr>
            <a:r>
              <a:rPr lang="en-US" sz="2400" dirty="0"/>
              <a:t>	So it is an agreement first than due enforceability by law it will treat as law of contract.”</a:t>
            </a:r>
          </a:p>
          <a:p>
            <a:pPr algn="just">
              <a:spcAft>
                <a:spcPts val="0"/>
              </a:spcAft>
              <a:buNone/>
              <a:defRPr/>
            </a:pPr>
            <a:endParaRPr lang="en-US" b="1" dirty="0"/>
          </a:p>
          <a:p>
            <a:pPr algn="just">
              <a:spcAft>
                <a:spcPts val="0"/>
              </a:spcAft>
              <a:buNone/>
              <a:defRPr/>
            </a:pPr>
            <a:r>
              <a:rPr lang="en-US" b="1" dirty="0"/>
              <a:t>	</a:t>
            </a:r>
          </a:p>
          <a:p>
            <a:pPr algn="just">
              <a:spcAft>
                <a:spcPts val="0"/>
              </a:spcAft>
              <a:buNone/>
              <a:defRPr/>
            </a:pPr>
            <a:endParaRPr lang="en-US" b="1" dirty="0"/>
          </a:p>
          <a:p>
            <a:pPr algn="just">
              <a:spcAft>
                <a:spcPts val="0"/>
              </a:spcAft>
              <a:buNone/>
              <a:defRPr/>
            </a:pPr>
            <a:r>
              <a:rPr lang="en-US" b="1" dirty="0"/>
              <a:t>		</a:t>
            </a:r>
          </a:p>
          <a:p>
            <a:pPr algn="ctr">
              <a:spcAft>
                <a:spcPts val="0"/>
              </a:spcAft>
              <a:buNone/>
              <a:defRPr/>
            </a:pPr>
            <a:endParaRPr lang="en-US" b="1" dirty="0"/>
          </a:p>
          <a:p>
            <a:pPr algn="just">
              <a:spcAft>
                <a:spcPts val="0"/>
              </a:spcAft>
              <a:defRPr/>
            </a:pPr>
            <a:endParaRPr lang="en-US" sz="2800" i="1" dirty="0"/>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A3FB071-EA1B-4989-AF85-06068C8560A2}" type="slidenum">
              <a:rPr lang="en-US" altLang="en-US">
                <a:solidFill>
                  <a:srgbClr val="898989"/>
                </a:solidFill>
              </a:rPr>
              <a:pPr eaLnBrk="1" hangingPunct="1"/>
              <a:t>11</a:t>
            </a:fld>
            <a:endParaRPr lang="en-US" altLang="en-US">
              <a:solidFill>
                <a:srgbClr val="898989"/>
              </a:solidFill>
            </a:endParaRPr>
          </a:p>
        </p:txBody>
      </p:sp>
      <p:sp>
        <p:nvSpPr>
          <p:cNvPr id="2" name="Rectangle 1"/>
          <p:cNvSpPr/>
          <p:nvPr/>
        </p:nvSpPr>
        <p:spPr>
          <a:xfrm>
            <a:off x="978794" y="1182740"/>
            <a:ext cx="10406129" cy="3614066"/>
          </a:xfrm>
          <a:prstGeom prst="rect">
            <a:avLst/>
          </a:prstGeom>
        </p:spPr>
        <p:txBody>
          <a:bodyPr wrap="square">
            <a:spAutoFit/>
          </a:bodyPr>
          <a:lstStyle/>
          <a:p>
            <a:pPr algn="ctr">
              <a:lnSpc>
                <a:spcPct val="120000"/>
              </a:lnSpc>
              <a:defRPr/>
            </a:pPr>
            <a:r>
              <a:rPr lang="en-US" sz="2200" b="1" i="1" dirty="0"/>
              <a:t>“</a:t>
            </a:r>
            <a:r>
              <a:rPr lang="en-US" sz="2200" b="1" dirty="0"/>
              <a:t>Every Law of Contract are Agreement,</a:t>
            </a:r>
          </a:p>
          <a:p>
            <a:pPr algn="ctr">
              <a:lnSpc>
                <a:spcPct val="120000"/>
              </a:lnSpc>
              <a:defRPr/>
            </a:pPr>
            <a:r>
              <a:rPr lang="en-US" sz="2200" b="1" dirty="0"/>
              <a:t> but every Agreement are not </a:t>
            </a:r>
          </a:p>
          <a:p>
            <a:pPr algn="ctr">
              <a:lnSpc>
                <a:spcPct val="120000"/>
              </a:lnSpc>
              <a:defRPr/>
            </a:pPr>
            <a:r>
              <a:rPr lang="en-US" sz="2200" b="1" dirty="0"/>
              <a:t>Law of Contract.”</a:t>
            </a:r>
          </a:p>
          <a:p>
            <a:pPr algn="ctr">
              <a:lnSpc>
                <a:spcPct val="120000"/>
              </a:lnSpc>
              <a:defRPr/>
            </a:pPr>
            <a:endParaRPr lang="en-US" b="1" dirty="0"/>
          </a:p>
          <a:p>
            <a:pPr algn="ctr">
              <a:lnSpc>
                <a:spcPct val="120000"/>
              </a:lnSpc>
              <a:defRPr/>
            </a:pPr>
            <a:endParaRPr lang="en-US" b="1" dirty="0"/>
          </a:p>
          <a:p>
            <a:pPr algn="ctr">
              <a:lnSpc>
                <a:spcPct val="120000"/>
              </a:lnSpc>
              <a:defRPr/>
            </a:pPr>
            <a:endParaRPr lang="en-US" b="1" dirty="0"/>
          </a:p>
          <a:p>
            <a:pPr algn="ctr">
              <a:lnSpc>
                <a:spcPct val="120000"/>
              </a:lnSpc>
              <a:defRPr/>
            </a:pPr>
            <a:endParaRPr lang="en-US" b="1" dirty="0"/>
          </a:p>
          <a:p>
            <a:pPr algn="ctr">
              <a:lnSpc>
                <a:spcPct val="120000"/>
              </a:lnSpc>
              <a:defRPr/>
            </a:pPr>
            <a:endParaRPr lang="en-US" b="1" dirty="0"/>
          </a:p>
          <a:p>
            <a:pPr algn="ctr">
              <a:lnSpc>
                <a:spcPct val="120000"/>
              </a:lnSpc>
              <a:defRPr/>
            </a:pPr>
            <a:endParaRPr lang="en-US" b="1" dirty="0"/>
          </a:p>
          <a:p>
            <a:pPr algn="ctr">
              <a:lnSpc>
                <a:spcPct val="120000"/>
              </a:lnSpc>
              <a:defRPr/>
            </a:pPr>
            <a:endParaRPr lang="en-US" b="1" dirty="0"/>
          </a:p>
        </p:txBody>
      </p:sp>
    </p:spTree>
    <p:extLst>
      <p:ext uri="{BB962C8B-B14F-4D97-AF65-F5344CB8AC3E}">
        <p14:creationId xmlns:p14="http://schemas.microsoft.com/office/powerpoint/2010/main" val="2375208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5EA8-9DF8-887B-2976-9D6D0D4A3285}"/>
              </a:ext>
            </a:extLst>
          </p:cNvPr>
          <p:cNvSpPr>
            <a:spLocks noGrp="1"/>
          </p:cNvSpPr>
          <p:nvPr>
            <p:ph type="title"/>
          </p:nvPr>
        </p:nvSpPr>
        <p:spPr>
          <a:xfrm>
            <a:off x="162560" y="127501"/>
            <a:ext cx="11866880" cy="969779"/>
          </a:xfrm>
        </p:spPr>
        <p:txBody>
          <a:bodyPr>
            <a:normAutofit/>
          </a:bodyPr>
          <a:lstStyle/>
          <a:p>
            <a:r>
              <a:rPr lang="en-US" sz="3900" b="1" kern="100" dirty="0">
                <a:latin typeface="Calibri" panose="020F0502020204030204" pitchFamily="34" charset="0"/>
                <a:ea typeface="Malgun Gothic" panose="020B0503020000020004" pitchFamily="34" charset="-127"/>
                <a:cs typeface="Arial" panose="020B0604020202020204" pitchFamily="34" charset="0"/>
              </a:rPr>
              <a:t>Types of Contracts under Bangladeshi Law</a:t>
            </a:r>
            <a:endParaRPr lang="en-US" sz="3900" dirty="0"/>
          </a:p>
        </p:txBody>
      </p:sp>
      <p:sp>
        <p:nvSpPr>
          <p:cNvPr id="5" name="TextBox 4">
            <a:extLst>
              <a:ext uri="{FF2B5EF4-FFF2-40B4-BE49-F238E27FC236}">
                <a16:creationId xmlns:a16="http://schemas.microsoft.com/office/drawing/2014/main" id="{5F80E4C5-D6F4-B4A6-032C-860965861D60}"/>
              </a:ext>
            </a:extLst>
          </p:cNvPr>
          <p:cNvSpPr txBox="1"/>
          <p:nvPr/>
        </p:nvSpPr>
        <p:spPr>
          <a:xfrm>
            <a:off x="741680" y="1402080"/>
            <a:ext cx="11785600" cy="4288418"/>
          </a:xfrm>
          <a:prstGeom prst="rect">
            <a:avLst/>
          </a:prstGeom>
          <a:noFill/>
        </p:spPr>
        <p:txBody>
          <a:bodyPr wrap="square">
            <a:spAutoFit/>
          </a:bodyPr>
          <a:lstStyle/>
          <a:p>
            <a:pPr marL="342900" marR="0" lvl="0" indent="-342900" algn="just">
              <a:lnSpc>
                <a:spcPct val="115000"/>
              </a:lnSpc>
              <a:spcAft>
                <a:spcPts val="800"/>
              </a:spcAft>
              <a:buSzPts val="1000"/>
              <a:buFont typeface="Symbol" panose="05050102010706020507" pitchFamily="18" charset="2"/>
              <a:buChar char=""/>
              <a:tabLst>
                <a:tab pos="457200" algn="l"/>
              </a:tabLst>
            </a:pPr>
            <a:r>
              <a:rPr lang="en-US" sz="3500" b="1" kern="100" dirty="0">
                <a:effectLst/>
                <a:latin typeface="+mj-lt"/>
                <a:ea typeface="Malgun Gothic" panose="020B0503020000020004" pitchFamily="34" charset="-127"/>
                <a:cs typeface="Arial" panose="020B0604020202020204" pitchFamily="34" charset="0"/>
              </a:rPr>
              <a:t>Valid Contract</a:t>
            </a:r>
            <a:r>
              <a:rPr lang="en-US" sz="3500" kern="100" dirty="0">
                <a:effectLst/>
                <a:latin typeface="+mj-lt"/>
                <a:ea typeface="Malgun Gothic" panose="020B0503020000020004" pitchFamily="34" charset="-127"/>
                <a:cs typeface="Arial" panose="020B0604020202020204" pitchFamily="34" charset="0"/>
              </a:rPr>
              <a:t> – Enforceable by law</a:t>
            </a:r>
          </a:p>
          <a:p>
            <a:pPr marL="342900" marR="0" lvl="0" indent="-342900" algn="just">
              <a:lnSpc>
                <a:spcPct val="115000"/>
              </a:lnSpc>
              <a:spcAft>
                <a:spcPts val="800"/>
              </a:spcAft>
              <a:buSzPts val="1000"/>
              <a:buFont typeface="Symbol" panose="05050102010706020507" pitchFamily="18" charset="2"/>
              <a:buChar char=""/>
              <a:tabLst>
                <a:tab pos="457200" algn="l"/>
              </a:tabLst>
            </a:pPr>
            <a:r>
              <a:rPr lang="en-US" sz="3500" b="1" kern="100" dirty="0">
                <a:effectLst/>
                <a:latin typeface="+mj-lt"/>
                <a:ea typeface="Malgun Gothic" panose="020B0503020000020004" pitchFamily="34" charset="-127"/>
                <a:cs typeface="Arial" panose="020B0604020202020204" pitchFamily="34" charset="0"/>
              </a:rPr>
              <a:t>Void Contract</a:t>
            </a:r>
            <a:r>
              <a:rPr lang="en-US" sz="3500" kern="100" dirty="0">
                <a:effectLst/>
                <a:latin typeface="+mj-lt"/>
                <a:ea typeface="Malgun Gothic" panose="020B0503020000020004" pitchFamily="34" charset="-127"/>
                <a:cs typeface="Arial" panose="020B0604020202020204" pitchFamily="34" charset="0"/>
              </a:rPr>
              <a:t> – Not enforceable by law</a:t>
            </a:r>
          </a:p>
          <a:p>
            <a:pPr marL="342900" marR="0" lvl="0" indent="-342900" algn="just">
              <a:lnSpc>
                <a:spcPct val="115000"/>
              </a:lnSpc>
              <a:spcAft>
                <a:spcPts val="800"/>
              </a:spcAft>
              <a:buSzPts val="1000"/>
              <a:buFont typeface="Symbol" panose="05050102010706020507" pitchFamily="18" charset="2"/>
              <a:buChar char=""/>
              <a:tabLst>
                <a:tab pos="457200" algn="l"/>
              </a:tabLst>
            </a:pPr>
            <a:r>
              <a:rPr lang="en-US" sz="3500" b="1" kern="100" dirty="0">
                <a:effectLst/>
                <a:latin typeface="+mj-lt"/>
                <a:ea typeface="Malgun Gothic" panose="020B0503020000020004" pitchFamily="34" charset="-127"/>
                <a:cs typeface="Arial" panose="020B0604020202020204" pitchFamily="34" charset="0"/>
              </a:rPr>
              <a:t>Voidable Contract</a:t>
            </a:r>
            <a:r>
              <a:rPr lang="en-US" sz="3500" kern="100" dirty="0">
                <a:effectLst/>
                <a:latin typeface="+mj-lt"/>
                <a:ea typeface="Malgun Gothic" panose="020B0503020000020004" pitchFamily="34" charset="-127"/>
                <a:cs typeface="Arial" panose="020B0604020202020204" pitchFamily="34" charset="0"/>
              </a:rPr>
              <a:t> – Enforceable at the option of one party</a:t>
            </a:r>
          </a:p>
          <a:p>
            <a:pPr marL="342900" marR="0" lvl="0" indent="-342900" algn="just">
              <a:lnSpc>
                <a:spcPct val="115000"/>
              </a:lnSpc>
              <a:spcAft>
                <a:spcPts val="800"/>
              </a:spcAft>
              <a:buSzPts val="1000"/>
              <a:buFont typeface="Symbol" panose="05050102010706020507" pitchFamily="18" charset="2"/>
              <a:buChar char=""/>
              <a:tabLst>
                <a:tab pos="457200" algn="l"/>
              </a:tabLst>
            </a:pPr>
            <a:r>
              <a:rPr lang="en-US" sz="3500" b="1" kern="100" dirty="0">
                <a:effectLst/>
                <a:latin typeface="+mj-lt"/>
                <a:ea typeface="Malgun Gothic" panose="020B0503020000020004" pitchFamily="34" charset="-127"/>
                <a:cs typeface="Arial" panose="020B0604020202020204" pitchFamily="34" charset="0"/>
              </a:rPr>
              <a:t>Express Contract</a:t>
            </a:r>
            <a:r>
              <a:rPr lang="en-US" sz="3500" kern="100" dirty="0">
                <a:effectLst/>
                <a:latin typeface="+mj-lt"/>
                <a:ea typeface="Malgun Gothic" panose="020B0503020000020004" pitchFamily="34" charset="-127"/>
                <a:cs typeface="Arial" panose="020B0604020202020204" pitchFamily="34" charset="0"/>
              </a:rPr>
              <a:t> – Made by words (oral or written)</a:t>
            </a:r>
          </a:p>
          <a:p>
            <a:pPr marL="342900" marR="0" lvl="0" indent="-342900" algn="just">
              <a:lnSpc>
                <a:spcPct val="115000"/>
              </a:lnSpc>
              <a:spcAft>
                <a:spcPts val="800"/>
              </a:spcAft>
              <a:buSzPts val="1000"/>
              <a:buFont typeface="Symbol" panose="05050102010706020507" pitchFamily="18" charset="2"/>
              <a:buChar char=""/>
              <a:tabLst>
                <a:tab pos="457200" algn="l"/>
              </a:tabLst>
            </a:pPr>
            <a:r>
              <a:rPr lang="en-US" sz="3500" b="1" kern="100" dirty="0">
                <a:effectLst/>
                <a:latin typeface="+mj-lt"/>
                <a:ea typeface="Malgun Gothic" panose="020B0503020000020004" pitchFamily="34" charset="-127"/>
                <a:cs typeface="Arial" panose="020B0604020202020204" pitchFamily="34" charset="0"/>
              </a:rPr>
              <a:t>Implied Contract</a:t>
            </a:r>
            <a:r>
              <a:rPr lang="en-US" sz="3500" kern="100" dirty="0">
                <a:effectLst/>
                <a:latin typeface="+mj-lt"/>
                <a:ea typeface="Malgun Gothic" panose="020B0503020000020004" pitchFamily="34" charset="-127"/>
                <a:cs typeface="Arial" panose="020B0604020202020204" pitchFamily="34" charset="0"/>
              </a:rPr>
              <a:t> – Formed by conduct</a:t>
            </a:r>
          </a:p>
          <a:p>
            <a:pPr marL="342900" marR="0" lvl="0" indent="-342900" algn="just">
              <a:lnSpc>
                <a:spcPct val="115000"/>
              </a:lnSpc>
              <a:spcAft>
                <a:spcPts val="800"/>
              </a:spcAft>
              <a:buSzPts val="1000"/>
              <a:buFont typeface="Symbol" panose="05050102010706020507" pitchFamily="18" charset="2"/>
              <a:buChar char=""/>
              <a:tabLst>
                <a:tab pos="457200" algn="l"/>
              </a:tabLst>
            </a:pPr>
            <a:r>
              <a:rPr lang="en-US" sz="3500" b="1" dirty="0">
                <a:effectLst/>
                <a:latin typeface="+mj-lt"/>
                <a:ea typeface="Malgun Gothic" panose="020B0503020000020004" pitchFamily="34" charset="-127"/>
                <a:cs typeface="Arial" panose="020B0604020202020204" pitchFamily="34" charset="0"/>
              </a:rPr>
              <a:t>Quasi-Contract</a:t>
            </a:r>
            <a:r>
              <a:rPr lang="en-US" sz="3500" dirty="0">
                <a:effectLst/>
                <a:latin typeface="+mj-lt"/>
                <a:ea typeface="Malgun Gothic" panose="020B0503020000020004" pitchFamily="34" charset="-127"/>
                <a:cs typeface="Arial" panose="020B0604020202020204" pitchFamily="34" charset="0"/>
              </a:rPr>
              <a:t> – Imposed by law to prevent unjust enrichment</a:t>
            </a:r>
            <a:endParaRPr lang="en-US" sz="3500" dirty="0">
              <a:latin typeface="+mj-lt"/>
            </a:endParaRPr>
          </a:p>
        </p:txBody>
      </p:sp>
    </p:spTree>
    <p:extLst>
      <p:ext uri="{BB962C8B-B14F-4D97-AF65-F5344CB8AC3E}">
        <p14:creationId xmlns:p14="http://schemas.microsoft.com/office/powerpoint/2010/main" val="2146802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D6E5FA-9B4F-9694-3E3D-8FED70FF8FB1}"/>
              </a:ext>
            </a:extLst>
          </p:cNvPr>
          <p:cNvSpPr txBox="1"/>
          <p:nvPr/>
        </p:nvSpPr>
        <p:spPr>
          <a:xfrm>
            <a:off x="701040" y="2824104"/>
            <a:ext cx="10170160" cy="3748206"/>
          </a:xfrm>
          <a:prstGeom prst="rect">
            <a:avLst/>
          </a:prstGeom>
          <a:noFill/>
        </p:spPr>
        <p:txBody>
          <a:bodyPr wrap="square">
            <a:spAutoFit/>
          </a:bodyPr>
          <a:lstStyle/>
          <a:p>
            <a:pPr marL="0" marR="0" algn="just">
              <a:lnSpc>
                <a:spcPct val="115000"/>
              </a:lnSpc>
              <a:spcAft>
                <a:spcPts val="800"/>
              </a:spcAft>
              <a:buNone/>
            </a:pPr>
            <a:r>
              <a:rPr lang="en-US" sz="3000" b="1" kern="100" dirty="0">
                <a:effectLst/>
                <a:latin typeface="Times New Roman" panose="02020603050405020304" pitchFamily="18" charset="0"/>
                <a:ea typeface="Malgun Gothic" panose="020B0503020000020004" pitchFamily="34" charset="-127"/>
                <a:cs typeface="Times New Roman" panose="02020603050405020304" pitchFamily="18" charset="0"/>
              </a:rPr>
              <a:t>Remedies for Breach of Contract</a:t>
            </a:r>
            <a:endParaRPr lang="en-US" sz="30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0" marR="0" algn="just">
              <a:lnSpc>
                <a:spcPct val="115000"/>
              </a:lnSpc>
              <a:spcAft>
                <a:spcPts val="800"/>
              </a:spcAft>
              <a:buNone/>
            </a:pPr>
            <a:r>
              <a:rPr lang="en-US" sz="3000" kern="100" dirty="0">
                <a:effectLst/>
                <a:latin typeface="Times New Roman" panose="02020603050405020304" pitchFamily="18" charset="0"/>
                <a:ea typeface="Malgun Gothic" panose="020B0503020000020004" pitchFamily="34" charset="-127"/>
                <a:cs typeface="Times New Roman" panose="02020603050405020304" pitchFamily="18" charset="0"/>
              </a:rPr>
              <a:t>Under the Contract Act, 1872, the aggrieved party may claim:</a:t>
            </a:r>
          </a:p>
          <a:p>
            <a:pPr marL="342900" marR="0" lvl="0" indent="-342900" algn="just">
              <a:lnSpc>
                <a:spcPct val="115000"/>
              </a:lnSpc>
              <a:spcAft>
                <a:spcPts val="800"/>
              </a:spcAft>
              <a:buSzPts val="1000"/>
              <a:buFont typeface="Symbol" panose="05050102010706020507" pitchFamily="18" charset="2"/>
              <a:buChar char=""/>
              <a:tabLst>
                <a:tab pos="457200" algn="l"/>
              </a:tabLst>
            </a:pPr>
            <a:r>
              <a:rPr lang="en-US" sz="3000" b="1" kern="100" dirty="0">
                <a:effectLst/>
                <a:latin typeface="Times New Roman" panose="02020603050405020304" pitchFamily="18" charset="0"/>
                <a:ea typeface="Malgun Gothic" panose="020B0503020000020004" pitchFamily="34" charset="-127"/>
                <a:cs typeface="Times New Roman" panose="02020603050405020304" pitchFamily="18" charset="0"/>
              </a:rPr>
              <a:t>Damages</a:t>
            </a:r>
            <a:endParaRPr lang="en-US" sz="30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342900" marR="0" lvl="0" indent="-342900" algn="just">
              <a:lnSpc>
                <a:spcPct val="115000"/>
              </a:lnSpc>
              <a:spcAft>
                <a:spcPts val="800"/>
              </a:spcAft>
              <a:buSzPts val="1000"/>
              <a:buFont typeface="Symbol" panose="05050102010706020507" pitchFamily="18" charset="2"/>
              <a:buChar char=""/>
              <a:tabLst>
                <a:tab pos="457200" algn="l"/>
              </a:tabLst>
            </a:pPr>
            <a:r>
              <a:rPr lang="en-US" sz="3000" b="1" kern="100" dirty="0">
                <a:effectLst/>
                <a:latin typeface="Times New Roman" panose="02020603050405020304" pitchFamily="18" charset="0"/>
                <a:ea typeface="Malgun Gothic" panose="020B0503020000020004" pitchFamily="34" charset="-127"/>
                <a:cs typeface="Times New Roman" panose="02020603050405020304" pitchFamily="18" charset="0"/>
              </a:rPr>
              <a:t>Specific Performance</a:t>
            </a:r>
            <a:endParaRPr lang="en-US" sz="30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342900" marR="0" lvl="0" indent="-342900" algn="just">
              <a:lnSpc>
                <a:spcPct val="115000"/>
              </a:lnSpc>
              <a:spcAft>
                <a:spcPts val="800"/>
              </a:spcAft>
              <a:buSzPts val="1000"/>
              <a:buFont typeface="Symbol" panose="05050102010706020507" pitchFamily="18" charset="2"/>
              <a:buChar char=""/>
              <a:tabLst>
                <a:tab pos="457200" algn="l"/>
              </a:tabLst>
            </a:pPr>
            <a:r>
              <a:rPr lang="en-US" sz="3000" b="1" kern="100" dirty="0">
                <a:effectLst/>
                <a:latin typeface="Times New Roman" panose="02020603050405020304" pitchFamily="18" charset="0"/>
                <a:ea typeface="Malgun Gothic" panose="020B0503020000020004" pitchFamily="34" charset="-127"/>
                <a:cs typeface="Times New Roman" panose="02020603050405020304" pitchFamily="18" charset="0"/>
              </a:rPr>
              <a:t>Injunction</a:t>
            </a:r>
            <a:endParaRPr lang="en-US" sz="30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342900" marR="0" lvl="0" indent="-342900" algn="just">
              <a:lnSpc>
                <a:spcPct val="115000"/>
              </a:lnSpc>
              <a:spcAft>
                <a:spcPts val="800"/>
              </a:spcAft>
              <a:buSzPts val="1000"/>
              <a:buFont typeface="Symbol" panose="05050102010706020507" pitchFamily="18" charset="2"/>
              <a:buChar char=""/>
              <a:tabLst>
                <a:tab pos="457200" algn="l"/>
              </a:tabLst>
            </a:pPr>
            <a:r>
              <a:rPr lang="en-US" sz="3000" b="1" kern="100" dirty="0">
                <a:effectLst/>
                <a:latin typeface="Times New Roman" panose="02020603050405020304" pitchFamily="18" charset="0"/>
                <a:ea typeface="Malgun Gothic" panose="020B0503020000020004" pitchFamily="34" charset="-127"/>
                <a:cs typeface="Times New Roman" panose="02020603050405020304" pitchFamily="18" charset="0"/>
              </a:rPr>
              <a:t>Rescission of Contract</a:t>
            </a:r>
            <a:endParaRPr lang="en-US" sz="30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7" name="TextBox 6">
            <a:extLst>
              <a:ext uri="{FF2B5EF4-FFF2-40B4-BE49-F238E27FC236}">
                <a16:creationId xmlns:a16="http://schemas.microsoft.com/office/drawing/2014/main" id="{AF777D81-D9AC-F3F2-3E37-55868A648EEF}"/>
              </a:ext>
            </a:extLst>
          </p:cNvPr>
          <p:cNvSpPr txBox="1"/>
          <p:nvPr/>
        </p:nvSpPr>
        <p:spPr>
          <a:xfrm>
            <a:off x="1320800" y="140071"/>
            <a:ext cx="9550400" cy="743473"/>
          </a:xfrm>
          <a:prstGeom prst="rect">
            <a:avLst/>
          </a:prstGeom>
          <a:noFill/>
        </p:spPr>
        <p:txBody>
          <a:bodyPr wrap="square">
            <a:spAutoFit/>
          </a:bodyPr>
          <a:lstStyle/>
          <a:p>
            <a:pPr marL="0" marR="0" algn="ctr">
              <a:lnSpc>
                <a:spcPct val="115000"/>
              </a:lnSpc>
              <a:spcAft>
                <a:spcPts val="800"/>
              </a:spcAft>
              <a:buNone/>
            </a:pPr>
            <a:r>
              <a:rPr lang="en-US" sz="4000" b="1" kern="100" dirty="0">
                <a:effectLst/>
                <a:latin typeface="Times New Roman" panose="02020603050405020304" pitchFamily="18" charset="0"/>
                <a:ea typeface="Malgun Gothic" panose="020B0503020000020004" pitchFamily="34" charset="-127"/>
                <a:cs typeface="Times New Roman" panose="02020603050405020304" pitchFamily="18" charset="0"/>
              </a:rPr>
              <a:t>Breach of Contract and Remedies</a:t>
            </a:r>
            <a:endParaRPr lang="en-US" sz="40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3" name="TextBox 2">
            <a:extLst>
              <a:ext uri="{FF2B5EF4-FFF2-40B4-BE49-F238E27FC236}">
                <a16:creationId xmlns:a16="http://schemas.microsoft.com/office/drawing/2014/main" id="{D3DDF82E-2DA7-63AE-E88F-186EB205F9F1}"/>
              </a:ext>
            </a:extLst>
          </p:cNvPr>
          <p:cNvSpPr txBox="1"/>
          <p:nvPr/>
        </p:nvSpPr>
        <p:spPr>
          <a:xfrm>
            <a:off x="1320800" y="1183320"/>
            <a:ext cx="10170160" cy="1332481"/>
          </a:xfrm>
          <a:prstGeom prst="rect">
            <a:avLst/>
          </a:prstGeom>
          <a:noFill/>
        </p:spPr>
        <p:txBody>
          <a:bodyPr wrap="square">
            <a:spAutoFit/>
          </a:bodyPr>
          <a:lstStyle/>
          <a:p>
            <a:pPr marL="0" marR="0" algn="just">
              <a:lnSpc>
                <a:spcPct val="115000"/>
              </a:lnSpc>
              <a:spcAft>
                <a:spcPts val="800"/>
              </a:spcAft>
              <a:buNone/>
            </a:pPr>
            <a:r>
              <a:rPr lang="en-US" sz="2400" kern="100" dirty="0">
                <a:effectLst/>
                <a:latin typeface="Times New Roman" panose="02020603050405020304" pitchFamily="18" charset="0"/>
                <a:ea typeface="Malgun Gothic" panose="020B0503020000020004" pitchFamily="34" charset="-127"/>
                <a:cs typeface="Times New Roman" panose="02020603050405020304" pitchFamily="18" charset="0"/>
              </a:rPr>
              <a:t>A </a:t>
            </a:r>
            <a:r>
              <a:rPr lang="en-US" sz="2400" b="1" kern="100" dirty="0">
                <a:effectLst/>
                <a:latin typeface="Times New Roman" panose="02020603050405020304" pitchFamily="18" charset="0"/>
                <a:ea typeface="Malgun Gothic" panose="020B0503020000020004" pitchFamily="34" charset="-127"/>
                <a:cs typeface="Times New Roman" panose="02020603050405020304" pitchFamily="18" charset="0"/>
              </a:rPr>
              <a:t>breach of contract</a:t>
            </a:r>
            <a:r>
              <a:rPr lang="en-US" sz="2400" kern="100" dirty="0">
                <a:effectLst/>
                <a:latin typeface="Times New Roman" panose="02020603050405020304" pitchFamily="18" charset="0"/>
                <a:ea typeface="Malgun Gothic" panose="020B0503020000020004" pitchFamily="34" charset="-127"/>
                <a:cs typeface="Times New Roman" panose="02020603050405020304" pitchFamily="18" charset="0"/>
              </a:rPr>
              <a:t> occurs when one party fails to perform their obligations.</a:t>
            </a:r>
            <a:br>
              <a:rPr lang="en-US" sz="2400" kern="100" dirty="0">
                <a:effectLst/>
                <a:latin typeface="Times New Roman" panose="02020603050405020304" pitchFamily="18" charset="0"/>
                <a:ea typeface="Malgun Gothic" panose="020B0503020000020004" pitchFamily="34" charset="-127"/>
                <a:cs typeface="Times New Roman" panose="02020603050405020304" pitchFamily="18" charset="0"/>
              </a:rPr>
            </a:br>
            <a:r>
              <a:rPr lang="en-US" sz="2400" kern="100" dirty="0">
                <a:effectLst/>
                <a:latin typeface="Times New Roman" panose="02020603050405020304" pitchFamily="18" charset="0"/>
                <a:ea typeface="Malgun Gothic" panose="020B0503020000020004" pitchFamily="34" charset="-127"/>
                <a:cs typeface="Times New Roman" panose="02020603050405020304" pitchFamily="18" charset="0"/>
              </a:rPr>
              <a:t>A supplier agrees to deliver goods by 1st June but fails to do so. This is a breach of contract.</a:t>
            </a:r>
          </a:p>
        </p:txBody>
      </p:sp>
    </p:spTree>
    <p:extLst>
      <p:ext uri="{BB962C8B-B14F-4D97-AF65-F5344CB8AC3E}">
        <p14:creationId xmlns:p14="http://schemas.microsoft.com/office/powerpoint/2010/main" val="146296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821" y="108697"/>
            <a:ext cx="9720072" cy="805702"/>
          </a:xfrm>
        </p:spPr>
        <p:txBody>
          <a:bodyPr/>
          <a:lstStyle/>
          <a:p>
            <a:r>
              <a:rPr lang="en-US" dirty="0"/>
              <a:t>Schools of Legal Thought</a:t>
            </a:r>
          </a:p>
        </p:txBody>
      </p:sp>
      <p:sp>
        <p:nvSpPr>
          <p:cNvPr id="3" name="Content Placeholder 2"/>
          <p:cNvSpPr>
            <a:spLocks noGrp="1"/>
          </p:cNvSpPr>
          <p:nvPr>
            <p:ph idx="1"/>
          </p:nvPr>
        </p:nvSpPr>
        <p:spPr>
          <a:xfrm>
            <a:off x="309094" y="914399"/>
            <a:ext cx="10435108" cy="5394961"/>
          </a:xfrm>
        </p:spPr>
        <p:txBody>
          <a:bodyPr>
            <a:normAutofit fontScale="85000" lnSpcReduction="20000"/>
          </a:bodyPr>
          <a:lstStyle/>
          <a:p>
            <a:pPr algn="just"/>
            <a:r>
              <a:rPr lang="en-US" dirty="0"/>
              <a:t>A. Background. When we look at the development of law, there are several things they have had a major influence. Some of the more important element are customs, history, and logic. </a:t>
            </a:r>
          </a:p>
          <a:p>
            <a:pPr algn="just"/>
            <a:r>
              <a:rPr lang="en-US" dirty="0"/>
              <a:t>B. The "Problem". The major problem is that philosophers disagree on what are the major factors. </a:t>
            </a:r>
          </a:p>
          <a:p>
            <a:pPr algn="just"/>
            <a:r>
              <a:rPr lang="en-US" dirty="0"/>
              <a:t>C. Outcome. This disagree has lead to 2 different schools of thought on what the major factors are: </a:t>
            </a:r>
          </a:p>
          <a:p>
            <a:pPr algn="just"/>
            <a:r>
              <a:rPr lang="en-US" dirty="0"/>
              <a:t>1. </a:t>
            </a:r>
            <a:r>
              <a:rPr lang="en-US" b="1" dirty="0"/>
              <a:t>The Traditional Approach</a:t>
            </a:r>
            <a:r>
              <a:rPr lang="en-US" dirty="0"/>
              <a:t>: The first school of thought is the "traditional approach." The traditional approach looks to the past to discover what the principles of the current law should be. </a:t>
            </a:r>
          </a:p>
          <a:p>
            <a:pPr algn="just"/>
            <a:r>
              <a:rPr lang="en-US" dirty="0"/>
              <a:t>a. Strict Decisions are followed. Followers of this school look to prior decisions which are on point and will usually follow them to the letter. </a:t>
            </a:r>
          </a:p>
          <a:p>
            <a:pPr algn="just"/>
            <a:r>
              <a:rPr lang="en-US" dirty="0"/>
              <a:t>b. Example. Homer left the neighbor's house and was obviously intoxicated. The neighbor knew Homer was intoxicated but kept serving him drinks and then allowed him to drive. Homer lost control of his car and killed a 6 year old child. Homer has no money or insurance. (1) The child's parents want to sue the "Neighbor" for negligence as a social host. (2) Case Was recently decided stating that social host are not liable for their guest. (3) Under the traditional approach, parents lose. The court will follow prior decisions. </a:t>
            </a:r>
          </a:p>
          <a:p>
            <a:pPr algn="just"/>
            <a:r>
              <a:rPr lang="en-US" dirty="0"/>
              <a:t>2. </a:t>
            </a:r>
            <a:r>
              <a:rPr lang="en-US" b="1" dirty="0"/>
              <a:t>The Sociological Approach.</a:t>
            </a:r>
            <a:r>
              <a:rPr lang="en-US" dirty="0"/>
              <a:t> The second school of thought is called the "sociological approach." Under this approach, social forces and needs are the primary factors. a. The key to this approach is that historical cases don't drive future law. Under this approach, as society changes, the law should also change. b. Earlier Illustrated Case. Under this approach, the social host issue would probably have a different outcome (1) Why? Because the court would see this as a public safety issue and would put the (1) put the burden on individuals contributing to the occurrence and (2) provide a financial outlet for those who have been injured.</a:t>
            </a:r>
          </a:p>
        </p:txBody>
      </p:sp>
    </p:spTree>
    <p:extLst>
      <p:ext uri="{BB962C8B-B14F-4D97-AF65-F5344CB8AC3E}">
        <p14:creationId xmlns:p14="http://schemas.microsoft.com/office/powerpoint/2010/main" val="3210991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8204" y="142240"/>
            <a:ext cx="9720072" cy="873760"/>
          </a:xfrm>
        </p:spPr>
        <p:txBody>
          <a:bodyPr/>
          <a:lstStyle/>
          <a:p>
            <a:pPr algn="ctr"/>
            <a:r>
              <a:rPr dirty="0"/>
              <a:t>Company Law in Bangladesh</a:t>
            </a:r>
          </a:p>
        </p:txBody>
      </p:sp>
      <p:sp>
        <p:nvSpPr>
          <p:cNvPr id="3" name="Content Placeholder 2"/>
          <p:cNvSpPr>
            <a:spLocks noGrp="1"/>
          </p:cNvSpPr>
          <p:nvPr>
            <p:ph idx="1"/>
          </p:nvPr>
        </p:nvSpPr>
        <p:spPr>
          <a:xfrm>
            <a:off x="700024" y="1016000"/>
            <a:ext cx="11076432" cy="5486400"/>
          </a:xfrm>
        </p:spPr>
        <p:txBody>
          <a:bodyPr>
            <a:normAutofit fontScale="32500" lnSpcReduction="20000"/>
          </a:bodyPr>
          <a:lstStyle/>
          <a:p>
            <a:pPr algn="just"/>
            <a:r>
              <a:rPr lang="en-US" sz="10000" b="1" dirty="0"/>
              <a:t>Company Law in Bangladesh</a:t>
            </a:r>
            <a:r>
              <a:rPr lang="en-US" sz="10000" dirty="0"/>
              <a:t> regulates the </a:t>
            </a:r>
            <a:r>
              <a:rPr lang="en-US" sz="10000" b="1" dirty="0"/>
              <a:t>formation, management, operation, and winding up of companies</a:t>
            </a:r>
            <a:r>
              <a:rPr lang="en-US" sz="10000" dirty="0"/>
              <a:t>. The primary legislation governing company law is the </a:t>
            </a:r>
            <a:r>
              <a:rPr lang="en-US" sz="10000" b="1" dirty="0"/>
              <a:t>Companies Act, 1994</a:t>
            </a:r>
            <a:r>
              <a:rPr lang="en-US" sz="10000" dirty="0"/>
              <a:t>.</a:t>
            </a:r>
          </a:p>
          <a:p>
            <a:pPr algn="just"/>
            <a:r>
              <a:rPr lang="en-US" sz="10000" b="1" dirty="0"/>
              <a:t>Meaning of a Company</a:t>
            </a:r>
          </a:p>
          <a:p>
            <a:pPr algn="just"/>
            <a:r>
              <a:rPr lang="en-US" sz="10000" dirty="0"/>
              <a:t>A </a:t>
            </a:r>
            <a:r>
              <a:rPr lang="en-US" sz="10000" b="1" dirty="0"/>
              <a:t>company</a:t>
            </a:r>
            <a:r>
              <a:rPr lang="en-US" sz="10000" dirty="0"/>
              <a:t> is an artificial legal person created by law, having:</a:t>
            </a:r>
          </a:p>
          <a:p>
            <a:pPr algn="just"/>
            <a:r>
              <a:rPr lang="en-US" sz="10000" dirty="0"/>
              <a:t>Separate legal identity</a:t>
            </a:r>
          </a:p>
          <a:p>
            <a:pPr algn="just"/>
            <a:r>
              <a:rPr lang="en-US" sz="10000" dirty="0"/>
              <a:t>Perpetual succession</a:t>
            </a:r>
          </a:p>
          <a:p>
            <a:pPr algn="just"/>
            <a:r>
              <a:rPr lang="en-US" sz="10000" dirty="0"/>
              <a:t>Limited liability</a:t>
            </a:r>
          </a:p>
          <a:p>
            <a:pPr marL="0" indent="0" algn="just">
              <a:buNone/>
            </a:pPr>
            <a:br>
              <a:rPr lang="en-US" sz="10000" dirty="0"/>
            </a:br>
            <a:r>
              <a:rPr lang="en-US" sz="10000" dirty="0"/>
              <a:t>ABC Limited is a company registered under the Companies Act, 1994. It is legally separate from its owners.</a:t>
            </a:r>
          </a:p>
          <a:p>
            <a:pPr marL="0" indent="0">
              <a:buNone/>
            </a:pPr>
            <a:endParaRPr lang="en-US" sz="10000" dirty="0"/>
          </a:p>
          <a:p>
            <a:endParaRPr dirty="0"/>
          </a:p>
        </p:txBody>
      </p:sp>
    </p:spTree>
    <p:extLst>
      <p:ext uri="{BB962C8B-B14F-4D97-AF65-F5344CB8AC3E}">
        <p14:creationId xmlns:p14="http://schemas.microsoft.com/office/powerpoint/2010/main" val="348036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9889" y="158496"/>
            <a:ext cx="9720072" cy="573024"/>
          </a:xfrm>
        </p:spPr>
        <p:txBody>
          <a:bodyPr>
            <a:normAutofit fontScale="90000"/>
          </a:bodyPr>
          <a:lstStyle/>
          <a:p>
            <a:pPr algn="ctr"/>
            <a:r>
              <a:rPr dirty="0"/>
              <a:t>Sale of Goods Law</a:t>
            </a:r>
          </a:p>
        </p:txBody>
      </p:sp>
      <p:sp>
        <p:nvSpPr>
          <p:cNvPr id="3" name="Content Placeholder 2"/>
          <p:cNvSpPr>
            <a:spLocks noGrp="1"/>
          </p:cNvSpPr>
          <p:nvPr>
            <p:ph idx="1"/>
          </p:nvPr>
        </p:nvSpPr>
        <p:spPr>
          <a:xfrm>
            <a:off x="587248" y="680720"/>
            <a:ext cx="11604752" cy="6177280"/>
          </a:xfrm>
        </p:spPr>
        <p:txBody>
          <a:bodyPr>
            <a:normAutofit fontScale="25000" lnSpcReduction="20000"/>
          </a:bodyPr>
          <a:lstStyle/>
          <a:p>
            <a:pPr algn="just"/>
            <a:r>
              <a:rPr sz="8800" dirty="0"/>
              <a:t>The Sale of Goods Act, 1930 governs contracts relating to the sale of goods.</a:t>
            </a:r>
            <a:r>
              <a:rPr lang="en-US" sz="8800" dirty="0"/>
              <a:t> </a:t>
            </a:r>
            <a:r>
              <a:rPr sz="8800" dirty="0"/>
              <a:t>It defines conditions, warranties, and transfer of ownership.</a:t>
            </a:r>
            <a:r>
              <a:rPr lang="en-US" sz="8800" dirty="0"/>
              <a:t> The </a:t>
            </a:r>
            <a:r>
              <a:rPr lang="en-US" sz="8800" b="1" dirty="0"/>
              <a:t>Sale of Goods Law</a:t>
            </a:r>
            <a:r>
              <a:rPr lang="en-US" sz="8800" dirty="0"/>
              <a:t> governs transactions where goods are bought and sold for money. It sets out the rights and obligations of </a:t>
            </a:r>
            <a:r>
              <a:rPr lang="en-US" sz="8800" b="1" dirty="0"/>
              <a:t>buyers</a:t>
            </a:r>
            <a:r>
              <a:rPr lang="en-US" sz="8800" dirty="0"/>
              <a:t> and </a:t>
            </a:r>
            <a:r>
              <a:rPr lang="en-US" sz="8800" b="1" dirty="0"/>
              <a:t>sellers</a:t>
            </a:r>
            <a:r>
              <a:rPr lang="en-US" sz="8800" dirty="0"/>
              <a:t>.</a:t>
            </a:r>
          </a:p>
          <a:p>
            <a:pPr algn="just"/>
            <a:r>
              <a:rPr lang="en-US" sz="8800" dirty="0"/>
              <a:t>A </a:t>
            </a:r>
            <a:r>
              <a:rPr lang="en-US" sz="8800" b="1" dirty="0"/>
              <a:t>sale of goods</a:t>
            </a:r>
            <a:r>
              <a:rPr lang="en-US" sz="8800" dirty="0"/>
              <a:t> involves:</a:t>
            </a:r>
          </a:p>
          <a:p>
            <a:pPr algn="just"/>
            <a:r>
              <a:rPr lang="en-US" sz="8800" b="1" dirty="0"/>
              <a:t>Transfer of ownership (title)</a:t>
            </a:r>
            <a:r>
              <a:rPr lang="en-US" sz="8800" dirty="0"/>
              <a:t> of goods from seller to buyer.</a:t>
            </a:r>
          </a:p>
          <a:p>
            <a:pPr algn="just"/>
            <a:r>
              <a:rPr lang="en-US" sz="8800" b="1" dirty="0"/>
              <a:t>Payment of a price</a:t>
            </a:r>
            <a:r>
              <a:rPr lang="en-US" sz="8800" dirty="0"/>
              <a:t> in money by the buyer.</a:t>
            </a:r>
          </a:p>
          <a:p>
            <a:pPr algn="just"/>
            <a:r>
              <a:rPr lang="en-US" sz="8800" dirty="0"/>
              <a:t>Example: If Ali sells his car to Sara for $5,000, this is a sale of goods.</a:t>
            </a:r>
            <a:br>
              <a:rPr lang="en-US" sz="8800" dirty="0"/>
            </a:br>
            <a:endParaRPr lang="en-US" sz="8800" dirty="0"/>
          </a:p>
          <a:p>
            <a:pPr algn="just"/>
            <a:r>
              <a:rPr lang="en-US" sz="8800" b="1" dirty="0"/>
              <a:t>2. Key Elements of a Sale of Goods</a:t>
            </a:r>
          </a:p>
          <a:p>
            <a:pPr algn="just"/>
            <a:r>
              <a:rPr lang="en-US" sz="8800" dirty="0"/>
              <a:t>For a contract to be valid under Sale of Goods Law:</a:t>
            </a:r>
          </a:p>
          <a:p>
            <a:pPr algn="just"/>
            <a:r>
              <a:rPr lang="en-US" sz="8800" b="1" dirty="0"/>
              <a:t>Goods</a:t>
            </a:r>
            <a:r>
              <a:rPr lang="en-US" sz="8800" dirty="0"/>
              <a:t> – must be tangible (physical) things.</a:t>
            </a:r>
          </a:p>
          <a:p>
            <a:pPr lvl="1" algn="just"/>
            <a:r>
              <a:rPr lang="en-US" sz="8800" b="1" dirty="0"/>
              <a:t>Existing goods</a:t>
            </a:r>
            <a:r>
              <a:rPr lang="en-US" sz="8800" dirty="0"/>
              <a:t>: Already in existence (e.g., a phone in a store).</a:t>
            </a:r>
          </a:p>
          <a:p>
            <a:pPr lvl="1" algn="just"/>
            <a:r>
              <a:rPr lang="en-US" sz="8800" b="1" dirty="0"/>
              <a:t>Future goods</a:t>
            </a:r>
            <a:r>
              <a:rPr lang="en-US" sz="8800" dirty="0"/>
              <a:t>: To be manufactured or acquired later (e.g., a crop to be harvested next year).</a:t>
            </a:r>
          </a:p>
          <a:p>
            <a:pPr lvl="1" algn="just"/>
            <a:r>
              <a:rPr lang="en-US" sz="8800" b="1" dirty="0"/>
              <a:t>Contingent goods</a:t>
            </a:r>
            <a:r>
              <a:rPr lang="en-US" sz="8800" dirty="0"/>
              <a:t>: Depend on an uncertain event (e.g., goods to be delivered if a ship arrives).</a:t>
            </a:r>
          </a:p>
          <a:p>
            <a:pPr algn="just"/>
            <a:r>
              <a:rPr lang="en-US" sz="8800" b="1" dirty="0"/>
              <a:t>Price</a:t>
            </a:r>
            <a:r>
              <a:rPr lang="en-US" sz="8800" dirty="0"/>
              <a:t> – must be in money, not barter.</a:t>
            </a:r>
          </a:p>
          <a:p>
            <a:pPr algn="just"/>
            <a:r>
              <a:rPr lang="en-US" sz="8800" b="1" dirty="0"/>
              <a:t>Transfer of ownership</a:t>
            </a:r>
            <a:r>
              <a:rPr lang="en-US" sz="8800" dirty="0"/>
              <a:t> – must pass from seller to buyer.</a:t>
            </a:r>
          </a:p>
          <a:p>
            <a:pPr algn="just"/>
            <a:r>
              <a:rPr lang="en-US" sz="8800" b="1" dirty="0"/>
              <a:t>Consent</a:t>
            </a:r>
            <a:r>
              <a:rPr lang="en-US" sz="8800" dirty="0"/>
              <a:t> – both parties must agree freely to the sale.</a:t>
            </a:r>
          </a:p>
          <a:p>
            <a:pPr algn="just"/>
            <a:endParaRPr lang="en-US" dirty="0"/>
          </a:p>
        </p:txBody>
      </p:sp>
    </p:spTree>
    <p:extLst>
      <p:ext uri="{BB962C8B-B14F-4D97-AF65-F5344CB8AC3E}">
        <p14:creationId xmlns:p14="http://schemas.microsoft.com/office/powerpoint/2010/main" val="547391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048" y="321056"/>
            <a:ext cx="9720072" cy="786384"/>
          </a:xfrm>
        </p:spPr>
        <p:txBody>
          <a:bodyPr/>
          <a:lstStyle/>
          <a:p>
            <a:pPr algn="ctr"/>
            <a:r>
              <a:rPr dirty="0"/>
              <a:t>Consumer Protection Law</a:t>
            </a:r>
          </a:p>
        </p:txBody>
      </p:sp>
      <p:sp>
        <p:nvSpPr>
          <p:cNvPr id="3" name="Content Placeholder 2"/>
          <p:cNvSpPr>
            <a:spLocks noGrp="1"/>
          </p:cNvSpPr>
          <p:nvPr>
            <p:ph idx="1"/>
          </p:nvPr>
        </p:nvSpPr>
        <p:spPr>
          <a:xfrm>
            <a:off x="396240" y="1026160"/>
            <a:ext cx="11216640" cy="5313680"/>
          </a:xfrm>
        </p:spPr>
        <p:txBody>
          <a:bodyPr>
            <a:normAutofit fontScale="62500" lnSpcReduction="20000"/>
          </a:bodyPr>
          <a:lstStyle/>
          <a:p>
            <a:pPr algn="just"/>
            <a:r>
              <a:rPr sz="3600" dirty="0"/>
              <a:t>The Consumer Rights Protection Act, 2009 safeguards consumers against unfair trade practices.</a:t>
            </a:r>
          </a:p>
          <a:p>
            <a:pPr algn="just"/>
            <a:r>
              <a:rPr sz="3600" dirty="0"/>
              <a:t>The Directorate of National Consumer Rights Protection enforces the law.</a:t>
            </a:r>
            <a:endParaRPr lang="en-US" sz="3600" dirty="0"/>
          </a:p>
          <a:p>
            <a:pPr algn="just"/>
            <a:r>
              <a:rPr lang="en-US" sz="3600" b="1" dirty="0"/>
              <a:t>Consumer Protection Law</a:t>
            </a:r>
            <a:r>
              <a:rPr lang="en-US" sz="3600" dirty="0"/>
              <a:t> is designed to </a:t>
            </a:r>
            <a:r>
              <a:rPr lang="en-US" sz="3600" b="1" dirty="0"/>
              <a:t>safeguard the interests of consumers</a:t>
            </a:r>
            <a:r>
              <a:rPr lang="en-US" sz="3600" dirty="0"/>
              <a:t> against unfair trade practices, defective goods, and deficient services.</a:t>
            </a:r>
          </a:p>
          <a:p>
            <a:pPr algn="just"/>
            <a:r>
              <a:rPr lang="en-US" sz="3600" dirty="0"/>
              <a:t>A </a:t>
            </a:r>
            <a:r>
              <a:rPr lang="en-US" sz="3600" b="1" dirty="0"/>
              <a:t>consumer</a:t>
            </a:r>
            <a:r>
              <a:rPr lang="en-US" sz="3600" dirty="0"/>
              <a:t> is a person who:</a:t>
            </a:r>
          </a:p>
          <a:p>
            <a:pPr algn="just"/>
            <a:r>
              <a:rPr lang="en-US" sz="3600" dirty="0"/>
              <a:t>Buys goods or services for personal use (not for resale or commercial purposes).</a:t>
            </a:r>
          </a:p>
          <a:p>
            <a:pPr algn="just"/>
            <a:r>
              <a:rPr lang="en-US" sz="3600" dirty="0"/>
              <a:t>Pays for them in money or other consideration.</a:t>
            </a:r>
          </a:p>
          <a:p>
            <a:pPr algn="just"/>
            <a:r>
              <a:rPr lang="en-US" sz="3600" dirty="0"/>
              <a:t>Example: If Rahim buys a washing machine for home use, he is a consumer.</a:t>
            </a:r>
          </a:p>
          <a:p>
            <a:pPr algn="just"/>
            <a:r>
              <a:rPr lang="en-US" sz="3600" b="1" dirty="0"/>
              <a:t>2. Objectives</a:t>
            </a:r>
          </a:p>
          <a:p>
            <a:pPr algn="just"/>
            <a:r>
              <a:rPr lang="en-US" sz="3600" dirty="0"/>
              <a:t>The main objectives of Consumer Protection Law are:</a:t>
            </a:r>
          </a:p>
          <a:p>
            <a:pPr algn="just"/>
            <a:r>
              <a:rPr lang="en-US" sz="3600" b="1" dirty="0"/>
              <a:t>Protect consumers</a:t>
            </a:r>
            <a:r>
              <a:rPr lang="en-US" sz="3600" dirty="0"/>
              <a:t> from exploitation and unsafe products.</a:t>
            </a:r>
          </a:p>
          <a:p>
            <a:pPr algn="just"/>
            <a:r>
              <a:rPr lang="en-US" sz="3600" b="1" dirty="0"/>
              <a:t>Ensure access to information</a:t>
            </a:r>
            <a:r>
              <a:rPr lang="en-US" sz="3600" dirty="0"/>
              <a:t> about goods and services.</a:t>
            </a:r>
          </a:p>
          <a:p>
            <a:pPr algn="just"/>
            <a:r>
              <a:rPr lang="en-US" sz="3600" b="1" dirty="0"/>
              <a:t>Provide legal remedies</a:t>
            </a:r>
            <a:r>
              <a:rPr lang="en-US" sz="3600" dirty="0"/>
              <a:t> for grievances.</a:t>
            </a:r>
          </a:p>
          <a:p>
            <a:endParaRPr dirty="0"/>
          </a:p>
        </p:txBody>
      </p:sp>
    </p:spTree>
    <p:extLst>
      <p:ext uri="{BB962C8B-B14F-4D97-AF65-F5344CB8AC3E}">
        <p14:creationId xmlns:p14="http://schemas.microsoft.com/office/powerpoint/2010/main" val="3350384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3489" y="201168"/>
            <a:ext cx="9720072" cy="633984"/>
          </a:xfrm>
        </p:spPr>
        <p:txBody>
          <a:bodyPr>
            <a:normAutofit/>
          </a:bodyPr>
          <a:lstStyle/>
          <a:p>
            <a:pPr algn="ctr"/>
            <a:r>
              <a:rPr sz="4000" dirty="0"/>
              <a:t>Role of Business Law in Bangladesh</a:t>
            </a:r>
          </a:p>
        </p:txBody>
      </p:sp>
      <p:sp>
        <p:nvSpPr>
          <p:cNvPr id="3" name="Content Placeholder 2"/>
          <p:cNvSpPr>
            <a:spLocks noGrp="1"/>
          </p:cNvSpPr>
          <p:nvPr>
            <p:ph idx="1"/>
          </p:nvPr>
        </p:nvSpPr>
        <p:spPr>
          <a:xfrm>
            <a:off x="558800" y="816864"/>
            <a:ext cx="11196320" cy="5821680"/>
          </a:xfrm>
        </p:spPr>
        <p:txBody>
          <a:bodyPr>
            <a:normAutofit fontScale="85000" lnSpcReduction="20000"/>
          </a:bodyPr>
          <a:lstStyle/>
          <a:p>
            <a:pPr algn="just">
              <a:lnSpc>
                <a:spcPct val="120000"/>
              </a:lnSpc>
              <a:spcBef>
                <a:spcPts val="0"/>
              </a:spcBef>
              <a:spcAft>
                <a:spcPts val="0"/>
              </a:spcAft>
              <a:buFont typeface="Wingdings" panose="05000000000000000000" pitchFamily="2" charset="2"/>
              <a:buChar char="q"/>
            </a:pPr>
            <a:r>
              <a:rPr lang="en-US" sz="2400" b="1" dirty="0"/>
              <a:t>Provides Legal Framework</a:t>
            </a:r>
          </a:p>
          <a:p>
            <a:pPr marL="0" indent="0" algn="just">
              <a:lnSpc>
                <a:spcPct val="120000"/>
              </a:lnSpc>
              <a:spcBef>
                <a:spcPts val="0"/>
              </a:spcBef>
              <a:spcAft>
                <a:spcPts val="0"/>
              </a:spcAft>
              <a:buNone/>
            </a:pPr>
            <a:r>
              <a:rPr lang="en-US" sz="2400" dirty="0"/>
              <a:t>Business law sets clear rules for starting and running a business.</a:t>
            </a:r>
          </a:p>
          <a:p>
            <a:pPr marL="0" indent="0" algn="just">
              <a:lnSpc>
                <a:spcPct val="120000"/>
              </a:lnSpc>
              <a:spcBef>
                <a:spcPts val="0"/>
              </a:spcBef>
              <a:spcAft>
                <a:spcPts val="0"/>
              </a:spcAft>
              <a:buNone/>
            </a:pPr>
            <a:r>
              <a:rPr lang="en-US" sz="2400" dirty="0"/>
              <a:t>It ensures that business activities follow national laws and regulations.</a:t>
            </a:r>
          </a:p>
          <a:p>
            <a:pPr algn="just">
              <a:lnSpc>
                <a:spcPct val="120000"/>
              </a:lnSpc>
              <a:spcBef>
                <a:spcPts val="0"/>
              </a:spcBef>
              <a:spcAft>
                <a:spcPts val="0"/>
              </a:spcAft>
              <a:buFont typeface="Wingdings" panose="05000000000000000000" pitchFamily="2" charset="2"/>
              <a:buChar char="q"/>
            </a:pPr>
            <a:r>
              <a:rPr lang="en-US" sz="2400" b="1" dirty="0"/>
              <a:t>Protects Rights of Stakeholders</a:t>
            </a:r>
          </a:p>
          <a:p>
            <a:pPr marL="0" indent="0" algn="just">
              <a:lnSpc>
                <a:spcPct val="120000"/>
              </a:lnSpc>
              <a:spcBef>
                <a:spcPts val="0"/>
              </a:spcBef>
              <a:spcAft>
                <a:spcPts val="0"/>
              </a:spcAft>
              <a:buNone/>
            </a:pPr>
            <a:r>
              <a:rPr lang="en-US" sz="2400" dirty="0"/>
              <a:t>Protects owners, employees, consumers, and investors.</a:t>
            </a:r>
          </a:p>
          <a:p>
            <a:pPr marL="0" indent="0" algn="just">
              <a:lnSpc>
                <a:spcPct val="120000"/>
              </a:lnSpc>
              <a:spcBef>
                <a:spcPts val="0"/>
              </a:spcBef>
              <a:spcAft>
                <a:spcPts val="0"/>
              </a:spcAft>
              <a:buNone/>
            </a:pPr>
            <a:r>
              <a:rPr lang="en-US" sz="2400" dirty="0"/>
              <a:t>Provides legal remedies if rights are violated.</a:t>
            </a:r>
          </a:p>
          <a:p>
            <a:pPr algn="just">
              <a:lnSpc>
                <a:spcPct val="120000"/>
              </a:lnSpc>
              <a:spcBef>
                <a:spcPts val="0"/>
              </a:spcBef>
              <a:spcAft>
                <a:spcPts val="0"/>
              </a:spcAft>
              <a:buFont typeface="Wingdings" panose="05000000000000000000" pitchFamily="2" charset="2"/>
              <a:buChar char="q"/>
            </a:pPr>
            <a:r>
              <a:rPr lang="en-US" sz="2400" b="1" dirty="0"/>
              <a:t>Facilitates Fair Trade</a:t>
            </a:r>
          </a:p>
          <a:p>
            <a:pPr marL="0" indent="0" algn="just">
              <a:lnSpc>
                <a:spcPct val="120000"/>
              </a:lnSpc>
              <a:spcBef>
                <a:spcPts val="0"/>
              </a:spcBef>
              <a:spcAft>
                <a:spcPts val="0"/>
              </a:spcAft>
              <a:buNone/>
            </a:pPr>
            <a:r>
              <a:rPr lang="en-US" sz="2400" dirty="0"/>
              <a:t>Prevents unfair practices like fraud, monopolies, and exploitation.</a:t>
            </a:r>
          </a:p>
          <a:p>
            <a:pPr marL="0" indent="0" algn="just">
              <a:lnSpc>
                <a:spcPct val="120000"/>
              </a:lnSpc>
              <a:spcBef>
                <a:spcPts val="0"/>
              </a:spcBef>
              <a:spcAft>
                <a:spcPts val="0"/>
              </a:spcAft>
              <a:buNone/>
            </a:pPr>
            <a:r>
              <a:rPr lang="en-US" sz="2400" dirty="0"/>
              <a:t>Promotes competition and transparency in business.</a:t>
            </a:r>
          </a:p>
          <a:p>
            <a:pPr algn="just">
              <a:lnSpc>
                <a:spcPct val="120000"/>
              </a:lnSpc>
              <a:spcBef>
                <a:spcPts val="0"/>
              </a:spcBef>
              <a:spcAft>
                <a:spcPts val="0"/>
              </a:spcAft>
              <a:buFont typeface="Wingdings" panose="05000000000000000000" pitchFamily="2" charset="2"/>
              <a:buChar char="q"/>
            </a:pPr>
            <a:r>
              <a:rPr lang="en-US" sz="2400" b="1" dirty="0"/>
              <a:t>Resolves Disputes</a:t>
            </a:r>
          </a:p>
          <a:p>
            <a:pPr marL="0" indent="0" algn="just">
              <a:lnSpc>
                <a:spcPct val="120000"/>
              </a:lnSpc>
              <a:spcBef>
                <a:spcPts val="0"/>
              </a:spcBef>
              <a:spcAft>
                <a:spcPts val="0"/>
              </a:spcAft>
              <a:buNone/>
            </a:pPr>
            <a:r>
              <a:rPr lang="en-US" sz="2400" dirty="0"/>
              <a:t>Business law provides mechanisms for dispute resolution through courts, arbitration, or tribunals.</a:t>
            </a:r>
          </a:p>
          <a:p>
            <a:pPr marL="0" indent="0" algn="just">
              <a:lnSpc>
                <a:spcPct val="120000"/>
              </a:lnSpc>
              <a:spcBef>
                <a:spcPts val="0"/>
              </a:spcBef>
              <a:spcAft>
                <a:spcPts val="0"/>
              </a:spcAft>
              <a:buNone/>
            </a:pPr>
            <a:r>
              <a:rPr lang="en-US" sz="2400" dirty="0"/>
              <a:t>Reduces conflicts between buyers, sellers, employees, and companies.</a:t>
            </a:r>
          </a:p>
          <a:p>
            <a:pPr algn="just">
              <a:lnSpc>
                <a:spcPct val="120000"/>
              </a:lnSpc>
              <a:spcBef>
                <a:spcPts val="0"/>
              </a:spcBef>
              <a:spcAft>
                <a:spcPts val="0"/>
              </a:spcAft>
              <a:buFont typeface="Wingdings" panose="05000000000000000000" pitchFamily="2" charset="2"/>
              <a:buChar char="q"/>
            </a:pPr>
            <a:r>
              <a:rPr lang="en-US" sz="2400" b="1" dirty="0"/>
              <a:t>Encourages Investment</a:t>
            </a:r>
          </a:p>
          <a:p>
            <a:pPr marL="0" indent="0" algn="just">
              <a:lnSpc>
                <a:spcPct val="120000"/>
              </a:lnSpc>
              <a:spcBef>
                <a:spcPts val="0"/>
              </a:spcBef>
              <a:spcAft>
                <a:spcPts val="0"/>
              </a:spcAft>
              <a:buNone/>
            </a:pPr>
            <a:r>
              <a:rPr lang="en-US" sz="2400" dirty="0"/>
              <a:t>Investors are more willing to invest in a country with strong legal protections.</a:t>
            </a:r>
          </a:p>
          <a:p>
            <a:pPr marL="0" indent="0" algn="just">
              <a:lnSpc>
                <a:spcPct val="120000"/>
              </a:lnSpc>
              <a:spcBef>
                <a:spcPts val="0"/>
              </a:spcBef>
              <a:spcAft>
                <a:spcPts val="0"/>
              </a:spcAft>
              <a:buNone/>
            </a:pPr>
            <a:r>
              <a:rPr lang="en-US" sz="2400" dirty="0"/>
              <a:t>Provides security regarding property rights, contracts, and company operations.</a:t>
            </a:r>
          </a:p>
          <a:p>
            <a:pPr algn="just">
              <a:lnSpc>
                <a:spcPct val="120000"/>
              </a:lnSpc>
              <a:spcBef>
                <a:spcPts val="0"/>
              </a:spcBef>
              <a:spcAft>
                <a:spcPts val="0"/>
              </a:spcAft>
              <a:buFont typeface="Wingdings" panose="05000000000000000000" pitchFamily="2" charset="2"/>
              <a:buChar char="q"/>
            </a:pPr>
            <a:r>
              <a:rPr lang="en-US" sz="2400" b="1" dirty="0"/>
              <a:t>Regulates Business Ethics and Accountability</a:t>
            </a:r>
          </a:p>
          <a:p>
            <a:pPr marL="0" indent="0" algn="just">
              <a:lnSpc>
                <a:spcPct val="120000"/>
              </a:lnSpc>
              <a:spcBef>
                <a:spcPts val="0"/>
              </a:spcBef>
              <a:spcAft>
                <a:spcPts val="0"/>
              </a:spcAft>
              <a:buNone/>
            </a:pPr>
            <a:r>
              <a:rPr lang="en-US" sz="2400" dirty="0"/>
              <a:t>Ensures businesses operate ethically and meet regulatory standards.</a:t>
            </a:r>
          </a:p>
          <a:p>
            <a:pPr marL="0" indent="0" algn="just">
              <a:lnSpc>
                <a:spcPct val="120000"/>
              </a:lnSpc>
              <a:spcBef>
                <a:spcPts val="0"/>
              </a:spcBef>
              <a:spcAft>
                <a:spcPts val="0"/>
              </a:spcAft>
              <a:buNone/>
            </a:pPr>
            <a:r>
              <a:rPr lang="en-US" sz="2400" dirty="0"/>
              <a:t>Includes laws for taxation, environmental compliance, and labor standards.</a:t>
            </a:r>
          </a:p>
        </p:txBody>
      </p:sp>
    </p:spTree>
    <p:extLst>
      <p:ext uri="{BB962C8B-B14F-4D97-AF65-F5344CB8AC3E}">
        <p14:creationId xmlns:p14="http://schemas.microsoft.com/office/powerpoint/2010/main" val="37473272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599</TotalTime>
  <Words>1991</Words>
  <Application>Microsoft Office PowerPoint</Application>
  <PresentationFormat>Widescreen</PresentationFormat>
  <Paragraphs>189</Paragraphs>
  <Slides>18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Symbol</vt:lpstr>
      <vt:lpstr>Times New Roman</vt:lpstr>
      <vt:lpstr>Tw Cen MT</vt:lpstr>
      <vt:lpstr>Tw Cen MT Condensed</vt:lpstr>
      <vt:lpstr>Wingdings</vt:lpstr>
      <vt:lpstr>Wingdings 3</vt:lpstr>
      <vt:lpstr>Integral</vt:lpstr>
      <vt:lpstr>Introduction to Business Law</vt:lpstr>
      <vt:lpstr>Introduction…</vt:lpstr>
      <vt:lpstr>Meaning of Business Law</vt:lpstr>
      <vt:lpstr>Objectives of Business Law</vt:lpstr>
      <vt:lpstr>Sources of Business Law in Bangladesh</vt:lpstr>
      <vt:lpstr>Major Business Laws in Bangladesh</vt:lpstr>
      <vt:lpstr>Law of Contract</vt:lpstr>
      <vt:lpstr>Continues…</vt:lpstr>
      <vt:lpstr>Law of Contract Continues….</vt:lpstr>
      <vt:lpstr>Essentials Elements of a Valid Contract</vt:lpstr>
      <vt:lpstr> </vt:lpstr>
      <vt:lpstr>Types of Contracts under Bangladeshi Law</vt:lpstr>
      <vt:lpstr>PowerPoint Presentation</vt:lpstr>
      <vt:lpstr>Schools of Legal Thought</vt:lpstr>
      <vt:lpstr>Company Law in Bangladesh</vt:lpstr>
      <vt:lpstr>Sale of Goods Law</vt:lpstr>
      <vt:lpstr>Consumer Protection Law</vt:lpstr>
      <vt:lpstr>Role of Business Law in Bangladesh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Naznin Akther</cp:lastModifiedBy>
  <cp:revision>23</cp:revision>
  <dcterms:created xsi:type="dcterms:W3CDTF">2021-08-23T05:31:05Z</dcterms:created>
  <dcterms:modified xsi:type="dcterms:W3CDTF">2026-02-09T05:04:53Z</dcterms:modified>
</cp:coreProperties>
</file>