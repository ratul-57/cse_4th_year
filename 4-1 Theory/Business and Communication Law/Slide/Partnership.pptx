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0" r:id="rId3"/>
    <p:sldId id="294" r:id="rId4"/>
    <p:sldId id="265" r:id="rId5"/>
    <p:sldId id="266" r:id="rId6"/>
    <p:sldId id="267" r:id="rId7"/>
    <p:sldId id="268" r:id="rId8"/>
    <p:sldId id="295" r:id="rId9"/>
    <p:sldId id="269" r:id="rId10"/>
    <p:sldId id="271" r:id="rId11"/>
    <p:sldId id="272" r:id="rId12"/>
    <p:sldId id="277" r:id="rId13"/>
    <p:sldId id="284" r:id="rId14"/>
    <p:sldId id="285" r:id="rId15"/>
    <p:sldId id="287" r:id="rId16"/>
    <p:sldId id="291" r:id="rId17"/>
    <p:sldId id="28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4CDA377-E4B1-48A4-B1C3-6F19EEC824B7}"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90CE32-4D80-41FF-918F-4CA0980EAF50}" type="slidenum">
              <a:rPr lang="en-US" smtClean="0"/>
              <a:t>‹#›</a:t>
            </a:fld>
            <a:endParaRPr lang="en-US"/>
          </a:p>
        </p:txBody>
      </p:sp>
    </p:spTree>
    <p:extLst>
      <p:ext uri="{BB962C8B-B14F-4D97-AF65-F5344CB8AC3E}">
        <p14:creationId xmlns:p14="http://schemas.microsoft.com/office/powerpoint/2010/main" val="3530401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CDA377-E4B1-48A4-B1C3-6F19EEC824B7}"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90CE32-4D80-41FF-918F-4CA0980EAF50}" type="slidenum">
              <a:rPr lang="en-US" smtClean="0"/>
              <a:t>‹#›</a:t>
            </a:fld>
            <a:endParaRPr lang="en-US"/>
          </a:p>
        </p:txBody>
      </p:sp>
    </p:spTree>
    <p:extLst>
      <p:ext uri="{BB962C8B-B14F-4D97-AF65-F5344CB8AC3E}">
        <p14:creationId xmlns:p14="http://schemas.microsoft.com/office/powerpoint/2010/main" val="2438232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CDA377-E4B1-48A4-B1C3-6F19EEC824B7}"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90CE32-4D80-41FF-918F-4CA0980EAF50}" type="slidenum">
              <a:rPr lang="en-US" smtClean="0"/>
              <a:t>‹#›</a:t>
            </a:fld>
            <a:endParaRPr lang="en-US"/>
          </a:p>
        </p:txBody>
      </p:sp>
    </p:spTree>
    <p:extLst>
      <p:ext uri="{BB962C8B-B14F-4D97-AF65-F5344CB8AC3E}">
        <p14:creationId xmlns:p14="http://schemas.microsoft.com/office/powerpoint/2010/main" val="3374013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CDA377-E4B1-48A4-B1C3-6F19EEC824B7}"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90CE32-4D80-41FF-918F-4CA0980EAF50}" type="slidenum">
              <a:rPr lang="en-US" smtClean="0"/>
              <a:t>‹#›</a:t>
            </a:fld>
            <a:endParaRPr lang="en-US"/>
          </a:p>
        </p:txBody>
      </p:sp>
    </p:spTree>
    <p:extLst>
      <p:ext uri="{BB962C8B-B14F-4D97-AF65-F5344CB8AC3E}">
        <p14:creationId xmlns:p14="http://schemas.microsoft.com/office/powerpoint/2010/main" val="3814637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CDA377-E4B1-48A4-B1C3-6F19EEC824B7}" type="datetimeFigureOut">
              <a:rPr lang="en-US" smtClean="0"/>
              <a:t>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90CE32-4D80-41FF-918F-4CA0980EAF50}" type="slidenum">
              <a:rPr lang="en-US" smtClean="0"/>
              <a:t>‹#›</a:t>
            </a:fld>
            <a:endParaRPr lang="en-US"/>
          </a:p>
        </p:txBody>
      </p:sp>
    </p:spTree>
    <p:extLst>
      <p:ext uri="{BB962C8B-B14F-4D97-AF65-F5344CB8AC3E}">
        <p14:creationId xmlns:p14="http://schemas.microsoft.com/office/powerpoint/2010/main" val="808650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CDA377-E4B1-48A4-B1C3-6F19EEC824B7}" type="datetimeFigureOut">
              <a:rPr lang="en-US" smtClean="0"/>
              <a:t>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90CE32-4D80-41FF-918F-4CA0980EAF50}" type="slidenum">
              <a:rPr lang="en-US" smtClean="0"/>
              <a:t>‹#›</a:t>
            </a:fld>
            <a:endParaRPr lang="en-US"/>
          </a:p>
        </p:txBody>
      </p:sp>
    </p:spTree>
    <p:extLst>
      <p:ext uri="{BB962C8B-B14F-4D97-AF65-F5344CB8AC3E}">
        <p14:creationId xmlns:p14="http://schemas.microsoft.com/office/powerpoint/2010/main" val="2240194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CDA377-E4B1-48A4-B1C3-6F19EEC824B7}" type="datetimeFigureOut">
              <a:rPr lang="en-US" smtClean="0"/>
              <a:t>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90CE32-4D80-41FF-918F-4CA0980EAF50}" type="slidenum">
              <a:rPr lang="en-US" smtClean="0"/>
              <a:t>‹#›</a:t>
            </a:fld>
            <a:endParaRPr lang="en-US"/>
          </a:p>
        </p:txBody>
      </p:sp>
    </p:spTree>
    <p:extLst>
      <p:ext uri="{BB962C8B-B14F-4D97-AF65-F5344CB8AC3E}">
        <p14:creationId xmlns:p14="http://schemas.microsoft.com/office/powerpoint/2010/main" val="3741353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CDA377-E4B1-48A4-B1C3-6F19EEC824B7}"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90CE32-4D80-41FF-918F-4CA0980EAF50}" type="slidenum">
              <a:rPr lang="en-US" smtClean="0"/>
              <a:t>‹#›</a:t>
            </a:fld>
            <a:endParaRPr lang="en-US"/>
          </a:p>
        </p:txBody>
      </p:sp>
    </p:spTree>
    <p:extLst>
      <p:ext uri="{BB962C8B-B14F-4D97-AF65-F5344CB8AC3E}">
        <p14:creationId xmlns:p14="http://schemas.microsoft.com/office/powerpoint/2010/main" val="3823738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CDA377-E4B1-48A4-B1C3-6F19EEC824B7}"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90CE32-4D80-41FF-918F-4CA0980EAF50}" type="slidenum">
              <a:rPr lang="en-US" smtClean="0"/>
              <a:t>‹#›</a:t>
            </a:fld>
            <a:endParaRPr lang="en-US"/>
          </a:p>
        </p:txBody>
      </p:sp>
    </p:spTree>
    <p:extLst>
      <p:ext uri="{BB962C8B-B14F-4D97-AF65-F5344CB8AC3E}">
        <p14:creationId xmlns:p14="http://schemas.microsoft.com/office/powerpoint/2010/main" val="2570833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CDA377-E4B1-48A4-B1C3-6F19EEC824B7}"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90CE32-4D80-41FF-918F-4CA0980EAF50}" type="slidenum">
              <a:rPr lang="en-US" smtClean="0"/>
              <a:t>‹#›</a:t>
            </a:fld>
            <a:endParaRPr lang="en-US"/>
          </a:p>
        </p:txBody>
      </p:sp>
    </p:spTree>
    <p:extLst>
      <p:ext uri="{BB962C8B-B14F-4D97-AF65-F5344CB8AC3E}">
        <p14:creationId xmlns:p14="http://schemas.microsoft.com/office/powerpoint/2010/main" val="192188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CDA377-E4B1-48A4-B1C3-6F19EEC824B7}"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90CE32-4D80-41FF-918F-4CA0980EAF50}" type="slidenum">
              <a:rPr lang="en-US" smtClean="0"/>
              <a:t>‹#›</a:t>
            </a:fld>
            <a:endParaRPr lang="en-US"/>
          </a:p>
        </p:txBody>
      </p:sp>
    </p:spTree>
    <p:extLst>
      <p:ext uri="{BB962C8B-B14F-4D97-AF65-F5344CB8AC3E}">
        <p14:creationId xmlns:p14="http://schemas.microsoft.com/office/powerpoint/2010/main" val="2094495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CDA377-E4B1-48A4-B1C3-6F19EEC824B7}" type="datetimeFigureOut">
              <a:rPr lang="en-US" smtClean="0"/>
              <a:t>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90CE32-4D80-41FF-918F-4CA0980EAF50}" type="slidenum">
              <a:rPr lang="en-US" smtClean="0"/>
              <a:t>‹#›</a:t>
            </a:fld>
            <a:endParaRPr lang="en-US"/>
          </a:p>
        </p:txBody>
      </p:sp>
    </p:spTree>
    <p:extLst>
      <p:ext uri="{BB962C8B-B14F-4D97-AF65-F5344CB8AC3E}">
        <p14:creationId xmlns:p14="http://schemas.microsoft.com/office/powerpoint/2010/main" val="33912527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hyperlink" Target="https://www.google.com/search?q=Capital+Contribution&amp;sca_esv=ebc5d8cf5f3ae0dd&amp;sxsrf=ANbL-n4ist-9WBHyrdmEtUlhxOYnZBICkA%3A1770609295591&amp;source=hp&amp;ei=j1qJacCRIeGc4-EP-pa-gQ8&amp;iflsig=AFdpzrgAAAAAaYlon47Jk4M7B4KL0Z_24NPoM2b6nqi-&amp;ved=2ahUKEwi7xb7SwcuSAxUZyTgGHebyKqYQgK4QegYIAAgBEAc&amp;uact=5&amp;oq=Elements+of+Partnership&amp;gs_lp=Egdnd3Mtd2l6IhdFbGVtZW50cyBvZiBQYXJ0bmVyc2hpcDIFEAAYgAQyBRAAGIAEMgUQABiABDIFEAAYgAQyBRAAGIAEMgUQABiABDIFEAAYgAQyBRAAGIAEMgUQABiABDIGEAAYFhgeSKwOUJQDWJQDcAF4AJABAJgBaKABaKoBAzAuMbgBA8gBAPgBAvgBAZgCAqACc6gCCsICBxAjGCcY6gLCAg0QIxiABBgnGIoFGOoCmAMH8QX-2HUXrPasa5IHAzEuMaAHjgayBwMwLjG4B2vCBwUwLjEuMcgHCIAIAA&amp;sclient=gws-wiz" TargetMode="External"/><Relationship Id="rId3" Type="http://schemas.openxmlformats.org/officeDocument/2006/relationships/hyperlink" Target="https://www.google.com/search?q=Two+or+More+Persons&amp;sca_esv=ebc5d8cf5f3ae0dd&amp;sxsrf=ANbL-n4ist-9WBHyrdmEtUlhxOYnZBICkA%3A1770609295591&amp;source=hp&amp;ei=j1qJacCRIeGc4-EP-pa-gQ8&amp;iflsig=AFdpzrgAAAAAaYlon47Jk4M7B4KL0Z_24NPoM2b6nqi-&amp;ved=2ahUKEwi7xb7SwcuSAxUZyTgGHebyKqYQgK4QegYIAAgAEAo&amp;uact=5&amp;oq=Elements+of+Partnership&amp;gs_lp=Egdnd3Mtd2l6IhdFbGVtZW50cyBvZiBQYXJ0bmVyc2hpcDIFEAAYgAQyBRAAGIAEMgUQABiABDIFEAAYgAQyBRAAGIAEMgUQABiABDIFEAAYgAQyBRAAGIAEMgUQABiABDIGEAAYFhgeSKwOUJQDWJQDcAF4AJABAJgBaKABaKoBAzAuMbgBA8gBAPgBAvgBAZgCAqACc6gCCsICBxAjGCcY6gLCAg0QIxiABBgnGIoFGOoCmAMH8QX-2HUXrPasa5IHAzEuMaAHjgayBwMwLjG4B2vCBwUwLjEuMcgHCIAIAA&amp;sclient=gws-wiz" TargetMode="External"/><Relationship Id="rId7" Type="http://schemas.openxmlformats.org/officeDocument/2006/relationships/hyperlink" Target="https://www.google.com/search?q=Unlimited+Liability&amp;sca_esv=ebc5d8cf5f3ae0dd&amp;sxsrf=ANbL-n4ist-9WBHyrdmEtUlhxOYnZBICkA%3A1770609295591&amp;source=hp&amp;ei=j1qJacCRIeGc4-EP-pa-gQ8&amp;iflsig=AFdpzrgAAAAAaYlon47Jk4M7B4KL0Z_24NPoM2b6nqi-&amp;ved=2ahUKEwi7xb7SwcuSAxUZyTgGHebyKqYQgK4QegYIAAgBEAU&amp;uact=5&amp;oq=Elements+of+Partnership&amp;gs_lp=Egdnd3Mtd2l6IhdFbGVtZW50cyBvZiBQYXJ0bmVyc2hpcDIFEAAYgAQyBRAAGIAEMgUQABiABDIFEAAYgAQyBRAAGIAEMgUQABiABDIFEAAYgAQyBRAAGIAEMgUQABiABDIGEAAYFhgeSKwOUJQDWJQDcAF4AJABAJgBaKABaKoBAzAuMbgBA8gBAPgBAvgBAZgCAqACc6gCCsICBxAjGCcY6gLCAg0QIxiABBgnGIoFGOoCmAMH8QX-2HUXrPasa5IHAzEuMaAHjgayBwMwLjG4B2vCBwUwLjEuMcgHCIAIAA&amp;sclient=gws-wiz" TargetMode="External"/><Relationship Id="rId2" Type="http://schemas.openxmlformats.org/officeDocument/2006/relationships/hyperlink" Target="https://www.google.com/search?q=Agreement&amp;sca_esv=ebc5d8cf5f3ae0dd&amp;sxsrf=ANbL-n4ist-9WBHyrdmEtUlhxOYnZBICkA%3A1770609295591&amp;source=hp&amp;ei=j1qJacCRIeGc4-EP-pa-gQ8&amp;iflsig=AFdpzrgAAAAAaYlon47Jk4M7B4KL0Z_24NPoM2b6nqi-&amp;ved=2ahUKEwi7xb7SwcuSAxUZyTgGHebyKqYQgK4QegYIAAgAEAg&amp;uact=5&amp;oq=Elements+of+Partnership&amp;gs_lp=Egdnd3Mtd2l6IhdFbGVtZW50cyBvZiBQYXJ0bmVyc2hpcDIFEAAYgAQyBRAAGIAEMgUQABiABDIFEAAYgAQyBRAAGIAEMgUQABiABDIFEAAYgAQyBRAAGIAEMgUQABiABDIGEAAYFhgeSKwOUJQDWJQDcAF4AJABAJgBaKABaKoBAzAuMbgBA8gBAPgBAvgBAZgCAqACc6gCCsICBxAjGCcY6gLCAg0QIxiABBgnGIoFGOoCmAMH8QX-2HUXrPasa5IHAzEuMaAHjgayBwMwLjG4B2vCBwUwLjEuMcgHCIAIAA&amp;sclient=gws-wiz" TargetMode="External"/><Relationship Id="rId1" Type="http://schemas.openxmlformats.org/officeDocument/2006/relationships/slideLayout" Target="../slideLayouts/slideLayout2.xml"/><Relationship Id="rId6" Type="http://schemas.openxmlformats.org/officeDocument/2006/relationships/hyperlink" Target="https://www.google.com/search?q=Mutual+Agency&amp;sca_esv=ebc5d8cf5f3ae0dd&amp;sxsrf=ANbL-n4ist-9WBHyrdmEtUlhxOYnZBICkA%3A1770609295591&amp;source=hp&amp;ei=j1qJacCRIeGc4-EP-pa-gQ8&amp;iflsig=AFdpzrgAAAAAaYlon47Jk4M7B4KL0Z_24NPoM2b6nqi-&amp;ved=2ahUKEwi7xb7SwcuSAxUZyTgGHebyKqYQgK4QegYIAAgBEAM&amp;uact=5&amp;oq=Elements+of+Partnership&amp;gs_lp=Egdnd3Mtd2l6IhdFbGVtZW50cyBvZiBQYXJ0bmVyc2hpcDIFEAAYgAQyBRAAGIAEMgUQABiABDIFEAAYgAQyBRAAGIAEMgUQABiABDIFEAAYgAQyBRAAGIAEMgUQABiABDIGEAAYFhgeSKwOUJQDWJQDcAF4AJABAJgBaKABaKoBAzAuMbgBA8gBAPgBAvgBAZgCAqACc6gCCsICBxAjGCcY6gLCAg0QIxiABBgnGIoFGOoCmAMH8QX-2HUXrPasa5IHAzEuMaAHjgayBwMwLjG4B2vCBwUwLjEuMcgHCIAIAA&amp;sclient=gws-wiz" TargetMode="External"/><Relationship Id="rId5" Type="http://schemas.openxmlformats.org/officeDocument/2006/relationships/hyperlink" Target="https://www.google.com/search?q=Profit+Sharing&amp;sca_esv=ebc5d8cf5f3ae0dd&amp;sxsrf=ANbL-n4ist-9WBHyrdmEtUlhxOYnZBICkA%3A1770609295591&amp;source=hp&amp;ei=j1qJacCRIeGc4-EP-pa-gQ8&amp;iflsig=AFdpzrgAAAAAaYlon47Jk4M7B4KL0Z_24NPoM2b6nqi-&amp;ved=2ahUKEwi7xb7SwcuSAxUZyTgGHebyKqYQgK4QegYIAAgBEAE&amp;uact=5&amp;oq=Elements+of+Partnership&amp;gs_lp=Egdnd3Mtd2l6IhdFbGVtZW50cyBvZiBQYXJ0bmVyc2hpcDIFEAAYgAQyBRAAGIAEMgUQABiABDIFEAAYgAQyBRAAGIAEMgUQABiABDIFEAAYgAQyBRAAGIAEMgUQABiABDIGEAAYFhgeSKwOUJQDWJQDcAF4AJABAJgBaKABaKoBAzAuMbgBA8gBAPgBAvgBAZgCAqACc6gCCsICBxAjGCcY6gLCAg0QIxiABBgnGIoFGOoCmAMH8QX-2HUXrPasa5IHAzEuMaAHjgayBwMwLjG4B2vCBwUwLjEuMcgHCIAIAA&amp;sclient=gws-wiz" TargetMode="External"/><Relationship Id="rId4" Type="http://schemas.openxmlformats.org/officeDocument/2006/relationships/hyperlink" Target="https://www.google.com/search?q=Business&amp;sca_esv=ebc5d8cf5f3ae0dd&amp;sxsrf=ANbL-n4ist-9WBHyrdmEtUlhxOYnZBICkA%3A1770609295591&amp;source=hp&amp;ei=j1qJacCRIeGc4-EP-pa-gQ8&amp;iflsig=AFdpzrgAAAAAaYlon47Jk4M7B4KL0Z_24NPoM2b6nqi-&amp;ved=2ahUKEwi7xb7SwcuSAxUZyTgGHebyKqYQgK4QegYIAAgAEAw&amp;uact=5&amp;oq=Elements+of+Partnership&amp;gs_lp=Egdnd3Mtd2l6IhdFbGVtZW50cyBvZiBQYXJ0bmVyc2hpcDIFEAAYgAQyBRAAGIAEMgUQABiABDIFEAAYgAQyBRAAGIAEMgUQABiABDIFEAAYgAQyBRAAGIAEMgUQABiABDIGEAAYFhgeSKwOUJQDWJQDcAF4AJABAJgBaKABaKoBAzAuMbgBA8gBAPgBAvgBAZgCAqACc6gCCsICBxAjGCcY6gLCAg0QIxiABBgnGIoFGOoCmAMH8QX-2HUXrPasa5IHAzEuMaAHjgayBwMwLjG4B2vCBwUwLjEuMcgHCIAIAA&amp;sclient=gws-wiz"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app.roc.gov.bd/"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HP\Desktop\partnership Beginer.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6400" y="4191000"/>
            <a:ext cx="25146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descr="C:\Users\HP\Desktop\PIc 1.jpg"/>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a:xfrm>
            <a:off x="4038600" y="933734"/>
            <a:ext cx="6629400" cy="4019266"/>
          </a:xfrm>
          <a:prstGeom prst="rect">
            <a:avLst/>
          </a:prstGeom>
          <a:noFill/>
        </p:spPr>
      </p:pic>
    </p:spTree>
    <p:extLst>
      <p:ext uri="{BB962C8B-B14F-4D97-AF65-F5344CB8AC3E}">
        <p14:creationId xmlns:p14="http://schemas.microsoft.com/office/powerpoint/2010/main" val="1563434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1981200" y="274638"/>
            <a:ext cx="8229600" cy="944562"/>
          </a:xfrm>
        </p:spPr>
        <p:txBody>
          <a:bodyPr/>
          <a:lstStyle/>
          <a:p>
            <a:pPr algn="ctr" eaLnBrk="1" hangingPunct="1"/>
            <a:r>
              <a:rPr lang="en-US" b="1" dirty="0">
                <a:latin typeface="Times New Roman" panose="02020603050405020304" pitchFamily="18" charset="0"/>
                <a:cs typeface="Times New Roman" panose="02020603050405020304" pitchFamily="18" charset="0"/>
              </a:rPr>
              <a:t>Partnership Definition </a:t>
            </a:r>
            <a:endParaRPr lang="en-US" dirty="0">
              <a:latin typeface="Times New Roman" panose="02020603050405020304" pitchFamily="18" charset="0"/>
              <a:cs typeface="Times New Roman" panose="02020603050405020304" pitchFamily="18" charset="0"/>
            </a:endParaRPr>
          </a:p>
        </p:txBody>
      </p:sp>
      <p:sp>
        <p:nvSpPr>
          <p:cNvPr id="3075" name="Content Placeholder 2"/>
          <p:cNvSpPr>
            <a:spLocks noGrp="1"/>
          </p:cNvSpPr>
          <p:nvPr>
            <p:ph idx="1"/>
          </p:nvPr>
        </p:nvSpPr>
        <p:spPr>
          <a:xfrm>
            <a:off x="1052777" y="1576088"/>
            <a:ext cx="10086446" cy="3290552"/>
          </a:xfrm>
        </p:spPr>
        <p:txBody>
          <a:bodyPr>
            <a:normAutofit/>
          </a:bodyPr>
          <a:lstStyle/>
          <a:p>
            <a:pPr algn="just" eaLnBrk="1" hangingPunct="1">
              <a:buFont typeface="Arial" panose="020B0604020202020204" pitchFamily="34" charset="0"/>
              <a:buNone/>
            </a:pPr>
            <a:r>
              <a:rPr lang="en-US" sz="3000" dirty="0">
                <a:latin typeface="Times New Roman" panose="02020603050405020304" pitchFamily="18" charset="0"/>
                <a:cs typeface="Times New Roman" panose="02020603050405020304" pitchFamily="18" charset="0"/>
              </a:rPr>
              <a:t>  A partnership is an agreement  between two people to run a business together  and share the profits they earn from this  business. Now according to the Indian Partnership Act 1932, there is five important and necessary elements of a partnership.</a:t>
            </a:r>
          </a:p>
        </p:txBody>
      </p:sp>
    </p:spTree>
    <p:extLst>
      <p:ext uri="{BB962C8B-B14F-4D97-AF65-F5344CB8AC3E}">
        <p14:creationId xmlns:p14="http://schemas.microsoft.com/office/powerpoint/2010/main" val="751598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A6AD-DEBF-F15C-CDCE-838DFA121CC6}"/>
              </a:ext>
            </a:extLst>
          </p:cNvPr>
          <p:cNvSpPr>
            <a:spLocks noGrp="1"/>
          </p:cNvSpPr>
          <p:nvPr>
            <p:ph type="title"/>
          </p:nvPr>
        </p:nvSpPr>
        <p:spPr>
          <a:xfrm>
            <a:off x="838200" y="151765"/>
            <a:ext cx="10515600" cy="752475"/>
          </a:xfrm>
        </p:spPr>
        <p:txBody>
          <a:bodyPr>
            <a:normAutofit fontScale="90000"/>
          </a:bodyPr>
          <a:lstStyle/>
          <a:p>
            <a:pPr algn="ctr"/>
            <a:br>
              <a:rPr lang="en-US" altLang="en-US" b="1" dirty="0">
                <a:solidFill>
                  <a:srgbClr val="0A0A0A"/>
                </a:solidFill>
                <a:latin typeface="Arial" panose="020B0604020202020204" pitchFamily="34" charset="0"/>
                <a:ea typeface="Google Sans"/>
              </a:rPr>
            </a:br>
            <a:r>
              <a:rPr lang="en-US" altLang="en-US" b="1" dirty="0">
                <a:solidFill>
                  <a:srgbClr val="0A0A0A"/>
                </a:solidFill>
                <a:latin typeface="Times New Roman" panose="02020603050405020304" pitchFamily="18" charset="0"/>
                <a:ea typeface="Google Sans"/>
                <a:cs typeface="Times New Roman" panose="02020603050405020304" pitchFamily="18" charset="0"/>
              </a:rPr>
              <a:t>Key Elements of a Partnership</a:t>
            </a:r>
            <a:br>
              <a:rPr lang="en-US" altLang="en-US" dirty="0">
                <a:latin typeface="Arial" panose="020B0604020202020204" pitchFamily="34" charset="0"/>
              </a:rPr>
            </a:br>
            <a:endParaRPr lang="en-US" dirty="0"/>
          </a:p>
        </p:txBody>
      </p:sp>
      <p:sp>
        <p:nvSpPr>
          <p:cNvPr id="4" name="Rectangle 1">
            <a:extLst>
              <a:ext uri="{FF2B5EF4-FFF2-40B4-BE49-F238E27FC236}">
                <a16:creationId xmlns:a16="http://schemas.microsoft.com/office/drawing/2014/main" id="{33A57012-75B4-26AB-17A5-6679DDC84908}"/>
              </a:ext>
            </a:extLst>
          </p:cNvPr>
          <p:cNvSpPr>
            <a:spLocks noGrp="1" noChangeArrowheads="1"/>
          </p:cNvSpPr>
          <p:nvPr>
            <p:ph idx="1"/>
          </p:nvPr>
        </p:nvSpPr>
        <p:spPr bwMode="auto">
          <a:xfrm>
            <a:off x="373643" y="1085760"/>
            <a:ext cx="10980157" cy="526424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dirty="0">
                <a:ln>
                  <a:noFill/>
                </a:ln>
                <a:solidFill>
                  <a:srgbClr val="0A0A0A"/>
                </a:solidFill>
                <a:effectLst/>
                <a:latin typeface="Times New Roman" panose="02020603050405020304" pitchFamily="18" charset="0"/>
                <a:ea typeface="Google Sans"/>
                <a:cs typeface="Times New Roman" panose="02020603050405020304" pitchFamily="18" charset="0"/>
                <a:hlinkClick r:id="rId2"/>
              </a:rPr>
              <a:t>Agreement</a:t>
            </a:r>
            <a:r>
              <a:rPr kumimoji="0" lang="en-US" altLang="en-US" sz="2500" b="1" i="0" u="none" strike="noStrike" cap="none" normalizeH="0" baseline="0" dirty="0">
                <a:ln>
                  <a:noFill/>
                </a:ln>
                <a:solidFill>
                  <a:srgbClr val="0A0A0A"/>
                </a:solidFill>
                <a:effectLst/>
                <a:latin typeface="Times New Roman" panose="02020603050405020304" pitchFamily="18" charset="0"/>
                <a:ea typeface="Google Sans"/>
                <a:cs typeface="Times New Roman" panose="02020603050405020304" pitchFamily="18" charset="0"/>
              </a:rPr>
              <a:t> (Contract):</a:t>
            </a:r>
            <a:r>
              <a:rPr kumimoji="0" lang="en-US" altLang="en-US" sz="2500" b="0" i="0" u="none" strike="noStrike" cap="none" normalizeH="0" baseline="0" dirty="0">
                <a:ln>
                  <a:noFill/>
                </a:ln>
                <a:solidFill>
                  <a:srgbClr val="0A0A0A"/>
                </a:solidFill>
                <a:effectLst/>
                <a:latin typeface="Times New Roman" panose="02020603050405020304" pitchFamily="18" charset="0"/>
                <a:ea typeface="Google Sans"/>
                <a:cs typeface="Times New Roman" panose="02020603050405020304" pitchFamily="18" charset="0"/>
              </a:rPr>
              <a:t> A partnership is formed by an agreement—written, oral, or implied—between two or more persons.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dirty="0">
                <a:ln>
                  <a:noFill/>
                </a:ln>
                <a:solidFill>
                  <a:srgbClr val="0A0A0A"/>
                </a:solidFill>
                <a:effectLst/>
                <a:latin typeface="Times New Roman" panose="02020603050405020304" pitchFamily="18" charset="0"/>
                <a:ea typeface="Google Sans"/>
                <a:cs typeface="Times New Roman" panose="02020603050405020304" pitchFamily="18" charset="0"/>
                <a:hlinkClick r:id="rId3"/>
              </a:rPr>
              <a:t>Two or More Persons</a:t>
            </a:r>
            <a:r>
              <a:rPr kumimoji="0" lang="en-US" altLang="en-US" sz="2500" b="1" i="0" u="none" strike="noStrike" cap="none" normalizeH="0" baseline="0" dirty="0">
                <a:ln>
                  <a:noFill/>
                </a:ln>
                <a:solidFill>
                  <a:srgbClr val="0A0A0A"/>
                </a:solidFill>
                <a:effectLst/>
                <a:latin typeface="Times New Roman" panose="02020603050405020304" pitchFamily="18" charset="0"/>
                <a:ea typeface="Google Sans"/>
                <a:cs typeface="Times New Roman" panose="02020603050405020304" pitchFamily="18" charset="0"/>
              </a:rPr>
              <a:t>:</a:t>
            </a:r>
            <a:r>
              <a:rPr kumimoji="0" lang="en-US" altLang="en-US" sz="2500" b="0" i="0" u="none" strike="noStrike" cap="none" normalizeH="0" baseline="0" dirty="0">
                <a:ln>
                  <a:noFill/>
                </a:ln>
                <a:solidFill>
                  <a:srgbClr val="0A0A0A"/>
                </a:solidFill>
                <a:effectLst/>
                <a:latin typeface="Times New Roman" panose="02020603050405020304" pitchFamily="18" charset="0"/>
                <a:ea typeface="Google Sans"/>
                <a:cs typeface="Times New Roman" panose="02020603050405020304" pitchFamily="18" charset="0"/>
              </a:rPr>
              <a:t> At least two individuals (or legal entities) are required, with typically a maximum of 50 partners.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dirty="0">
                <a:ln>
                  <a:noFill/>
                </a:ln>
                <a:solidFill>
                  <a:srgbClr val="0A0A0A"/>
                </a:solidFill>
                <a:effectLst/>
                <a:latin typeface="Times New Roman" panose="02020603050405020304" pitchFamily="18" charset="0"/>
                <a:ea typeface="Google Sans"/>
                <a:cs typeface="Times New Roman" panose="02020603050405020304" pitchFamily="18" charset="0"/>
                <a:hlinkClick r:id="rId4"/>
              </a:rPr>
              <a:t>Business</a:t>
            </a:r>
            <a:r>
              <a:rPr lang="en-US" altLang="en-US" sz="2500" dirty="0">
                <a:solidFill>
                  <a:srgbClr val="0A0A0A"/>
                </a:solidFill>
                <a:latin typeface="Times New Roman" panose="02020603050405020304" pitchFamily="18" charset="0"/>
                <a:ea typeface="Google Sans"/>
                <a:cs typeface="Times New Roman" panose="02020603050405020304" pitchFamily="18" charset="0"/>
              </a:rPr>
              <a:t>: </a:t>
            </a:r>
            <a:r>
              <a:rPr kumimoji="0" lang="en-US" altLang="en-US" sz="2500" b="0" i="0" u="none" strike="noStrike" cap="none" normalizeH="0" baseline="0" dirty="0">
                <a:ln>
                  <a:noFill/>
                </a:ln>
                <a:solidFill>
                  <a:srgbClr val="0A0A0A"/>
                </a:solidFill>
                <a:effectLst/>
                <a:latin typeface="Times New Roman" panose="02020603050405020304" pitchFamily="18" charset="0"/>
                <a:ea typeface="Google Sans"/>
                <a:cs typeface="Times New Roman" panose="02020603050405020304" pitchFamily="18" charset="0"/>
              </a:rPr>
              <a:t>The partnership must engage in a lawful trade, occupation, or profession.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dirty="0">
                <a:ln>
                  <a:noFill/>
                </a:ln>
                <a:solidFill>
                  <a:srgbClr val="0A0A0A"/>
                </a:solidFill>
                <a:effectLst/>
                <a:latin typeface="Times New Roman" panose="02020603050405020304" pitchFamily="18" charset="0"/>
                <a:ea typeface="Google Sans"/>
                <a:cs typeface="Times New Roman" panose="02020603050405020304" pitchFamily="18" charset="0"/>
                <a:hlinkClick r:id="rId5"/>
              </a:rPr>
              <a:t>Profit Sharing</a:t>
            </a:r>
            <a:r>
              <a:rPr kumimoji="0" lang="en-US" altLang="en-US" sz="2500" b="1" i="0" u="none" strike="noStrike" cap="none" normalizeH="0" baseline="0" dirty="0">
                <a:ln>
                  <a:noFill/>
                </a:ln>
                <a:solidFill>
                  <a:srgbClr val="0A0A0A"/>
                </a:solidFill>
                <a:effectLst/>
                <a:latin typeface="Times New Roman" panose="02020603050405020304" pitchFamily="18" charset="0"/>
                <a:ea typeface="Google Sans"/>
                <a:cs typeface="Times New Roman" panose="02020603050405020304" pitchFamily="18" charset="0"/>
              </a:rPr>
              <a:t>:</a:t>
            </a:r>
            <a:r>
              <a:rPr kumimoji="0" lang="en-US" altLang="en-US" sz="2500" b="0" i="0" u="none" strike="noStrike" cap="none" normalizeH="0" baseline="0" dirty="0">
                <a:ln>
                  <a:noFill/>
                </a:ln>
                <a:solidFill>
                  <a:srgbClr val="0A0A0A"/>
                </a:solidFill>
                <a:effectLst/>
                <a:latin typeface="Times New Roman" panose="02020603050405020304" pitchFamily="18" charset="0"/>
                <a:ea typeface="Google Sans"/>
                <a:cs typeface="Times New Roman" panose="02020603050405020304" pitchFamily="18" charset="0"/>
              </a:rPr>
              <a:t> The purpose must be to share profits, although the sharing of losses is often, but not strictly, required.</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dirty="0">
                <a:ln>
                  <a:noFill/>
                </a:ln>
                <a:solidFill>
                  <a:srgbClr val="0A0A0A"/>
                </a:solidFill>
                <a:effectLst/>
                <a:latin typeface="Times New Roman" panose="02020603050405020304" pitchFamily="18" charset="0"/>
                <a:ea typeface="Google Sans"/>
                <a:cs typeface="Times New Roman" panose="02020603050405020304" pitchFamily="18" charset="0"/>
                <a:hlinkClick r:id="rId6"/>
              </a:rPr>
              <a:t>Mutual Agency</a:t>
            </a:r>
            <a:r>
              <a:rPr kumimoji="0" lang="en-US" altLang="en-US" sz="2500" b="1" i="0" u="none" strike="noStrike" cap="none" normalizeH="0" baseline="0" dirty="0">
                <a:ln>
                  <a:noFill/>
                </a:ln>
                <a:solidFill>
                  <a:srgbClr val="0A0A0A"/>
                </a:solidFill>
                <a:effectLst/>
                <a:latin typeface="Times New Roman" panose="02020603050405020304" pitchFamily="18" charset="0"/>
                <a:ea typeface="Google Sans"/>
                <a:cs typeface="Times New Roman" panose="02020603050405020304" pitchFamily="18" charset="0"/>
              </a:rPr>
              <a:t>:</a:t>
            </a:r>
            <a:r>
              <a:rPr kumimoji="0" lang="en-US" altLang="en-US" sz="2500" b="0" i="0" u="none" strike="noStrike" cap="none" normalizeH="0" baseline="0" dirty="0">
                <a:ln>
                  <a:noFill/>
                </a:ln>
                <a:solidFill>
                  <a:srgbClr val="0A0A0A"/>
                </a:solidFill>
                <a:effectLst/>
                <a:latin typeface="Times New Roman" panose="02020603050405020304" pitchFamily="18" charset="0"/>
                <a:ea typeface="Google Sans"/>
                <a:cs typeface="Times New Roman" panose="02020603050405020304" pitchFamily="18" charset="0"/>
              </a:rPr>
              <a:t> The business is carried on by all partners or any of them acting for all, meaning each partner acts as an agent and can bind the firm.</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dirty="0">
                <a:ln>
                  <a:noFill/>
                </a:ln>
                <a:solidFill>
                  <a:srgbClr val="0A0A0A"/>
                </a:solidFill>
                <a:effectLst/>
                <a:latin typeface="Times New Roman" panose="02020603050405020304" pitchFamily="18" charset="0"/>
                <a:ea typeface="Google Sans"/>
                <a:cs typeface="Times New Roman" panose="02020603050405020304" pitchFamily="18" charset="0"/>
                <a:hlinkClick r:id="rId7"/>
              </a:rPr>
              <a:t>Unlimited Liability</a:t>
            </a:r>
            <a:r>
              <a:rPr kumimoji="0" lang="en-US" altLang="en-US" sz="2500" b="1" i="0" u="none" strike="noStrike" cap="none" normalizeH="0" baseline="0" dirty="0">
                <a:ln>
                  <a:noFill/>
                </a:ln>
                <a:solidFill>
                  <a:srgbClr val="0A0A0A"/>
                </a:solidFill>
                <a:effectLst/>
                <a:latin typeface="Times New Roman" panose="02020603050405020304" pitchFamily="18" charset="0"/>
                <a:ea typeface="Google Sans"/>
                <a:cs typeface="Times New Roman" panose="02020603050405020304" pitchFamily="18" charset="0"/>
              </a:rPr>
              <a:t>:</a:t>
            </a:r>
            <a:r>
              <a:rPr kumimoji="0" lang="en-US" altLang="en-US" sz="2500" b="0" i="0" u="none" strike="noStrike" cap="none" normalizeH="0" baseline="0" dirty="0">
                <a:ln>
                  <a:noFill/>
                </a:ln>
                <a:solidFill>
                  <a:srgbClr val="0A0A0A"/>
                </a:solidFill>
                <a:effectLst/>
                <a:latin typeface="Times New Roman" panose="02020603050405020304" pitchFamily="18" charset="0"/>
                <a:ea typeface="Google Sans"/>
                <a:cs typeface="Times New Roman" panose="02020603050405020304" pitchFamily="18" charset="0"/>
              </a:rPr>
              <a:t> Generally, partners have joint and several liability for the debts and obligations of the firm.</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dirty="0">
                <a:ln>
                  <a:noFill/>
                </a:ln>
                <a:solidFill>
                  <a:srgbClr val="0A0A0A"/>
                </a:solidFill>
                <a:effectLst/>
                <a:latin typeface="Times New Roman" panose="02020603050405020304" pitchFamily="18" charset="0"/>
                <a:ea typeface="Google Sans"/>
                <a:cs typeface="Times New Roman" panose="02020603050405020304" pitchFamily="18" charset="0"/>
                <a:hlinkClick r:id="rId8"/>
              </a:rPr>
              <a:t>Capital Contribution</a:t>
            </a:r>
            <a:r>
              <a:rPr kumimoji="0" lang="en-US" altLang="en-US" sz="2500" b="1" i="0" u="none" strike="noStrike" cap="none" normalizeH="0" baseline="0" dirty="0">
                <a:ln>
                  <a:noFill/>
                </a:ln>
                <a:solidFill>
                  <a:srgbClr val="0A0A0A"/>
                </a:solidFill>
                <a:effectLst/>
                <a:latin typeface="Times New Roman" panose="02020603050405020304" pitchFamily="18" charset="0"/>
                <a:ea typeface="Google Sans"/>
                <a:cs typeface="Times New Roman" panose="02020603050405020304" pitchFamily="18" charset="0"/>
              </a:rPr>
              <a:t>:</a:t>
            </a:r>
            <a:r>
              <a:rPr kumimoji="0" lang="en-US" altLang="en-US" sz="2500" b="0" i="0" u="none" strike="noStrike" cap="none" normalizeH="0" baseline="0" dirty="0">
                <a:ln>
                  <a:noFill/>
                </a:ln>
                <a:solidFill>
                  <a:srgbClr val="0A0A0A"/>
                </a:solidFill>
                <a:effectLst/>
                <a:latin typeface="Times New Roman" panose="02020603050405020304" pitchFamily="18" charset="0"/>
                <a:ea typeface="Google Sans"/>
                <a:cs typeface="Times New Roman" panose="02020603050405020304" pitchFamily="18" charset="0"/>
              </a:rPr>
              <a:t> Partners usually contribute money, property, labor, or skill to the business.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64295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Picture 2" descr="C:\Users\HP\Desktop\Types-of-Partners.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78971" y="123373"/>
            <a:ext cx="10310971" cy="5421085"/>
          </a:xfrm>
          <a:noFill/>
        </p:spPr>
      </p:pic>
      <p:sp>
        <p:nvSpPr>
          <p:cNvPr id="2" name="TextBox 1"/>
          <p:cNvSpPr txBox="1"/>
          <p:nvPr/>
        </p:nvSpPr>
        <p:spPr>
          <a:xfrm>
            <a:off x="8563429" y="5175126"/>
            <a:ext cx="2380343" cy="369332"/>
          </a:xfrm>
          <a:prstGeom prst="rect">
            <a:avLst/>
          </a:prstGeom>
          <a:solidFill>
            <a:schemeClr val="accent1"/>
          </a:solidFill>
        </p:spPr>
        <p:txBody>
          <a:bodyPr wrap="square" rtlCol="0">
            <a:spAutoFit/>
          </a:bodyPr>
          <a:lstStyle/>
          <a:p>
            <a:endParaRPr lang="en-US" dirty="0"/>
          </a:p>
        </p:txBody>
      </p:sp>
    </p:spTree>
    <p:extLst>
      <p:ext uri="{BB962C8B-B14F-4D97-AF65-F5344CB8AC3E}">
        <p14:creationId xmlns:p14="http://schemas.microsoft.com/office/powerpoint/2010/main" val="3326423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676901" y="123825"/>
            <a:ext cx="4754880" cy="652182"/>
          </a:xfrm>
        </p:spPr>
        <p:txBody>
          <a:bodyPr>
            <a:normAutofit fontScale="90000"/>
          </a:bodyPr>
          <a:lstStyle/>
          <a:p>
            <a:pPr eaLnBrk="1" hangingPunct="1"/>
            <a:r>
              <a:rPr lang="en-US" dirty="0">
                <a:latin typeface="Times New Roman" panose="02020603050405020304" pitchFamily="18" charset="0"/>
                <a:cs typeface="Times New Roman" panose="02020603050405020304" pitchFamily="18" charset="0"/>
              </a:rPr>
              <a:t>Kinds of Partner</a:t>
            </a:r>
          </a:p>
        </p:txBody>
      </p:sp>
      <p:sp>
        <p:nvSpPr>
          <p:cNvPr id="3" name="Content Placeholder 2"/>
          <p:cNvSpPr>
            <a:spLocks noGrp="1"/>
          </p:cNvSpPr>
          <p:nvPr>
            <p:ph idx="1"/>
          </p:nvPr>
        </p:nvSpPr>
        <p:spPr>
          <a:xfrm>
            <a:off x="429957" y="1005661"/>
            <a:ext cx="5059179" cy="3886200"/>
          </a:xfrm>
        </p:spPr>
        <p:txBody>
          <a:bodyPr rtlCol="0">
            <a:normAutofit fontScale="77500" lnSpcReduction="20000"/>
          </a:bodyPr>
          <a:lstStyle/>
          <a:p>
            <a:pPr algn="just">
              <a:buNone/>
              <a:defRPr/>
            </a:pPr>
            <a:r>
              <a:rPr lang="en-US" b="1" dirty="0">
                <a:latin typeface="Times New Roman" pitchFamily="18" charset="0"/>
                <a:cs typeface="Times New Roman" pitchFamily="18" charset="0"/>
              </a:rPr>
              <a:t>Active Partner</a:t>
            </a:r>
            <a:r>
              <a:rPr lang="en-US" dirty="0">
                <a:latin typeface="Times New Roman" pitchFamily="18" charset="0"/>
                <a:cs typeface="Times New Roman" pitchFamily="18" charset="0"/>
              </a:rPr>
              <a:t>: known as Ostensible Partner. As the name suggests he takes active participation in the firm and the running of the business. He acts as an agent of all the other partners on a day-to-day basis and with regards to all ordinary business of the firm.</a:t>
            </a:r>
          </a:p>
          <a:p>
            <a:pPr algn="just">
              <a:defRPr/>
            </a:pPr>
            <a:r>
              <a:rPr lang="en-US" dirty="0">
                <a:latin typeface="Times New Roman" pitchFamily="18" charset="0"/>
                <a:cs typeface="Times New Roman" pitchFamily="18" charset="0"/>
              </a:rPr>
              <a:t>Hence when an active partner wishes to retire from the firm, he must give a public notice about the same. This will absolve him of the acts done by other partners after his retirement. Unless he gives a public notice, he will be liable for all acts even after his retirement.</a:t>
            </a:r>
          </a:p>
          <a:p>
            <a:pPr algn="just">
              <a:defRPr/>
            </a:pPr>
            <a:endParaRPr lang="en-US" dirty="0">
              <a:latin typeface="Times New Roman" pitchFamily="18" charset="0"/>
              <a:cs typeface="Times New Roman" pitchFamily="18" charset="0"/>
            </a:endParaRPr>
          </a:p>
          <a:p>
            <a:pPr>
              <a:defRPr/>
            </a:pPr>
            <a:endParaRPr lang="en-US" dirty="0"/>
          </a:p>
        </p:txBody>
      </p:sp>
      <p:pic>
        <p:nvPicPr>
          <p:cNvPr id="11268" name="Picture 2" descr="C:\Users\HP\Desktop\Active P.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994" y="4573550"/>
            <a:ext cx="2466975"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6614727" y="826628"/>
            <a:ext cx="4991279" cy="3139321"/>
          </a:xfrm>
          <a:prstGeom prst="rect">
            <a:avLst/>
          </a:prstGeom>
        </p:spPr>
        <p:txBody>
          <a:bodyPr wrap="square">
            <a:spAutoFit/>
          </a:bodyPr>
          <a:lstStyle/>
          <a:p>
            <a:pPr algn="just">
              <a:buNone/>
              <a:defRPr/>
            </a:pPr>
            <a:r>
              <a:rPr lang="en-US" sz="2200" b="1" dirty="0">
                <a:latin typeface="Times New Roman" pitchFamily="18" charset="0"/>
                <a:cs typeface="Times New Roman" pitchFamily="18" charset="0"/>
              </a:rPr>
              <a:t>Dormant/Sleeping Partner: D</a:t>
            </a:r>
            <a:r>
              <a:rPr lang="en-US" sz="2200" dirty="0">
                <a:latin typeface="Times New Roman" pitchFamily="18" charset="0"/>
                <a:cs typeface="Times New Roman" pitchFamily="18" charset="0"/>
              </a:rPr>
              <a:t>oes not take an active part in the daily activities of the firm. He is however bound by the action of all the other partners.</a:t>
            </a:r>
          </a:p>
          <a:p>
            <a:pPr algn="just">
              <a:defRPr/>
            </a:pPr>
            <a:r>
              <a:rPr lang="en-US" sz="2200" dirty="0">
                <a:latin typeface="Times New Roman" pitchFamily="18" charset="0"/>
                <a:cs typeface="Times New Roman" pitchFamily="18" charset="0"/>
              </a:rPr>
              <a:t>He will continue to share the profits and losses of the firm and even bring in his share of capital like any other partner. If such a dormant partner retires, he needs not give a public notice of the same.</a:t>
            </a:r>
          </a:p>
        </p:txBody>
      </p:sp>
      <p:pic>
        <p:nvPicPr>
          <p:cNvPr id="6" name="Picture 3" descr="C:\Users\HP\Desktop\Sleeping P.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6699" y="4891861"/>
            <a:ext cx="2466975"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3155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2418793" y="76200"/>
            <a:ext cx="6347713" cy="685800"/>
          </a:xfrm>
        </p:spPr>
        <p:txBody>
          <a:bodyPr>
            <a:normAutofit fontScale="90000"/>
          </a:bodyPr>
          <a:lstStyle/>
          <a:p>
            <a:pPr algn="ctr" eaLnBrk="1" hangingPunct="1"/>
            <a:r>
              <a:rPr lang="en-US" b="1" dirty="0">
                <a:latin typeface="Times New Roman" panose="02020603050405020304" pitchFamily="18" charset="0"/>
                <a:ea typeface="Tahoma" panose="020B0604030504040204" pitchFamily="34" charset="0"/>
                <a:cs typeface="Times New Roman" panose="02020603050405020304" pitchFamily="18" charset="0"/>
              </a:rPr>
              <a:t>Continue</a:t>
            </a:r>
            <a:r>
              <a:rPr lang="en-US" b="1" dirty="0">
                <a:latin typeface="Times New Roman" panose="02020603050405020304" pitchFamily="18" charset="0"/>
                <a:cs typeface="Times New Roman" panose="02020603050405020304" pitchFamily="18" charset="0"/>
              </a:rPr>
              <a:t>…</a:t>
            </a:r>
          </a:p>
        </p:txBody>
      </p:sp>
      <p:sp>
        <p:nvSpPr>
          <p:cNvPr id="3" name="Content Placeholder 2"/>
          <p:cNvSpPr>
            <a:spLocks noGrp="1"/>
          </p:cNvSpPr>
          <p:nvPr>
            <p:ph idx="1"/>
          </p:nvPr>
        </p:nvSpPr>
        <p:spPr>
          <a:xfrm>
            <a:off x="91441" y="762000"/>
            <a:ext cx="5516880" cy="6019800"/>
          </a:xfrm>
        </p:spPr>
        <p:txBody>
          <a:bodyPr rtlCol="0">
            <a:normAutofit/>
          </a:bodyPr>
          <a:lstStyle/>
          <a:p>
            <a:pPr algn="just">
              <a:buNone/>
              <a:defRPr/>
            </a:pPr>
            <a:r>
              <a:rPr lang="en-US" sz="2000" b="1" dirty="0">
                <a:latin typeface="Times New Roman" pitchFamily="18" charset="0"/>
                <a:cs typeface="Times New Roman" pitchFamily="18" charset="0"/>
              </a:rPr>
              <a:t>   Nominal Partner: </a:t>
            </a:r>
            <a:r>
              <a:rPr lang="en-US" sz="2000" dirty="0">
                <a:latin typeface="Times New Roman" pitchFamily="18" charset="0"/>
                <a:cs typeface="Times New Roman" pitchFamily="18" charset="0"/>
              </a:rPr>
              <a:t>does not have any real or significant interest in the partnership. So, in essence, he is only lending his name to the partnership. He will not make any capital contributions to the firm, and so he will not have a share in the profits either. But the nominal partner will be liable to outsiders and third parties for acts done by any other partners.</a:t>
            </a:r>
          </a:p>
          <a:p>
            <a:pPr algn="just">
              <a:buNone/>
              <a:defRPr/>
            </a:pPr>
            <a:r>
              <a:rPr lang="en-US" sz="2000" b="1" dirty="0">
                <a:latin typeface="Times New Roman" pitchFamily="18" charset="0"/>
                <a:cs typeface="Times New Roman" pitchFamily="18" charset="0"/>
              </a:rPr>
              <a:t>   Partner by Estoppels: </a:t>
            </a:r>
            <a:r>
              <a:rPr lang="en-US" sz="2000" dirty="0">
                <a:latin typeface="Times New Roman" pitchFamily="18" charset="0"/>
                <a:cs typeface="Times New Roman" pitchFamily="18" charset="0"/>
              </a:rPr>
              <a:t>If a person holds out to another that he is a partner of the firm, either by his words, actions or conduct then such a partner cannot deny that he is not a partner. This basically means that even though such a person is not a partner he has represented himself as such, and so he becomes partner by estoppels or partner by holding out.</a:t>
            </a:r>
          </a:p>
          <a:p>
            <a:pPr algn="just">
              <a:defRPr/>
            </a:pPr>
            <a:endParaRPr lang="en-US" sz="4200" dirty="0">
              <a:latin typeface="Times New Roman" pitchFamily="18" charset="0"/>
              <a:cs typeface="Times New Roman" pitchFamily="18" charset="0"/>
            </a:endParaRPr>
          </a:p>
          <a:p>
            <a:pPr>
              <a:defRPr/>
            </a:pPr>
            <a:endParaRPr lang="en-US" dirty="0"/>
          </a:p>
        </p:txBody>
      </p:sp>
      <p:sp>
        <p:nvSpPr>
          <p:cNvPr id="4" name="TextBox 3">
            <a:extLst>
              <a:ext uri="{FF2B5EF4-FFF2-40B4-BE49-F238E27FC236}">
                <a16:creationId xmlns:a16="http://schemas.microsoft.com/office/drawing/2014/main" id="{743667E4-A7F0-9CCF-45F1-F23C5440ECE8}"/>
              </a:ext>
            </a:extLst>
          </p:cNvPr>
          <p:cNvSpPr txBox="1"/>
          <p:nvPr/>
        </p:nvSpPr>
        <p:spPr>
          <a:xfrm>
            <a:off x="6096000" y="650240"/>
            <a:ext cx="5923280" cy="5016758"/>
          </a:xfrm>
          <a:prstGeom prst="rect">
            <a:avLst/>
          </a:prstGeom>
          <a:noFill/>
        </p:spPr>
        <p:txBody>
          <a:bodyPr wrap="square">
            <a:spAutoFit/>
          </a:bodyPr>
          <a:lstStyle/>
          <a:p>
            <a:pPr algn="just">
              <a:buNone/>
              <a:defRPr/>
            </a:pPr>
            <a:r>
              <a:rPr lang="en-US" sz="2000" b="1" dirty="0">
                <a:latin typeface="Times New Roman" pitchFamily="18" charset="0"/>
                <a:cs typeface="Times New Roman" pitchFamily="18" charset="0"/>
              </a:rPr>
              <a:t>Partner in Profits Only: </a:t>
            </a:r>
            <a:r>
              <a:rPr lang="en-US" sz="2000" dirty="0">
                <a:latin typeface="Times New Roman" pitchFamily="18" charset="0"/>
                <a:cs typeface="Times New Roman" pitchFamily="18" charset="0"/>
              </a:rPr>
              <a:t>only share the profits of the firm, he will not be liable for any liabilities. Even when dealing with third parties he will be liable for all acts of profit only, he will share none of the liabilities.</a:t>
            </a:r>
          </a:p>
          <a:p>
            <a:pPr algn="just">
              <a:buNone/>
              <a:defRPr/>
            </a:pPr>
            <a:r>
              <a:rPr lang="en-US" sz="2000" b="1" dirty="0">
                <a:latin typeface="Times New Roman" pitchFamily="18" charset="0"/>
                <a:cs typeface="Times New Roman" pitchFamily="18" charset="0"/>
              </a:rPr>
              <a:t>Minor Partner: </a:t>
            </a:r>
            <a:r>
              <a:rPr lang="en-US" sz="2000" dirty="0">
                <a:latin typeface="Times New Roman" pitchFamily="18" charset="0"/>
                <a:cs typeface="Times New Roman" pitchFamily="18" charset="0"/>
              </a:rPr>
              <a:t>A minor cannot be a partner of a firm according to the Contract Act. However, a partner can be admitted to the benefits of a partnership if all partner gives their consent for the same. He will share profits of the firm but his liability for the losses will be limited to his share in the firm.</a:t>
            </a:r>
          </a:p>
          <a:p>
            <a:pPr algn="just">
              <a:defRPr/>
            </a:pPr>
            <a:r>
              <a:rPr lang="en-US" sz="2000" dirty="0">
                <a:latin typeface="Times New Roman" pitchFamily="18" charset="0"/>
                <a:cs typeface="Times New Roman" pitchFamily="18" charset="0"/>
              </a:rPr>
              <a:t>Such a minor partner on attaining majority (becoming 18 years of age) has six months to decide if he wishes to become a partner of the firm. He must then declare his decision via a public notice. So, whether he continues as a partner or decides to retire, in both </a:t>
            </a:r>
            <a:r>
              <a:rPr lang="en-US" sz="2000" b="1" dirty="0">
                <a:latin typeface="Times New Roman" pitchFamily="18" charset="0"/>
                <a:cs typeface="Times New Roman" pitchFamily="18" charset="0"/>
              </a:rPr>
              <a:t>cases he will have to issue a public notice</a:t>
            </a:r>
            <a:r>
              <a:rPr lang="en-US" sz="2000" dirty="0">
                <a:latin typeface="Times New Roman" pitchFamily="18" charset="0"/>
                <a:cs typeface="Times New Roman" pitchFamily="18" charset="0"/>
              </a:rPr>
              <a:t>.</a:t>
            </a:r>
          </a:p>
        </p:txBody>
      </p:sp>
    </p:spTree>
    <p:extLst>
      <p:ext uri="{BB962C8B-B14F-4D97-AF65-F5344CB8AC3E}">
        <p14:creationId xmlns:p14="http://schemas.microsoft.com/office/powerpoint/2010/main" val="1305345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351280"/>
            <a:ext cx="10439400" cy="4825683"/>
          </a:xfrm>
        </p:spPr>
        <p:txBody>
          <a:bodyPr rtlCol="0">
            <a:normAutofit/>
          </a:bodyPr>
          <a:lstStyle/>
          <a:p>
            <a:pPr marL="0" indent="0" algn="just">
              <a:buNone/>
              <a:defRPr/>
            </a:pPr>
            <a:r>
              <a:rPr lang="en-US" dirty="0">
                <a:latin typeface="Times New Roman" pitchFamily="18" charset="0"/>
                <a:cs typeface="Times New Roman" pitchFamily="18" charset="0"/>
              </a:rPr>
              <a:t>Q: A was a minor admitted to the benefits of a partnership. After attaining majority, he decided not to continue as a partner. He did not give any public notice of the same. Is he liable for the acts of other partners after his retirement?</a:t>
            </a:r>
          </a:p>
          <a:p>
            <a:pPr algn="just">
              <a:defRPr/>
            </a:pPr>
            <a:r>
              <a:rPr lang="en-US" dirty="0" err="1">
                <a:latin typeface="Times New Roman" pitchFamily="18" charset="0"/>
                <a:cs typeface="Times New Roman" pitchFamily="18" charset="0"/>
              </a:rPr>
              <a:t>Ans</a:t>
            </a:r>
            <a:r>
              <a:rPr lang="en-US" dirty="0">
                <a:latin typeface="Times New Roman" pitchFamily="18" charset="0"/>
                <a:cs typeface="Times New Roman" pitchFamily="18" charset="0"/>
              </a:rPr>
              <a:t>: Yes, A will now be liable for all acts of other partners even after his retirement. This is because he fails to give a public notice of his desire to not continue with the firm after attaining majority.</a:t>
            </a:r>
          </a:p>
          <a:p>
            <a:pPr>
              <a:defRPr/>
            </a:pPr>
            <a:endParaRPr lang="en-US" dirty="0"/>
          </a:p>
        </p:txBody>
      </p:sp>
    </p:spTree>
    <p:extLst>
      <p:ext uri="{BB962C8B-B14F-4D97-AF65-F5344CB8AC3E}">
        <p14:creationId xmlns:p14="http://schemas.microsoft.com/office/powerpoint/2010/main" val="653702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1E5CE-871B-32D0-FF14-1FEAC6E8274B}"/>
              </a:ext>
            </a:extLst>
          </p:cNvPr>
          <p:cNvSpPr>
            <a:spLocks noGrp="1"/>
          </p:cNvSpPr>
          <p:nvPr>
            <p:ph type="title"/>
          </p:nvPr>
        </p:nvSpPr>
        <p:spPr>
          <a:xfrm>
            <a:off x="838200" y="192405"/>
            <a:ext cx="10515600" cy="874395"/>
          </a:xfrm>
        </p:spPr>
        <p:txBody>
          <a:bodyPr/>
          <a:lstStyle/>
          <a:p>
            <a:pPr algn="ctr"/>
            <a:r>
              <a:rPr lang="en-US" altLang="en-US" dirty="0">
                <a:solidFill>
                  <a:srgbClr val="0A0A0A"/>
                </a:solidFill>
                <a:latin typeface="Times New Roman" panose="02020603050405020304" pitchFamily="18" charset="0"/>
                <a:ea typeface="Google Sans"/>
                <a:cs typeface="Times New Roman" panose="02020603050405020304" pitchFamily="18" charset="0"/>
              </a:rPr>
              <a:t>Partnership registration</a:t>
            </a:r>
            <a:endParaRPr lang="en-US"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246AB7B7-239F-D56F-F4F0-01D4658F53BF}"/>
              </a:ext>
            </a:extLst>
          </p:cNvPr>
          <p:cNvSpPr>
            <a:spLocks noGrp="1" noChangeArrowheads="1"/>
          </p:cNvSpPr>
          <p:nvPr>
            <p:ph idx="1"/>
          </p:nvPr>
        </p:nvSpPr>
        <p:spPr bwMode="auto">
          <a:xfrm>
            <a:off x="558800" y="1310283"/>
            <a:ext cx="11033760" cy="501675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strike="noStrike" cap="none" normalizeH="0" baseline="0" dirty="0">
                <a:ln>
                  <a:noFill/>
                </a:ln>
                <a:effectLst/>
                <a:latin typeface="Times New Roman" panose="02020603050405020304" pitchFamily="18" charset="0"/>
                <a:ea typeface="Google Sans"/>
                <a:cs typeface="Times New Roman" panose="02020603050405020304" pitchFamily="18" charset="0"/>
              </a:rPr>
              <a:t>Partnership registration in Bangladesh is completed through the </a:t>
            </a:r>
            <a:r>
              <a:rPr kumimoji="0" lang="en-US" altLang="en-US" sz="2200" b="0" i="0" strike="noStrike" cap="none" normalizeH="0" baseline="0" dirty="0">
                <a:ln>
                  <a:noFill/>
                </a:ln>
                <a:effectLst/>
                <a:latin typeface="Times New Roman" panose="02020603050405020304" pitchFamily="18" charset="0"/>
                <a:ea typeface="Google Sans"/>
                <a:cs typeface="Times New Roman" panose="02020603050405020304" pitchFamily="18" charset="0"/>
                <a:hlinkClick r:id="rId2">
                  <a:extLst>
                    <a:ext uri="{A12FA001-AC4F-418D-AE19-62706E023703}">
                      <ahyp:hlinkClr xmlns:ahyp="http://schemas.microsoft.com/office/drawing/2018/hyperlinkcolor" val="tx"/>
                    </a:ext>
                  </a:extLst>
                </a:hlinkClick>
              </a:rPr>
              <a:t>Registrar of Joint Stock Companies and Firms (RJSC)</a:t>
            </a:r>
            <a:r>
              <a:rPr kumimoji="0" lang="en-US" altLang="en-US" sz="2200" b="0" i="0" strike="noStrike" cap="none" normalizeH="0" baseline="0" dirty="0">
                <a:ln>
                  <a:noFill/>
                </a:ln>
                <a:effectLst/>
                <a:latin typeface="Times New Roman" panose="02020603050405020304" pitchFamily="18" charset="0"/>
                <a:ea typeface="Google Sans"/>
                <a:cs typeface="Times New Roman" panose="02020603050405020304" pitchFamily="18" charset="0"/>
              </a:rPr>
              <a:t> by filing a notarized partnership deed and Form I, usually within one to two days. It requires selecting a unique name, outlining partner shares, and submitting necessary documents to gain legal, administrative, and financial credibility. </a:t>
            </a:r>
            <a:endParaRPr kumimoji="0" lang="en-US" altLang="en-US" sz="2200" b="0" i="0"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1" i="0" strike="noStrike" cap="none" normalizeH="0" baseline="0" dirty="0">
                <a:ln>
                  <a:noFill/>
                </a:ln>
                <a:effectLst/>
                <a:latin typeface="Times New Roman" panose="02020603050405020304" pitchFamily="18" charset="0"/>
                <a:ea typeface="Google Sans"/>
                <a:cs typeface="Times New Roman" panose="02020603050405020304" pitchFamily="18" charset="0"/>
              </a:rPr>
              <a:t>Key Steps for Partnership Registration</a:t>
            </a:r>
            <a:endParaRPr kumimoji="0" lang="en-US" altLang="en-US" sz="2200" b="0" i="0"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2200" b="1" i="0" strike="noStrike" cap="none" normalizeH="0" baseline="0" dirty="0">
                <a:ln>
                  <a:noFill/>
                </a:ln>
                <a:effectLst/>
                <a:latin typeface="Times New Roman" panose="02020603050405020304" pitchFamily="18" charset="0"/>
                <a:ea typeface="Google Sans"/>
                <a:cs typeface="Times New Roman" panose="02020603050405020304" pitchFamily="18" charset="0"/>
              </a:rPr>
              <a:t>Name Clearance:</a:t>
            </a:r>
            <a:r>
              <a:rPr kumimoji="0" lang="en-US" altLang="en-US" sz="2200" b="0" i="0" strike="noStrike" cap="none" normalizeH="0" baseline="0" dirty="0">
                <a:ln>
                  <a:noFill/>
                </a:ln>
                <a:effectLst/>
                <a:latin typeface="Times New Roman" panose="02020603050405020304" pitchFamily="18" charset="0"/>
                <a:ea typeface="Google Sans"/>
                <a:cs typeface="Times New Roman" panose="02020603050405020304" pitchFamily="18" charset="0"/>
              </a:rPr>
              <a:t> Obtain clearance for the proposed firm name from the RJSC.</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2200" b="1" i="0" strike="noStrike" cap="none" normalizeH="0" baseline="0" dirty="0">
                <a:ln>
                  <a:noFill/>
                </a:ln>
                <a:effectLst/>
                <a:latin typeface="Times New Roman" panose="02020603050405020304" pitchFamily="18" charset="0"/>
                <a:ea typeface="Google Sans"/>
                <a:cs typeface="Times New Roman" panose="02020603050405020304" pitchFamily="18" charset="0"/>
              </a:rPr>
              <a:t>Draft Partnership Deed:</a:t>
            </a:r>
            <a:r>
              <a:rPr kumimoji="0" lang="en-US" altLang="en-US" sz="2200" b="0" i="0" strike="noStrike" cap="none" normalizeH="0" baseline="0" dirty="0">
                <a:ln>
                  <a:noFill/>
                </a:ln>
                <a:effectLst/>
                <a:latin typeface="Times New Roman" panose="02020603050405020304" pitchFamily="18" charset="0"/>
                <a:ea typeface="Google Sans"/>
                <a:cs typeface="Times New Roman" panose="02020603050405020304" pitchFamily="18" charset="0"/>
              </a:rPr>
              <a:t> Create a partnership deed on stamp paper outlining business nature, capital, and profit-sharing ratios.</a:t>
            </a: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altLang="en-US" sz="2200" b="1" i="0" strike="noStrike" cap="none" normalizeH="0" baseline="0" dirty="0">
                <a:ln>
                  <a:noFill/>
                </a:ln>
                <a:effectLst/>
                <a:latin typeface="Times New Roman" panose="02020603050405020304" pitchFamily="18" charset="0"/>
                <a:ea typeface="Google Sans"/>
                <a:cs typeface="Times New Roman" panose="02020603050405020304" pitchFamily="18" charset="0"/>
              </a:rPr>
              <a:t>Notarization:</a:t>
            </a:r>
            <a:r>
              <a:rPr kumimoji="0" lang="en-US" altLang="en-US" sz="2200" b="0" i="0" strike="noStrike" cap="none" normalizeH="0" baseline="0" dirty="0">
                <a:ln>
                  <a:noFill/>
                </a:ln>
                <a:effectLst/>
                <a:latin typeface="Times New Roman" panose="02020603050405020304" pitchFamily="18" charset="0"/>
                <a:ea typeface="Google Sans"/>
                <a:cs typeface="Times New Roman" panose="02020603050405020304" pitchFamily="18" charset="0"/>
              </a:rPr>
              <a:t> Have the partnership deed notarized by a notary public.</a:t>
            </a:r>
          </a:p>
          <a:p>
            <a:pPr marL="0" marR="0" lvl="0" indent="0" algn="just" defTabSz="914400" rtl="0" eaLnBrk="0" fontAlgn="base" latinLnBrk="0" hangingPunct="0">
              <a:lnSpc>
                <a:spcPct val="100000"/>
              </a:lnSpc>
              <a:spcBef>
                <a:spcPct val="0"/>
              </a:spcBef>
              <a:spcAft>
                <a:spcPct val="0"/>
              </a:spcAft>
              <a:buClrTx/>
              <a:buSzTx/>
              <a:buFontTx/>
              <a:buAutoNum type="arabicPeriod" startAt="4"/>
              <a:tabLst/>
            </a:pPr>
            <a:r>
              <a:rPr kumimoji="0" lang="en-US" altLang="en-US" sz="2200" b="1" i="0" strike="noStrike" cap="none" normalizeH="0" baseline="0" dirty="0">
                <a:ln>
                  <a:noFill/>
                </a:ln>
                <a:effectLst/>
                <a:latin typeface="Times New Roman" panose="02020603050405020304" pitchFamily="18" charset="0"/>
                <a:ea typeface="Google Sans"/>
                <a:cs typeface="Times New Roman" panose="02020603050405020304" pitchFamily="18" charset="0"/>
              </a:rPr>
              <a:t>Form I Submission:</a:t>
            </a:r>
            <a:r>
              <a:rPr kumimoji="0" lang="en-US" altLang="en-US" sz="2200" b="0" i="0" strike="noStrike" cap="none" normalizeH="0" baseline="0" dirty="0">
                <a:ln>
                  <a:noFill/>
                </a:ln>
                <a:effectLst/>
                <a:latin typeface="Times New Roman" panose="02020603050405020304" pitchFamily="18" charset="0"/>
                <a:ea typeface="Google Sans"/>
                <a:cs typeface="Times New Roman" panose="02020603050405020304" pitchFamily="18" charset="0"/>
              </a:rPr>
              <a:t> Complete and submit Form I (application for registration) with particulars of partners to the RJSC.</a:t>
            </a:r>
          </a:p>
          <a:p>
            <a:pPr marL="0" marR="0" lvl="0" indent="0" algn="just" defTabSz="914400" rtl="0" eaLnBrk="0" fontAlgn="base" latinLnBrk="0" hangingPunct="0">
              <a:lnSpc>
                <a:spcPct val="100000"/>
              </a:lnSpc>
              <a:spcBef>
                <a:spcPct val="0"/>
              </a:spcBef>
              <a:spcAft>
                <a:spcPct val="0"/>
              </a:spcAft>
              <a:buClrTx/>
              <a:buSzTx/>
              <a:buFontTx/>
              <a:buAutoNum type="arabicPeriod" startAt="5"/>
              <a:tabLst/>
            </a:pPr>
            <a:r>
              <a:rPr kumimoji="0" lang="en-US" altLang="en-US" sz="2200" b="1" i="0" strike="noStrike" cap="none" normalizeH="0" baseline="0" dirty="0">
                <a:ln>
                  <a:noFill/>
                </a:ln>
                <a:effectLst/>
                <a:latin typeface="Times New Roman" panose="02020603050405020304" pitchFamily="18" charset="0"/>
                <a:ea typeface="Google Sans"/>
                <a:cs typeface="Times New Roman" panose="02020603050405020304" pitchFamily="18" charset="0"/>
              </a:rPr>
              <a:t>Fee Payment:</a:t>
            </a:r>
            <a:r>
              <a:rPr kumimoji="0" lang="en-US" altLang="en-US" sz="2200" b="0" i="0" strike="noStrike" cap="none" normalizeH="0" baseline="0" dirty="0">
                <a:ln>
                  <a:noFill/>
                </a:ln>
                <a:effectLst/>
                <a:latin typeface="Times New Roman" panose="02020603050405020304" pitchFamily="18" charset="0"/>
                <a:ea typeface="Google Sans"/>
                <a:cs typeface="Times New Roman" panose="02020603050405020304" pitchFamily="18" charset="0"/>
              </a:rPr>
              <a:t> Pay the required registration fees based on the number of partners and capital.</a:t>
            </a:r>
          </a:p>
          <a:p>
            <a:pPr marL="0" marR="0" lvl="0" indent="0" algn="just" defTabSz="914400" rtl="0" eaLnBrk="0" fontAlgn="base" latinLnBrk="0" hangingPunct="0">
              <a:lnSpc>
                <a:spcPct val="100000"/>
              </a:lnSpc>
              <a:spcBef>
                <a:spcPct val="0"/>
              </a:spcBef>
              <a:spcAft>
                <a:spcPct val="0"/>
              </a:spcAft>
              <a:buClrTx/>
              <a:buSzTx/>
              <a:buFontTx/>
              <a:buAutoNum type="arabicPeriod" startAt="6"/>
              <a:tabLst/>
            </a:pPr>
            <a:r>
              <a:rPr kumimoji="0" lang="en-US" altLang="en-US" sz="2200" b="1" i="0" strike="noStrike" cap="none" normalizeH="0" baseline="0" dirty="0">
                <a:ln>
                  <a:noFill/>
                </a:ln>
                <a:effectLst/>
                <a:latin typeface="Times New Roman" panose="02020603050405020304" pitchFamily="18" charset="0"/>
                <a:ea typeface="Google Sans"/>
                <a:cs typeface="Times New Roman" panose="02020603050405020304" pitchFamily="18" charset="0"/>
              </a:rPr>
              <a:t>Receive Certificate:</a:t>
            </a:r>
            <a:r>
              <a:rPr kumimoji="0" lang="en-US" altLang="en-US" sz="2200" b="0" i="0" strike="noStrike" cap="none" normalizeH="0" baseline="0" dirty="0">
                <a:ln>
                  <a:noFill/>
                </a:ln>
                <a:effectLst/>
                <a:latin typeface="Times New Roman" panose="02020603050405020304" pitchFamily="18" charset="0"/>
                <a:ea typeface="Google Sans"/>
                <a:cs typeface="Times New Roman" panose="02020603050405020304" pitchFamily="18" charset="0"/>
              </a:rPr>
              <a:t> Upon successful verification, the RJSC issues a Certificate of Registration.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03821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1524000" y="152400"/>
            <a:ext cx="9144000" cy="990600"/>
          </a:xfrm>
        </p:spPr>
        <p:txBody>
          <a:bodyPr/>
          <a:lstStyle/>
          <a:p>
            <a:pPr algn="ctr" eaLnBrk="1" hangingPunct="1"/>
            <a:r>
              <a:rPr lang="en-US" sz="3500" b="1" dirty="0">
                <a:latin typeface="Times New Roman" panose="02020603050405020304" pitchFamily="18" charset="0"/>
                <a:cs typeface="Times New Roman" panose="02020603050405020304" pitchFamily="18" charset="0"/>
              </a:rPr>
              <a:t>Consequences of Non-Registration of Firm</a:t>
            </a:r>
            <a:endParaRPr lang="en-US" sz="35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0761" y="1295401"/>
            <a:ext cx="10985678" cy="4830763"/>
          </a:xfrm>
        </p:spPr>
        <p:txBody>
          <a:bodyPr rtlCol="0">
            <a:normAutofit fontScale="25000" lnSpcReduction="20000"/>
          </a:bodyPr>
          <a:lstStyle/>
          <a:p>
            <a:pPr algn="just">
              <a:buNone/>
              <a:defRPr/>
            </a:pPr>
            <a:r>
              <a:rPr lang="en-US" sz="8800" b="1" dirty="0">
                <a:latin typeface="Times New Roman" panose="02020603050405020304" pitchFamily="18" charset="0"/>
                <a:cs typeface="Times New Roman" pitchFamily="18" charset="0"/>
              </a:rPr>
              <a:t>No suit in a civil court by the firm or other co-partners against any third party</a:t>
            </a:r>
          </a:p>
          <a:p>
            <a:pPr algn="just">
              <a:defRPr/>
            </a:pPr>
            <a:r>
              <a:rPr lang="en-US" sz="8800" dirty="0">
                <a:latin typeface="Times New Roman" panose="02020603050405020304" pitchFamily="18" charset="0"/>
                <a:cs typeface="Times New Roman" pitchFamily="18" charset="0"/>
              </a:rPr>
              <a:t>If the firm registration is not done, then the firm or any other person on its behalf cannot file a suit against a third party for breach of contract which the firm has entered into. Further, the person filing the suit on behalf of the firm should be in the register of the firm as a partner.</a:t>
            </a:r>
          </a:p>
          <a:p>
            <a:pPr algn="just">
              <a:buNone/>
              <a:defRPr/>
            </a:pPr>
            <a:r>
              <a:rPr lang="en-US" sz="8800" b="1" dirty="0">
                <a:latin typeface="Times New Roman" panose="02020603050405020304" pitchFamily="18" charset="0"/>
                <a:cs typeface="Times New Roman" pitchFamily="18" charset="0"/>
              </a:rPr>
              <a:t> No relief to partners for set-o­ff of claim</a:t>
            </a:r>
          </a:p>
          <a:p>
            <a:pPr algn="just">
              <a:defRPr/>
            </a:pPr>
            <a:r>
              <a:rPr lang="en-US" sz="8800" dirty="0">
                <a:latin typeface="Times New Roman" panose="02020603050405020304" pitchFamily="18" charset="0"/>
                <a:cs typeface="Times New Roman" pitchFamily="18" charset="0"/>
              </a:rPr>
              <a:t>Without firm registration, any action brought against the firm by a third party having a value of more than Rs. 100 cannot be set-off by the firm or any of its partners. Pursuance of other proceedings to enforce rights arising from the contract cannot be done either.</a:t>
            </a:r>
          </a:p>
          <a:p>
            <a:pPr algn="just">
              <a:buNone/>
              <a:defRPr/>
            </a:pPr>
            <a:r>
              <a:rPr lang="en-US" sz="8800" b="1" dirty="0">
                <a:latin typeface="Times New Roman" panose="02020603050405020304" pitchFamily="18" charset="0"/>
                <a:cs typeface="Times New Roman" pitchFamily="18" charset="0"/>
              </a:rPr>
              <a:t>An aggrieved partner cannot bring legal action against other partner or the firm</a:t>
            </a:r>
          </a:p>
          <a:p>
            <a:pPr algn="just">
              <a:defRPr/>
            </a:pPr>
            <a:r>
              <a:rPr lang="en-US" sz="8800" dirty="0">
                <a:latin typeface="Times New Roman" panose="02020603050405020304" pitchFamily="18" charset="0"/>
                <a:cs typeface="Times New Roman" pitchFamily="18" charset="0"/>
              </a:rPr>
              <a:t>A partner of the firm or any person on his behalf cannot bring legal action against the firm or against any partner (or alleged to be a partner) if firm registration is not done. However, if the firm is dissolved, then such a person can sue the firm for dissolution it accounts and realization of his share in the firm’s property.</a:t>
            </a:r>
          </a:p>
          <a:p>
            <a:pPr marL="0" indent="0" algn="just">
              <a:buNone/>
            </a:pPr>
            <a:r>
              <a:rPr lang="en-US" sz="8800" b="1" dirty="0">
                <a:latin typeface="Times New Roman" panose="02020603050405020304" pitchFamily="18" charset="0"/>
                <a:cs typeface="Times New Roman" panose="02020603050405020304" pitchFamily="18" charset="0"/>
              </a:rPr>
              <a:t>Firm Cannot Sue Third Parties</a:t>
            </a:r>
          </a:p>
          <a:p>
            <a:pPr algn="just"/>
            <a:r>
              <a:rPr lang="en-US" sz="8800" dirty="0">
                <a:latin typeface="Times New Roman" panose="02020603050405020304" pitchFamily="18" charset="0"/>
                <a:cs typeface="Times New Roman" panose="02020603050405020304" pitchFamily="18" charset="0"/>
              </a:rPr>
              <a:t>An unregistered firm </a:t>
            </a:r>
            <a:r>
              <a:rPr lang="en-US" sz="8800" b="1" dirty="0">
                <a:latin typeface="Times New Roman" panose="02020603050405020304" pitchFamily="18" charset="0"/>
                <a:cs typeface="Times New Roman" panose="02020603050405020304" pitchFamily="18" charset="0"/>
              </a:rPr>
              <a:t>cannot file a suit</a:t>
            </a:r>
            <a:r>
              <a:rPr lang="en-US" sz="8800" dirty="0">
                <a:latin typeface="Times New Roman" panose="02020603050405020304" pitchFamily="18" charset="0"/>
                <a:cs typeface="Times New Roman" panose="02020603050405020304" pitchFamily="18" charset="0"/>
              </a:rPr>
              <a:t> against a third party to enforce contractual rights.</a:t>
            </a:r>
            <a:br>
              <a:rPr lang="en-US" sz="8800" dirty="0">
                <a:latin typeface="Times New Roman" panose="02020603050405020304" pitchFamily="18" charset="0"/>
                <a:cs typeface="Times New Roman" panose="02020603050405020304" pitchFamily="18" charset="0"/>
              </a:rPr>
            </a:br>
            <a:r>
              <a:rPr lang="en-US" sz="8800" dirty="0">
                <a:latin typeface="Times New Roman" panose="02020603050405020304" pitchFamily="18" charset="0"/>
                <a:cs typeface="Times New Roman" panose="02020603050405020304" pitchFamily="18" charset="0"/>
              </a:rPr>
              <a:t>An unregistered firm cannot sue a customer for non-payment of dues.</a:t>
            </a:r>
          </a:p>
          <a:p>
            <a:pPr algn="just">
              <a:defRPr/>
            </a:pPr>
            <a:endParaRPr lang="en-US" sz="8800" dirty="0">
              <a:latin typeface="Times New Roman" panose="02020603050405020304" pitchFamily="18" charset="0"/>
              <a:cs typeface="Times New Roman" panose="02020603050405020304" pitchFamily="18" charset="0"/>
            </a:endParaRPr>
          </a:p>
          <a:p>
            <a:pPr>
              <a:defRPr/>
            </a:pPr>
            <a:endParaRPr lang="en-US" dirty="0"/>
          </a:p>
        </p:txBody>
      </p:sp>
    </p:spTree>
    <p:extLst>
      <p:ext uri="{BB962C8B-B14F-4D97-AF65-F5344CB8AC3E}">
        <p14:creationId xmlns:p14="http://schemas.microsoft.com/office/powerpoint/2010/main" val="1744754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981200" y="274638"/>
            <a:ext cx="8229600" cy="710882"/>
          </a:xfrm>
        </p:spPr>
        <p:txBody>
          <a:bodyPr/>
          <a:lstStyle/>
          <a:p>
            <a:pPr algn="ctr" eaLnBrk="1" hangingPunct="1"/>
            <a:r>
              <a:rPr lang="en-US" dirty="0">
                <a:latin typeface="Times New Roman" panose="02020603050405020304" pitchFamily="18" charset="0"/>
                <a:cs typeface="Times New Roman" panose="02020603050405020304" pitchFamily="18" charset="0"/>
              </a:rPr>
              <a:t>Question&amp; Answer</a:t>
            </a:r>
            <a:endParaRPr lang="en-US" dirty="0"/>
          </a:p>
        </p:txBody>
      </p:sp>
      <p:sp>
        <p:nvSpPr>
          <p:cNvPr id="3" name="Content Placeholder 2"/>
          <p:cNvSpPr>
            <a:spLocks noGrp="1"/>
          </p:cNvSpPr>
          <p:nvPr>
            <p:ph idx="1"/>
          </p:nvPr>
        </p:nvSpPr>
        <p:spPr>
          <a:xfrm>
            <a:off x="334851" y="1090523"/>
            <a:ext cx="11706895" cy="5492839"/>
          </a:xfrm>
        </p:spPr>
        <p:txBody>
          <a:bodyPr rtlCol="0">
            <a:normAutofit fontScale="32500" lnSpcReduction="20000"/>
          </a:bodyPr>
          <a:lstStyle/>
          <a:p>
            <a:pPr algn="just">
              <a:defRPr/>
            </a:pPr>
            <a:r>
              <a:rPr lang="en-US" sz="8000" dirty="0">
                <a:latin typeface="Times New Roman" pitchFamily="18" charset="0"/>
                <a:cs typeface="Times New Roman" pitchFamily="18" charset="0"/>
              </a:rPr>
              <a:t>PJO &amp; Co. is a registered partnership firm. The registration was done in 2015. Peter, John, and Oliver are partners of the firm. In 2016, Peter dies. A year later, in 2017, John and Oliver sue Richard on behalf of PJO &amp; Co. without fresh registration. Is the suit maintainable? John and Oliver take a new partner, Louis, in 2017 and then file a suit against Richard without fresh registration. Is this suit maintainable?</a:t>
            </a:r>
          </a:p>
          <a:p>
            <a:pPr algn="just">
              <a:defRPr/>
            </a:pPr>
            <a:r>
              <a:rPr lang="en-US" sz="8000" dirty="0">
                <a:latin typeface="Times New Roman" pitchFamily="18" charset="0"/>
                <a:cs typeface="Times New Roman" pitchFamily="18" charset="0"/>
              </a:rPr>
              <a:t>Answer: According to Section 69, of the Indian Partnership Act, 1932, the plaintiff needs to fulfill the following two conditions:</a:t>
            </a:r>
          </a:p>
          <a:p>
            <a:pPr algn="just">
              <a:defRPr/>
            </a:pPr>
            <a:r>
              <a:rPr lang="en-US" sz="8000" dirty="0">
                <a:latin typeface="Times New Roman" pitchFamily="18" charset="0"/>
                <a:cs typeface="Times New Roman" pitchFamily="18" charset="0"/>
              </a:rPr>
              <a:t>The suit is instituted by or on behalf of a registered firm</a:t>
            </a:r>
          </a:p>
          <a:p>
            <a:pPr algn="just">
              <a:defRPr/>
            </a:pPr>
            <a:r>
              <a:rPr lang="en-US" sz="8000" dirty="0">
                <a:latin typeface="Times New Roman" pitchFamily="18" charset="0"/>
                <a:cs typeface="Times New Roman" pitchFamily="18" charset="0"/>
              </a:rPr>
              <a:t>The person suing is a partner in the firm on record</a:t>
            </a:r>
          </a:p>
          <a:p>
            <a:pPr algn="just">
              <a:defRPr/>
            </a:pPr>
            <a:r>
              <a:rPr lang="en-US" sz="8000" dirty="0">
                <a:latin typeface="Times New Roman" pitchFamily="18" charset="0"/>
                <a:cs typeface="Times New Roman" pitchFamily="18" charset="0"/>
              </a:rPr>
              <a:t>In the example above, the case is filed by John and Oliver on behalf of PJO &amp; Co., which is a registered firm. Also, both John and Oliver are partners of the firm on record. Hence, the suit filed by them against Richard is maintainable.</a:t>
            </a:r>
          </a:p>
          <a:p>
            <a:pPr algn="just">
              <a:defRPr/>
            </a:pPr>
            <a:r>
              <a:rPr lang="en-US" sz="8000" dirty="0">
                <a:latin typeface="Times New Roman" pitchFamily="18" charset="0"/>
                <a:cs typeface="Times New Roman" pitchFamily="18" charset="0"/>
              </a:rPr>
              <a:t>It is mandatory to notify the Registrar when a new partner is introduced in a firm. The Registrar makes a note of it in the Register of Firms. All partners mentioned in this register are partners permitted to take legal action against a third party. In the example above, since Louis’ name has not been included as a partner with the Registrar, PJO &amp; Co. cannot sue Richard.</a:t>
            </a:r>
          </a:p>
          <a:p>
            <a:pPr>
              <a:defRPr/>
            </a:pPr>
            <a:endParaRPr lang="en-US" dirty="0"/>
          </a:p>
        </p:txBody>
      </p:sp>
    </p:spTree>
    <p:extLst>
      <p:ext uri="{BB962C8B-B14F-4D97-AF65-F5344CB8AC3E}">
        <p14:creationId xmlns:p14="http://schemas.microsoft.com/office/powerpoint/2010/main" val="4132489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301172" y="234496"/>
            <a:ext cx="4662714" cy="636361"/>
          </a:xfrm>
        </p:spPr>
        <p:txBody>
          <a:bodyPr/>
          <a:lstStyle/>
          <a:p>
            <a:pPr algn="ctr" eaLnBrk="1" hangingPunct="1"/>
            <a:r>
              <a:rPr lang="en-US" sz="3600" b="1" dirty="0">
                <a:latin typeface="Times New Roman" panose="02020603050405020304" pitchFamily="18" charset="0"/>
                <a:cs typeface="Times New Roman" panose="02020603050405020304" pitchFamily="18" charset="0"/>
              </a:rPr>
              <a:t>Dissolution of a Firm</a:t>
            </a:r>
            <a:endParaRPr lang="en-US" sz="3600" dirty="0">
              <a:latin typeface="Times New Roman" panose="02020603050405020304" pitchFamily="18" charset="0"/>
              <a:cs typeface="Times New Roman" panose="02020603050405020304" pitchFamily="18" charset="0"/>
            </a:endParaRPr>
          </a:p>
        </p:txBody>
      </p:sp>
      <p:pic>
        <p:nvPicPr>
          <p:cNvPr id="19459" name="Picture 2" descr="C:\Users\HP\Desktop\Dissolution.jp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tretch>
            <a:fillRect/>
          </a:stretch>
        </p:blipFill>
        <p:spPr>
          <a:xfrm>
            <a:off x="301172" y="1278651"/>
            <a:ext cx="2472508" cy="2663429"/>
          </a:xfrm>
          <a:noFill/>
        </p:spPr>
      </p:pic>
      <p:sp>
        <p:nvSpPr>
          <p:cNvPr id="2" name="Rectangle 1"/>
          <p:cNvSpPr/>
          <p:nvPr/>
        </p:nvSpPr>
        <p:spPr>
          <a:xfrm>
            <a:off x="3058160" y="870857"/>
            <a:ext cx="8940800" cy="1323439"/>
          </a:xfrm>
          <a:prstGeom prst="rect">
            <a:avLst/>
          </a:prstGeom>
        </p:spPr>
        <p:txBody>
          <a:bodyPr wrap="square">
            <a:spAutoFit/>
          </a:bodyPr>
          <a:lstStyle/>
          <a:p>
            <a:pPr algn="just">
              <a:defRPr/>
            </a:pPr>
            <a:r>
              <a:rPr lang="en-US" sz="2000" dirty="0">
                <a:latin typeface="Times New Roman" pitchFamily="18" charset="0"/>
                <a:cs typeface="Times New Roman" pitchFamily="18" charset="0"/>
              </a:rPr>
              <a:t>When the partnership between all the partners of a firm is dissolved, then it is called dissolution of a firm. It is important to note that the relationship between all partners should be dissolved for the firm to be dissolved. Let us look at the legal provisions for the dissolution of a firm.</a:t>
            </a:r>
          </a:p>
        </p:txBody>
      </p:sp>
      <p:sp>
        <p:nvSpPr>
          <p:cNvPr id="4" name="TextBox 3">
            <a:extLst>
              <a:ext uri="{FF2B5EF4-FFF2-40B4-BE49-F238E27FC236}">
                <a16:creationId xmlns:a16="http://schemas.microsoft.com/office/drawing/2014/main" id="{87C45439-3756-5F1A-88B8-D0DC3E72F2D6}"/>
              </a:ext>
            </a:extLst>
          </p:cNvPr>
          <p:cNvSpPr txBox="1"/>
          <p:nvPr/>
        </p:nvSpPr>
        <p:spPr>
          <a:xfrm>
            <a:off x="3058160" y="2194296"/>
            <a:ext cx="8752114" cy="4612288"/>
          </a:xfrm>
          <a:prstGeom prst="rect">
            <a:avLst/>
          </a:prstGeom>
          <a:noFill/>
        </p:spPr>
        <p:txBody>
          <a:bodyPr wrap="square">
            <a:spAutoFit/>
          </a:bodyPr>
          <a:lstStyle/>
          <a:p>
            <a:pPr algn="just">
              <a:defRPr/>
            </a:pPr>
            <a:r>
              <a:rPr lang="en-US" sz="2200" b="1" dirty="0">
                <a:latin typeface="Times New Roman" pitchFamily="18" charset="0"/>
                <a:cs typeface="Times New Roman" pitchFamily="18" charset="0"/>
              </a:rPr>
              <a:t>Modes of Dissolution of a Firm</a:t>
            </a:r>
          </a:p>
          <a:p>
            <a:pPr algn="just">
              <a:defRPr/>
            </a:pPr>
            <a:r>
              <a:rPr lang="en-US" sz="1800" dirty="0">
                <a:latin typeface="Times New Roman" pitchFamily="18" charset="0"/>
                <a:cs typeface="Times New Roman" pitchFamily="18" charset="0"/>
              </a:rPr>
              <a:t>A firm can be dissolved either voluntarily or by an order from the Court.</a:t>
            </a:r>
          </a:p>
          <a:p>
            <a:pPr marL="285750" indent="-285750" algn="just">
              <a:buFont typeface="Wingdings" panose="05000000000000000000" pitchFamily="2" charset="2"/>
              <a:buChar char="q"/>
              <a:defRPr/>
            </a:pPr>
            <a:r>
              <a:rPr lang="en-US" sz="1800" b="1" dirty="0">
                <a:latin typeface="Times New Roman" pitchFamily="18" charset="0"/>
                <a:cs typeface="Times New Roman" pitchFamily="18" charset="0"/>
              </a:rPr>
              <a:t>Voluntary Dissolution of a Firm (without the order of the Court) </a:t>
            </a:r>
            <a:r>
              <a:rPr lang="en-US" sz="1800" dirty="0">
                <a:latin typeface="Times New Roman" pitchFamily="18" charset="0"/>
                <a:cs typeface="Times New Roman" pitchFamily="18" charset="0"/>
              </a:rPr>
              <a:t>Voluntary dissolution can be of four types. </a:t>
            </a:r>
          </a:p>
          <a:p>
            <a:pPr marL="285750" indent="-285750" algn="just">
              <a:buFont typeface="Wingdings" panose="05000000000000000000" pitchFamily="2" charset="2"/>
              <a:buChar char="q"/>
              <a:defRPr/>
            </a:pPr>
            <a:r>
              <a:rPr lang="en-US" sz="1800" b="1" dirty="0">
                <a:latin typeface="Times New Roman" pitchFamily="18" charset="0"/>
                <a:cs typeface="Times New Roman" pitchFamily="18" charset="0"/>
              </a:rPr>
              <a:t>By Agreement (Section 40)</a:t>
            </a:r>
          </a:p>
          <a:p>
            <a:pPr algn="just">
              <a:defRPr/>
            </a:pPr>
            <a:r>
              <a:rPr lang="en-US" sz="1800" dirty="0">
                <a:latin typeface="Times New Roman" pitchFamily="18" charset="0"/>
                <a:cs typeface="Times New Roman" pitchFamily="18" charset="0"/>
              </a:rPr>
              <a:t>According to Section 40 of the Indian Partnership Act, 1932, partners can dissolve the partnership by agreement and with the consent of all partners. Partners can also dissolve the partnership based on a contract that has already been made.</a:t>
            </a:r>
          </a:p>
          <a:p>
            <a:pPr marL="285750" indent="-285750" algn="just">
              <a:buFont typeface="Wingdings" panose="05000000000000000000" pitchFamily="2" charset="2"/>
              <a:buChar char="q"/>
              <a:defRPr/>
            </a:pPr>
            <a:r>
              <a:rPr lang="en-US" sz="1800" b="1" dirty="0">
                <a:latin typeface="Times New Roman" pitchFamily="18" charset="0"/>
                <a:cs typeface="Times New Roman" pitchFamily="18" charset="0"/>
              </a:rPr>
              <a:t>Compulsory Dissolution (Section 41)</a:t>
            </a:r>
          </a:p>
          <a:p>
            <a:pPr algn="just">
              <a:defRPr/>
            </a:pPr>
            <a:r>
              <a:rPr lang="en-US" sz="1800" dirty="0">
                <a:latin typeface="Times New Roman" pitchFamily="18" charset="0"/>
                <a:cs typeface="Times New Roman" pitchFamily="18" charset="0"/>
              </a:rPr>
              <a:t>An event can make it unlawful for the firm to carry on its business. In such cases, it is compulsory for the firm to dissolve. However, if a firm carries on more than one undertakings and one of them becomes illegal, then it is not compulsory for the firm to dissolve. It can continue carrying out the legal undertakings. Section 41 of the Indian Partnership Act, 1932, specifies this type of voluntary dissolution.</a:t>
            </a:r>
            <a:endParaRPr lang="en-US" dirty="0">
              <a:latin typeface="Times New Roman" pitchFamily="18" charset="0"/>
              <a:cs typeface="Times New Roman" pitchFamily="18" charset="0"/>
            </a:endParaRPr>
          </a:p>
          <a:p>
            <a:pPr marL="285750" indent="-285750" algn="just">
              <a:buFont typeface="Wingdings" panose="05000000000000000000" pitchFamily="2" charset="2"/>
              <a:buChar char="q"/>
              <a:defRPr/>
            </a:pPr>
            <a:r>
              <a:rPr lang="en-US" b="1" dirty="0">
                <a:latin typeface="Times New Roman" pitchFamily="18" charset="0"/>
                <a:cs typeface="Times New Roman" pitchFamily="18" charset="0"/>
              </a:rPr>
              <a:t>On the happening of certain contingencies (Section 42)</a:t>
            </a:r>
          </a:p>
          <a:p>
            <a:pPr algn="just">
              <a:lnSpc>
                <a:spcPct val="120000"/>
              </a:lnSpc>
              <a:defRPr/>
            </a:pPr>
            <a:r>
              <a:rPr lang="en-US" dirty="0">
                <a:latin typeface="Times New Roman" pitchFamily="18" charset="0"/>
                <a:cs typeface="Times New Roman" pitchFamily="18" charset="0"/>
              </a:rPr>
              <a:t>Some firms will dissolve on the expiry of fixed term. </a:t>
            </a:r>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4107028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2521857" y="161926"/>
            <a:ext cx="6593114" cy="447674"/>
          </a:xfrm>
        </p:spPr>
        <p:txBody>
          <a:bodyPr>
            <a:normAutofit fontScale="90000"/>
          </a:bodyPr>
          <a:lstStyle/>
          <a:p>
            <a:pPr algn="ctr" eaLnBrk="1" hangingPunct="1"/>
            <a:r>
              <a:rPr lang="en-US" b="1" dirty="0">
                <a:latin typeface="Times New Roman" panose="02020603050405020304" pitchFamily="18" charset="0"/>
                <a:cs typeface="Times New Roman" panose="02020603050405020304" pitchFamily="18" charset="0"/>
              </a:rPr>
              <a:t>Continue…….</a:t>
            </a:r>
          </a:p>
        </p:txBody>
      </p:sp>
      <p:sp>
        <p:nvSpPr>
          <p:cNvPr id="3" name="Content Placeholder 2"/>
          <p:cNvSpPr>
            <a:spLocks noGrp="1"/>
          </p:cNvSpPr>
          <p:nvPr>
            <p:ph idx="1"/>
          </p:nvPr>
        </p:nvSpPr>
        <p:spPr>
          <a:xfrm>
            <a:off x="246017" y="609600"/>
            <a:ext cx="11854543" cy="6117771"/>
          </a:xfrm>
        </p:spPr>
        <p:txBody>
          <a:bodyPr rtlCol="0">
            <a:normAutofit fontScale="40000" lnSpcReduction="20000"/>
          </a:bodyPr>
          <a:lstStyle/>
          <a:p>
            <a:pPr>
              <a:buNone/>
              <a:defRPr/>
            </a:pPr>
            <a:r>
              <a:rPr lang="en-US" sz="8000" b="1" dirty="0">
                <a:latin typeface="Times New Roman" pitchFamily="18" charset="0"/>
                <a:cs typeface="Times New Roman" pitchFamily="18" charset="0"/>
              </a:rPr>
              <a:t>Dissolution of a Firm by the Court</a:t>
            </a:r>
          </a:p>
          <a:p>
            <a:pPr marL="0" indent="0">
              <a:buNone/>
              <a:defRPr/>
            </a:pPr>
            <a:r>
              <a:rPr lang="en-US" sz="5500" dirty="0">
                <a:latin typeface="Times New Roman" pitchFamily="18" charset="0"/>
                <a:cs typeface="Times New Roman" pitchFamily="18" charset="0"/>
              </a:rPr>
              <a:t>According to Section 44 of the Indian Partnership Act, 1932, the Court may dissolve a firm on the suit of a partner on any of the following grounds:</a:t>
            </a:r>
          </a:p>
          <a:p>
            <a:pPr>
              <a:buNone/>
              <a:defRPr/>
            </a:pPr>
            <a:r>
              <a:rPr lang="en-US" sz="7200" b="1" dirty="0">
                <a:latin typeface="Times New Roman" pitchFamily="18" charset="0"/>
                <a:cs typeface="Times New Roman" pitchFamily="18" charset="0"/>
              </a:rPr>
              <a:t>1] Insanity/Unsound mind</a:t>
            </a:r>
          </a:p>
          <a:p>
            <a:pPr marL="0" indent="0">
              <a:buNone/>
              <a:defRPr/>
            </a:pPr>
            <a:r>
              <a:rPr lang="en-US" sz="5500" dirty="0">
                <a:latin typeface="Times New Roman" pitchFamily="18" charset="0"/>
                <a:cs typeface="Times New Roman" pitchFamily="18" charset="0"/>
              </a:rPr>
              <a:t>If an active partner becomes insane or of an unsound mind, and other partners or the next friend files a suit in the court, then the court may dissolve the firm. Two things to remember here:</a:t>
            </a:r>
          </a:p>
          <a:p>
            <a:pPr marL="0" indent="0">
              <a:buNone/>
              <a:defRPr/>
            </a:pPr>
            <a:r>
              <a:rPr lang="en-US" sz="5500" dirty="0">
                <a:latin typeface="Times New Roman" pitchFamily="18" charset="0"/>
                <a:cs typeface="Times New Roman" pitchFamily="18" charset="0"/>
              </a:rPr>
              <a:t>The partner is not a sleeping partner</a:t>
            </a:r>
          </a:p>
          <a:p>
            <a:pPr marL="0" indent="0">
              <a:buNone/>
              <a:defRPr/>
            </a:pPr>
            <a:r>
              <a:rPr lang="en-US" sz="5500" dirty="0">
                <a:latin typeface="Times New Roman" pitchFamily="18" charset="0"/>
                <a:cs typeface="Times New Roman" pitchFamily="18" charset="0"/>
              </a:rPr>
              <a:t>The sickness is not temporary</a:t>
            </a:r>
          </a:p>
          <a:p>
            <a:pPr algn="just">
              <a:buNone/>
              <a:defRPr/>
            </a:pPr>
            <a:r>
              <a:rPr lang="en-US" sz="7200" b="1" dirty="0">
                <a:latin typeface="Times New Roman" pitchFamily="18" charset="0"/>
                <a:cs typeface="Times New Roman" pitchFamily="18" charset="0"/>
              </a:rPr>
              <a:t>2] Permanent Incapacity</a:t>
            </a:r>
          </a:p>
          <a:p>
            <a:pPr algn="just">
              <a:defRPr/>
            </a:pPr>
            <a:r>
              <a:rPr lang="en-US" sz="5500" dirty="0">
                <a:latin typeface="Times New Roman" pitchFamily="18" charset="0"/>
                <a:cs typeface="Times New Roman" pitchFamily="18" charset="0"/>
              </a:rPr>
              <a:t>If a partner becomes permanently incapable of performing his duties as a partner, and other partners file a suit in the court, then the court may dissolve the firm. Also, the incapacity may arise from a physical disability, illness, etc.</a:t>
            </a:r>
          </a:p>
          <a:p>
            <a:pPr algn="just">
              <a:buNone/>
              <a:defRPr/>
            </a:pPr>
            <a:r>
              <a:rPr lang="en-US" sz="7200" b="1" dirty="0">
                <a:latin typeface="Times New Roman" pitchFamily="18" charset="0"/>
                <a:cs typeface="Times New Roman" pitchFamily="18" charset="0"/>
              </a:rPr>
              <a:t>3] Misconduct</a:t>
            </a:r>
          </a:p>
          <a:p>
            <a:pPr algn="just">
              <a:defRPr/>
            </a:pPr>
            <a:r>
              <a:rPr lang="en-US" sz="5500" dirty="0">
                <a:latin typeface="Times New Roman" pitchFamily="18" charset="0"/>
                <a:cs typeface="Times New Roman" pitchFamily="18" charset="0"/>
              </a:rPr>
              <a:t>When a partner is guilty of conduct which is likely to affect prejudicially the carrying on of the business, and the other partners file a suit in the court, then the court may dissolve the firm. Further, it is not important that the misconduct is related to the conduct of the business. The court looks at the effect of the misconduct on the business along with the nature of the business.</a:t>
            </a:r>
          </a:p>
          <a:p>
            <a:pPr>
              <a:defRPr/>
            </a:pPr>
            <a:endParaRPr lang="en-US" dirty="0">
              <a:latin typeface="Times New Roman" pitchFamily="18" charset="0"/>
              <a:cs typeface="Times New Roman" pitchFamily="18" charset="0"/>
            </a:endParaRPr>
          </a:p>
          <a:p>
            <a:pPr>
              <a:defRPr/>
            </a:pPr>
            <a:endParaRPr lang="en-US" dirty="0"/>
          </a:p>
        </p:txBody>
      </p:sp>
    </p:spTree>
    <p:extLst>
      <p:ext uri="{BB962C8B-B14F-4D97-AF65-F5344CB8AC3E}">
        <p14:creationId xmlns:p14="http://schemas.microsoft.com/office/powerpoint/2010/main" val="3100487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rtlCol="0">
            <a:normAutofit fontScale="90000"/>
          </a:bodyPr>
          <a:lstStyle/>
          <a:p>
            <a:pPr algn="ctr">
              <a:defRPr/>
            </a:pPr>
            <a:br>
              <a:rPr lang="en-US" b="1" dirty="0">
                <a:latin typeface="Times New Roman" pitchFamily="18" charset="0"/>
                <a:cs typeface="Times New Roman" pitchFamily="18" charset="0"/>
              </a:rPr>
            </a:br>
            <a:r>
              <a:rPr lang="en-US" b="1" dirty="0">
                <a:latin typeface="Times New Roman" pitchFamily="18" charset="0"/>
                <a:cs typeface="Times New Roman" pitchFamily="18" charset="0"/>
              </a:rPr>
              <a:t>Rights of a Minor Partner</a:t>
            </a:r>
            <a:br>
              <a:rPr lang="en-US" b="1" dirty="0"/>
            </a:br>
            <a:endParaRPr lang="en-US" dirty="0"/>
          </a:p>
        </p:txBody>
      </p:sp>
      <p:sp>
        <p:nvSpPr>
          <p:cNvPr id="3" name="Content Placeholder 2"/>
          <p:cNvSpPr>
            <a:spLocks noGrp="1"/>
          </p:cNvSpPr>
          <p:nvPr>
            <p:ph idx="1"/>
          </p:nvPr>
        </p:nvSpPr>
        <p:spPr>
          <a:xfrm>
            <a:off x="595085" y="1219201"/>
            <a:ext cx="11248571" cy="4906963"/>
          </a:xfrm>
        </p:spPr>
        <p:txBody>
          <a:bodyPr rtlCol="0">
            <a:normAutofit fontScale="92500" lnSpcReduction="20000"/>
          </a:bodyPr>
          <a:lstStyle/>
          <a:p>
            <a:pPr algn="just">
              <a:defRPr/>
            </a:pPr>
            <a:r>
              <a:rPr lang="en-US" dirty="0">
                <a:latin typeface="Times New Roman" pitchFamily="18" charset="0"/>
                <a:cs typeface="Times New Roman" pitchFamily="18" charset="0"/>
              </a:rPr>
              <a:t>Once the minor is given the benefits in a partnership there are certain rights that he enjoys. Let us take a look at the rights of a minor partner.</a:t>
            </a:r>
          </a:p>
          <a:p>
            <a:pPr algn="just">
              <a:defRPr/>
            </a:pPr>
            <a:r>
              <a:rPr lang="en-US" dirty="0">
                <a:latin typeface="Times New Roman" pitchFamily="18" charset="0"/>
                <a:cs typeface="Times New Roman" pitchFamily="18" charset="0"/>
              </a:rPr>
              <a:t>A minor partner will obviously have the right to his share of the profits of the firm. But the minor partner is not liable for any losses beyond his interests in the firm. So, a minor partner’s personal assets cannot be liquidated to pay the firms liabilities.</a:t>
            </a:r>
          </a:p>
          <a:p>
            <a:pPr algn="just">
              <a:defRPr/>
            </a:pPr>
            <a:r>
              <a:rPr lang="en-US" dirty="0">
                <a:latin typeface="Times New Roman" pitchFamily="18" charset="0"/>
                <a:cs typeface="Times New Roman" pitchFamily="18" charset="0"/>
              </a:rPr>
              <a:t>He can also like any other partner inspect the books of accounts of the firm. He can demand a copy of the books as well.</a:t>
            </a:r>
          </a:p>
          <a:p>
            <a:pPr algn="just">
              <a:defRPr/>
            </a:pPr>
            <a:r>
              <a:rPr lang="en-US" dirty="0">
                <a:latin typeface="Times New Roman" pitchFamily="18" charset="0"/>
                <a:cs typeface="Times New Roman" pitchFamily="18" charset="0"/>
              </a:rPr>
              <a:t>If necessary, he can sue any or all of the other partners for his share of the profits or benefits.</a:t>
            </a:r>
          </a:p>
          <a:p>
            <a:pPr algn="just">
              <a:defRPr/>
            </a:pPr>
            <a:r>
              <a:rPr lang="en-US" dirty="0">
                <a:latin typeface="Times New Roman" pitchFamily="18" charset="0"/>
                <a:cs typeface="Times New Roman" pitchFamily="18" charset="0"/>
              </a:rPr>
              <a:t>A minor partner on attaining majority has the right to become a partner of the firm. He has six months from attaining majority to decide if he will execute this right. Whether he decides to become a partner or not he must give public notice about the same.</a:t>
            </a:r>
          </a:p>
          <a:p>
            <a:pPr>
              <a:defRPr/>
            </a:pPr>
            <a:endParaRPr lang="en-US" dirty="0"/>
          </a:p>
        </p:txBody>
      </p:sp>
    </p:spTree>
    <p:extLst>
      <p:ext uri="{BB962C8B-B14F-4D97-AF65-F5344CB8AC3E}">
        <p14:creationId xmlns:p14="http://schemas.microsoft.com/office/powerpoint/2010/main" val="3316292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0915" y="0"/>
            <a:ext cx="11306628" cy="914401"/>
          </a:xfrm>
        </p:spPr>
        <p:txBody>
          <a:bodyPr rtlCol="0">
            <a:normAutofit fontScale="90000"/>
          </a:bodyPr>
          <a:lstStyle/>
          <a:p>
            <a:pPr algn="ctr">
              <a:defRPr/>
            </a:pPr>
            <a:br>
              <a:rPr lang="en-US" b="1" dirty="0"/>
            </a:br>
            <a:r>
              <a:rPr lang="en-US" b="1" dirty="0">
                <a:latin typeface="Times New Roman" panose="02020603050405020304" pitchFamily="18" charset="0"/>
                <a:cs typeface="Times New Roman" panose="02020603050405020304" pitchFamily="18" charset="0"/>
              </a:rPr>
              <a:t>Liabilities of a Minor Partner</a:t>
            </a:r>
            <a:br>
              <a:rPr lang="en-US" b="1" dirty="0"/>
            </a:br>
            <a:endParaRPr lang="en-US" dirty="0"/>
          </a:p>
        </p:txBody>
      </p:sp>
      <p:sp>
        <p:nvSpPr>
          <p:cNvPr id="3" name="Content Placeholder 2"/>
          <p:cNvSpPr>
            <a:spLocks noGrp="1"/>
          </p:cNvSpPr>
          <p:nvPr>
            <p:ph idx="1"/>
          </p:nvPr>
        </p:nvSpPr>
        <p:spPr>
          <a:xfrm>
            <a:off x="232229" y="914401"/>
            <a:ext cx="11814628" cy="5211763"/>
          </a:xfrm>
        </p:spPr>
        <p:txBody>
          <a:bodyPr rtlCol="0">
            <a:normAutofit fontScale="25000" lnSpcReduction="20000"/>
          </a:bodyPr>
          <a:lstStyle/>
          <a:p>
            <a:pPr algn="just">
              <a:defRPr/>
            </a:pPr>
            <a:r>
              <a:rPr lang="en-US" sz="9600" dirty="0">
                <a:latin typeface="Times New Roman" pitchFamily="18" charset="0"/>
                <a:cs typeface="Times New Roman" pitchFamily="18" charset="0"/>
              </a:rPr>
              <a:t>A minor cannot be held personally liable for the losses of the firm. And if the firm declares insolvency the minor’s share is kept with the Official Receiver</a:t>
            </a:r>
          </a:p>
          <a:p>
            <a:pPr algn="just">
              <a:defRPr/>
            </a:pPr>
            <a:r>
              <a:rPr lang="en-US" sz="9600" dirty="0">
                <a:latin typeface="Times New Roman" pitchFamily="18" charset="0"/>
                <a:cs typeface="Times New Roman" pitchFamily="18" charset="0"/>
              </a:rPr>
              <a:t>After turning 18 the minor partner can choose to become a partner of the firm. But he may choose to not become a partner. In this case, </a:t>
            </a:r>
            <a:r>
              <a:rPr lang="en-US" sz="9600" dirty="0">
                <a:highlight>
                  <a:srgbClr val="00FF00"/>
                </a:highlight>
                <a:latin typeface="Times New Roman" pitchFamily="18" charset="0"/>
                <a:cs typeface="Times New Roman" pitchFamily="18" charset="0"/>
              </a:rPr>
              <a:t>the minor partner has to give a public notice about this decision. And the notice has to be given within 6 months of gaining majority. If such a notice is not given even after 6 months then the minor partner will become liable for all acts done by the other partners till the date of such notice.</a:t>
            </a:r>
          </a:p>
          <a:p>
            <a:pPr algn="just">
              <a:defRPr/>
            </a:pPr>
            <a:r>
              <a:rPr lang="en-US" sz="9600" dirty="0">
                <a:latin typeface="Times New Roman" pitchFamily="18" charset="0"/>
                <a:cs typeface="Times New Roman" pitchFamily="18" charset="0"/>
              </a:rPr>
              <a:t>Should the minor partner choose to become a partner he will be liable to all the third parties for the acts done by any and all partners since he was admitted to the benefits of the partnership.</a:t>
            </a:r>
          </a:p>
          <a:p>
            <a:pPr algn="just">
              <a:defRPr/>
            </a:pPr>
            <a:r>
              <a:rPr lang="en-US" sz="9600" dirty="0">
                <a:highlight>
                  <a:srgbClr val="00FF00"/>
                </a:highlight>
                <a:latin typeface="Times New Roman" pitchFamily="18" charset="0"/>
                <a:cs typeface="Times New Roman" pitchFamily="18" charset="0"/>
              </a:rPr>
              <a:t>If he becomes a full-time partner he will be treated as a normal partner and have all the liabilities of one. His share in the profits and property of the firm will remain the same as it was when he was a minor partner.</a:t>
            </a:r>
          </a:p>
          <a:p>
            <a:pPr>
              <a:defRPr/>
            </a:pPr>
            <a:endParaRPr lang="en-US" dirty="0"/>
          </a:p>
          <a:p>
            <a:pPr>
              <a:defRPr/>
            </a:pPr>
            <a:endParaRPr lang="en-US" dirty="0"/>
          </a:p>
        </p:txBody>
      </p:sp>
    </p:spTree>
    <p:extLst>
      <p:ext uri="{BB962C8B-B14F-4D97-AF65-F5344CB8AC3E}">
        <p14:creationId xmlns:p14="http://schemas.microsoft.com/office/powerpoint/2010/main" val="27792633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145144" y="0"/>
            <a:ext cx="11625943" cy="990600"/>
          </a:xfrm>
        </p:spPr>
        <p:txBody>
          <a:bodyPr>
            <a:normAutofit fontScale="90000"/>
          </a:bodyPr>
          <a:lstStyle/>
          <a:p>
            <a:pPr eaLnBrk="1" hangingPunct="1"/>
            <a:r>
              <a:rPr lang="en-US" sz="3500" b="1" dirty="0">
                <a:latin typeface="Times New Roman" panose="02020603050405020304" pitchFamily="18" charset="0"/>
                <a:cs typeface="Times New Roman" panose="02020603050405020304" pitchFamily="18" charset="0"/>
              </a:rPr>
              <a:t>Difference between Dissolution of a firm and Dissolution of a Partnership</a:t>
            </a:r>
            <a:endParaRPr lang="en-US" sz="3500"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2131426"/>
              </p:ext>
            </p:extLst>
          </p:nvPr>
        </p:nvGraphicFramePr>
        <p:xfrm>
          <a:off x="348342" y="990602"/>
          <a:ext cx="11625945" cy="3836710"/>
        </p:xfrm>
        <a:graphic>
          <a:graphicData uri="http://schemas.openxmlformats.org/drawingml/2006/table">
            <a:tbl>
              <a:tblPr firstRow="1" bandRow="1">
                <a:tableStyleId>{5C22544A-7EE6-4342-B048-85BDC9FD1C3A}</a:tableStyleId>
              </a:tblPr>
              <a:tblGrid>
                <a:gridCol w="3875315">
                  <a:extLst>
                    <a:ext uri="{9D8B030D-6E8A-4147-A177-3AD203B41FA5}">
                      <a16:colId xmlns:a16="http://schemas.microsoft.com/office/drawing/2014/main" val="20000"/>
                    </a:ext>
                  </a:extLst>
                </a:gridCol>
                <a:gridCol w="3875315">
                  <a:extLst>
                    <a:ext uri="{9D8B030D-6E8A-4147-A177-3AD203B41FA5}">
                      <a16:colId xmlns:a16="http://schemas.microsoft.com/office/drawing/2014/main" val="20001"/>
                    </a:ext>
                  </a:extLst>
                </a:gridCol>
                <a:gridCol w="3875315">
                  <a:extLst>
                    <a:ext uri="{9D8B030D-6E8A-4147-A177-3AD203B41FA5}">
                      <a16:colId xmlns:a16="http://schemas.microsoft.com/office/drawing/2014/main" val="20002"/>
                    </a:ext>
                  </a:extLst>
                </a:gridCol>
              </a:tblGrid>
              <a:tr h="513824">
                <a:tc>
                  <a:txBody>
                    <a:bodyPr/>
                    <a:lstStyle/>
                    <a:p>
                      <a:pPr algn="l" fontAlgn="ctr"/>
                      <a:r>
                        <a:rPr lang="en-US" sz="2000" b="0" dirty="0">
                          <a:latin typeface="Times New Roman" pitchFamily="18" charset="0"/>
                          <a:cs typeface="Times New Roman" pitchFamily="18" charset="0"/>
                        </a:rPr>
                        <a:t>Parameters</a:t>
                      </a:r>
                    </a:p>
                  </a:txBody>
                  <a:tcPr marL="142875" marR="142875" marT="142879" marB="142879" anchor="ctr"/>
                </a:tc>
                <a:tc>
                  <a:txBody>
                    <a:bodyPr/>
                    <a:lstStyle/>
                    <a:p>
                      <a:pPr algn="l" fontAlgn="ctr"/>
                      <a:r>
                        <a:rPr lang="en-US" sz="2000" b="0" dirty="0">
                          <a:latin typeface="Times New Roman" pitchFamily="18" charset="0"/>
                          <a:cs typeface="Times New Roman" pitchFamily="18" charset="0"/>
                        </a:rPr>
                        <a:t>Dissolution of a Firm</a:t>
                      </a:r>
                    </a:p>
                  </a:txBody>
                  <a:tcPr marL="142875" marR="142875" marT="142879" marB="142879" anchor="ctr"/>
                </a:tc>
                <a:tc>
                  <a:txBody>
                    <a:bodyPr/>
                    <a:lstStyle/>
                    <a:p>
                      <a:pPr algn="l" fontAlgn="ctr"/>
                      <a:r>
                        <a:rPr lang="en-US" sz="2000" b="0" dirty="0">
                          <a:latin typeface="Times New Roman" pitchFamily="18" charset="0"/>
                          <a:cs typeface="Times New Roman" pitchFamily="18" charset="0"/>
                        </a:rPr>
                        <a:t>Dissolution of a Partnership</a:t>
                      </a:r>
                    </a:p>
                  </a:txBody>
                  <a:tcPr marL="142875" marR="142875" marT="142879" marB="142879" anchor="ctr"/>
                </a:tc>
                <a:extLst>
                  <a:ext uri="{0D108BD9-81ED-4DB2-BD59-A6C34878D82A}">
                    <a16:rowId xmlns:a16="http://schemas.microsoft.com/office/drawing/2014/main" val="10000"/>
                  </a:ext>
                </a:extLst>
              </a:tr>
              <a:tr h="790003">
                <a:tc>
                  <a:txBody>
                    <a:bodyPr/>
                    <a:lstStyle/>
                    <a:p>
                      <a:pPr algn="l" fontAlgn="ctr"/>
                      <a:r>
                        <a:rPr lang="en-US" sz="2000" b="0" dirty="0">
                          <a:latin typeface="Times New Roman" pitchFamily="18" charset="0"/>
                          <a:cs typeface="Times New Roman" pitchFamily="18" charset="0"/>
                        </a:rPr>
                        <a:t>Continuation of business</a:t>
                      </a:r>
                    </a:p>
                  </a:txBody>
                  <a:tcPr marL="142875" marR="142875" marT="142879" marB="142879" anchor="ctr"/>
                </a:tc>
                <a:tc>
                  <a:txBody>
                    <a:bodyPr/>
                    <a:lstStyle/>
                    <a:p>
                      <a:pPr algn="l" fontAlgn="ctr"/>
                      <a:r>
                        <a:rPr lang="en-US" sz="2000" b="0" dirty="0">
                          <a:latin typeface="Times New Roman" pitchFamily="18" charset="0"/>
                          <a:cs typeface="Times New Roman" pitchFamily="18" charset="0"/>
                        </a:rPr>
                        <a:t>The business discontinues.</a:t>
                      </a:r>
                    </a:p>
                  </a:txBody>
                  <a:tcPr marL="142875" marR="142875" marT="142879" marB="142879" anchor="ctr"/>
                </a:tc>
                <a:tc>
                  <a:txBody>
                    <a:bodyPr/>
                    <a:lstStyle/>
                    <a:p>
                      <a:pPr algn="l" fontAlgn="ctr"/>
                      <a:r>
                        <a:rPr lang="en-US" sz="2000" b="0" dirty="0">
                          <a:latin typeface="Times New Roman" pitchFamily="18" charset="0"/>
                          <a:cs typeface="Times New Roman" pitchFamily="18" charset="0"/>
                        </a:rPr>
                        <a:t>The business continues. However, the partnership is reconstituted.</a:t>
                      </a:r>
                    </a:p>
                  </a:txBody>
                  <a:tcPr marL="142875" marR="142875" marT="142879" marB="142879" anchor="ctr"/>
                </a:tc>
                <a:extLst>
                  <a:ext uri="{0D108BD9-81ED-4DB2-BD59-A6C34878D82A}">
                    <a16:rowId xmlns:a16="http://schemas.microsoft.com/office/drawing/2014/main" val="10001"/>
                  </a:ext>
                </a:extLst>
              </a:tr>
              <a:tr h="779019">
                <a:tc>
                  <a:txBody>
                    <a:bodyPr/>
                    <a:lstStyle/>
                    <a:p>
                      <a:pPr algn="l" fontAlgn="ctr"/>
                      <a:r>
                        <a:rPr lang="en-US" sz="2000" b="0" dirty="0">
                          <a:latin typeface="Times New Roman" pitchFamily="18" charset="0"/>
                          <a:cs typeface="Times New Roman" pitchFamily="18" charset="0"/>
                        </a:rPr>
                        <a:t>Winding up</a:t>
                      </a:r>
                    </a:p>
                  </a:txBody>
                  <a:tcPr marL="142875" marR="142875" marT="142879" marB="142879" anchor="ctr"/>
                </a:tc>
                <a:tc>
                  <a:txBody>
                    <a:bodyPr/>
                    <a:lstStyle/>
                    <a:p>
                      <a:pPr algn="l" fontAlgn="ctr"/>
                      <a:r>
                        <a:rPr lang="en-US" sz="2000" b="0" dirty="0">
                          <a:latin typeface="Times New Roman" pitchFamily="18" charset="0"/>
                          <a:cs typeface="Times New Roman" pitchFamily="18" charset="0"/>
                        </a:rPr>
                        <a:t>The firm is wound up. Assets are realized and liabilities are settled.</a:t>
                      </a:r>
                    </a:p>
                  </a:txBody>
                  <a:tcPr marL="142875" marR="142875" marT="142879" marB="142879" anchor="ctr"/>
                </a:tc>
                <a:tc>
                  <a:txBody>
                    <a:bodyPr/>
                    <a:lstStyle/>
                    <a:p>
                      <a:pPr algn="l" fontAlgn="ctr"/>
                      <a:r>
                        <a:rPr lang="en-US" sz="2000" b="0" dirty="0">
                          <a:latin typeface="Times New Roman" pitchFamily="18" charset="0"/>
                          <a:cs typeface="Times New Roman" pitchFamily="18" charset="0"/>
                        </a:rPr>
                        <a:t>Assets and liabilities of the firm are only revalued.</a:t>
                      </a:r>
                    </a:p>
                  </a:txBody>
                  <a:tcPr marL="142875" marR="142875" marT="142879" marB="142879" anchor="ctr"/>
                </a:tc>
                <a:extLst>
                  <a:ext uri="{0D108BD9-81ED-4DB2-BD59-A6C34878D82A}">
                    <a16:rowId xmlns:a16="http://schemas.microsoft.com/office/drawing/2014/main" val="10002"/>
                  </a:ext>
                </a:extLst>
              </a:tr>
              <a:tr h="779019">
                <a:tc>
                  <a:txBody>
                    <a:bodyPr/>
                    <a:lstStyle/>
                    <a:p>
                      <a:pPr algn="l" fontAlgn="ctr"/>
                      <a:r>
                        <a:rPr lang="en-US" sz="2000" b="0" dirty="0">
                          <a:latin typeface="Times New Roman" pitchFamily="18" charset="0"/>
                          <a:cs typeface="Times New Roman" pitchFamily="18" charset="0"/>
                        </a:rPr>
                        <a:t>Court order</a:t>
                      </a:r>
                    </a:p>
                  </a:txBody>
                  <a:tcPr marL="142875" marR="142875" marT="142879" marB="142879" anchor="ctr"/>
                </a:tc>
                <a:tc>
                  <a:txBody>
                    <a:bodyPr/>
                    <a:lstStyle/>
                    <a:p>
                      <a:pPr algn="l" fontAlgn="ctr"/>
                      <a:r>
                        <a:rPr lang="en-US" sz="2000" b="0">
                          <a:latin typeface="Times New Roman" pitchFamily="18" charset="0"/>
                          <a:cs typeface="Times New Roman" pitchFamily="18" charset="0"/>
                        </a:rPr>
                        <a:t>A Court Order can dissolve a firm.</a:t>
                      </a:r>
                    </a:p>
                  </a:txBody>
                  <a:tcPr marL="142875" marR="142875" marT="142879" marB="142879" anchor="ctr"/>
                </a:tc>
                <a:tc>
                  <a:txBody>
                    <a:bodyPr/>
                    <a:lstStyle/>
                    <a:p>
                      <a:pPr algn="l" fontAlgn="ctr"/>
                      <a:r>
                        <a:rPr lang="en-US" sz="2000" b="0" dirty="0">
                          <a:latin typeface="Times New Roman" pitchFamily="18" charset="0"/>
                          <a:cs typeface="Times New Roman" pitchFamily="18" charset="0"/>
                        </a:rPr>
                        <a:t>A Court Order cannot dissolve a partnership.</a:t>
                      </a:r>
                    </a:p>
                  </a:txBody>
                  <a:tcPr marL="142875" marR="142875" marT="142879" marB="142879" anchor="ctr"/>
                </a:tc>
                <a:extLst>
                  <a:ext uri="{0D108BD9-81ED-4DB2-BD59-A6C34878D82A}">
                    <a16:rowId xmlns:a16="http://schemas.microsoft.com/office/drawing/2014/main" val="10003"/>
                  </a:ext>
                </a:extLst>
              </a:tr>
              <a:tr h="487304">
                <a:tc>
                  <a:txBody>
                    <a:bodyPr/>
                    <a:lstStyle/>
                    <a:p>
                      <a:pPr algn="l" fontAlgn="ctr"/>
                      <a:endParaRPr lang="en-US" sz="1800" b="0" dirty="0"/>
                    </a:p>
                  </a:txBody>
                  <a:tcPr marL="142875" marR="142875" marT="142879" marB="142879" anchor="ctr"/>
                </a:tc>
                <a:tc>
                  <a:txBody>
                    <a:bodyPr/>
                    <a:lstStyle/>
                    <a:p>
                      <a:pPr algn="l" fontAlgn="ctr"/>
                      <a:endParaRPr lang="en-US" sz="1800" b="0" dirty="0"/>
                    </a:p>
                  </a:txBody>
                  <a:tcPr marL="142875" marR="142875" marT="142879" marB="142879" anchor="ctr"/>
                </a:tc>
                <a:tc>
                  <a:txBody>
                    <a:bodyPr/>
                    <a:lstStyle/>
                    <a:p>
                      <a:pPr algn="l" fontAlgn="ctr"/>
                      <a:endParaRPr lang="en-US" sz="1800" b="0" dirty="0"/>
                    </a:p>
                  </a:txBody>
                  <a:tcPr marL="142875" marR="142875" marT="142879" marB="142879" anchor="ctr"/>
                </a:tc>
                <a:extLst>
                  <a:ext uri="{0D108BD9-81ED-4DB2-BD59-A6C34878D82A}">
                    <a16:rowId xmlns:a16="http://schemas.microsoft.com/office/drawing/2014/main" val="10004"/>
                  </a:ext>
                </a:extLst>
              </a:tr>
            </a:tbl>
          </a:graphicData>
        </a:graphic>
      </p:graphicFrame>
      <p:graphicFrame>
        <p:nvGraphicFramePr>
          <p:cNvPr id="5" name="Content Placeholder 3"/>
          <p:cNvGraphicFramePr>
            <a:graphicFrameLocks/>
          </p:cNvGraphicFramePr>
          <p:nvPr>
            <p:extLst>
              <p:ext uri="{D42A27DB-BD31-4B8C-83A1-F6EECF244321}">
                <p14:modId xmlns:p14="http://schemas.microsoft.com/office/powerpoint/2010/main" val="2360211431"/>
              </p:ext>
            </p:extLst>
          </p:nvPr>
        </p:nvGraphicFramePr>
        <p:xfrm>
          <a:off x="319315" y="4149048"/>
          <a:ext cx="11654970" cy="2257378"/>
        </p:xfrm>
        <a:graphic>
          <a:graphicData uri="http://schemas.openxmlformats.org/drawingml/2006/table">
            <a:tbl>
              <a:tblPr firstRow="1" bandRow="1">
                <a:tableStyleId>{5C22544A-7EE6-4342-B048-85BDC9FD1C3A}</a:tableStyleId>
              </a:tblPr>
              <a:tblGrid>
                <a:gridCol w="3884990">
                  <a:extLst>
                    <a:ext uri="{9D8B030D-6E8A-4147-A177-3AD203B41FA5}">
                      <a16:colId xmlns:a16="http://schemas.microsoft.com/office/drawing/2014/main" val="20000"/>
                    </a:ext>
                  </a:extLst>
                </a:gridCol>
                <a:gridCol w="3884990">
                  <a:extLst>
                    <a:ext uri="{9D8B030D-6E8A-4147-A177-3AD203B41FA5}">
                      <a16:colId xmlns:a16="http://schemas.microsoft.com/office/drawing/2014/main" val="20001"/>
                    </a:ext>
                  </a:extLst>
                </a:gridCol>
                <a:gridCol w="3884990">
                  <a:extLst>
                    <a:ext uri="{9D8B030D-6E8A-4147-A177-3AD203B41FA5}">
                      <a16:colId xmlns:a16="http://schemas.microsoft.com/office/drawing/2014/main" val="20002"/>
                    </a:ext>
                  </a:extLst>
                </a:gridCol>
              </a:tblGrid>
              <a:tr h="611638">
                <a:tc>
                  <a:txBody>
                    <a:bodyPr/>
                    <a:lstStyle/>
                    <a:p>
                      <a:pPr algn="l" fontAlgn="ctr"/>
                      <a:r>
                        <a:rPr lang="en-US" sz="2000" b="0" dirty="0">
                          <a:latin typeface="Times New Roman" pitchFamily="18" charset="0"/>
                          <a:cs typeface="Times New Roman" pitchFamily="18" charset="0"/>
                        </a:rPr>
                        <a:t>Parameters</a:t>
                      </a:r>
                    </a:p>
                  </a:txBody>
                  <a:tcPr marL="110215" marR="110215" marT="142905" marB="142905" anchor="ctr"/>
                </a:tc>
                <a:tc>
                  <a:txBody>
                    <a:bodyPr/>
                    <a:lstStyle/>
                    <a:p>
                      <a:pPr algn="l" fontAlgn="ctr"/>
                      <a:r>
                        <a:rPr lang="en-US" sz="2000" b="0" dirty="0">
                          <a:latin typeface="Times New Roman" pitchFamily="18" charset="0"/>
                          <a:cs typeface="Times New Roman" pitchFamily="18" charset="0"/>
                        </a:rPr>
                        <a:t>Dissolution of a Firm</a:t>
                      </a:r>
                    </a:p>
                  </a:txBody>
                  <a:tcPr marL="110215" marR="110215" marT="142905" marB="142905" anchor="ctr"/>
                </a:tc>
                <a:tc>
                  <a:txBody>
                    <a:bodyPr/>
                    <a:lstStyle/>
                    <a:p>
                      <a:pPr algn="l" fontAlgn="ctr"/>
                      <a:r>
                        <a:rPr lang="en-US" sz="2000" b="0" dirty="0">
                          <a:latin typeface="Times New Roman" pitchFamily="18" charset="0"/>
                          <a:cs typeface="Times New Roman" pitchFamily="18" charset="0"/>
                        </a:rPr>
                        <a:t>Dissolution of a Partnership</a:t>
                      </a:r>
                    </a:p>
                  </a:txBody>
                  <a:tcPr marL="110215" marR="110215" marT="142905" marB="142905" anchor="ctr"/>
                </a:tc>
                <a:extLst>
                  <a:ext uri="{0D108BD9-81ED-4DB2-BD59-A6C34878D82A}">
                    <a16:rowId xmlns:a16="http://schemas.microsoft.com/office/drawing/2014/main" val="10000"/>
                  </a:ext>
                </a:extLst>
              </a:tr>
              <a:tr h="711200">
                <a:tc>
                  <a:txBody>
                    <a:bodyPr/>
                    <a:lstStyle/>
                    <a:p>
                      <a:pPr algn="l" fontAlgn="ctr"/>
                      <a:r>
                        <a:rPr lang="en-US" sz="2000" b="0" dirty="0">
                          <a:latin typeface="Times New Roman" pitchFamily="18" charset="0"/>
                          <a:cs typeface="Times New Roman" pitchFamily="18" charset="0"/>
                        </a:rPr>
                        <a:t>Scope</a:t>
                      </a:r>
                    </a:p>
                  </a:txBody>
                  <a:tcPr marL="110215" marR="110215" marT="142905" marB="142905" anchor="ctr"/>
                </a:tc>
                <a:tc>
                  <a:txBody>
                    <a:bodyPr/>
                    <a:lstStyle/>
                    <a:p>
                      <a:pPr algn="l" fontAlgn="ctr"/>
                      <a:r>
                        <a:rPr lang="en-US" sz="2000" b="0" dirty="0">
                          <a:latin typeface="Times New Roman" pitchFamily="18" charset="0"/>
                          <a:cs typeface="Times New Roman" pitchFamily="18" charset="0"/>
                        </a:rPr>
                        <a:t>It involves the dissolution of partnership between all partners.</a:t>
                      </a:r>
                    </a:p>
                  </a:txBody>
                  <a:tcPr marL="110215" marR="110215" marT="142905" marB="142905" anchor="ctr"/>
                </a:tc>
                <a:tc>
                  <a:txBody>
                    <a:bodyPr/>
                    <a:lstStyle/>
                    <a:p>
                      <a:pPr algn="l" fontAlgn="ctr"/>
                      <a:r>
                        <a:rPr lang="en-US" sz="2000" b="0" dirty="0">
                          <a:latin typeface="Times New Roman" pitchFamily="18" charset="0"/>
                          <a:cs typeface="Times New Roman" pitchFamily="18" charset="0"/>
                        </a:rPr>
                        <a:t>It does not involve the dissolution of the firm.</a:t>
                      </a:r>
                    </a:p>
                  </a:txBody>
                  <a:tcPr marL="110215" marR="110215" marT="142905" marB="142905" anchor="ctr"/>
                </a:tc>
                <a:extLst>
                  <a:ext uri="{0D108BD9-81ED-4DB2-BD59-A6C34878D82A}">
                    <a16:rowId xmlns:a16="http://schemas.microsoft.com/office/drawing/2014/main" val="10001"/>
                  </a:ext>
                </a:extLst>
              </a:tr>
              <a:tr h="750330">
                <a:tc>
                  <a:txBody>
                    <a:bodyPr/>
                    <a:lstStyle/>
                    <a:p>
                      <a:pPr algn="l" fontAlgn="ctr"/>
                      <a:r>
                        <a:rPr lang="en-US" sz="2000" b="0" dirty="0">
                          <a:latin typeface="Times New Roman" pitchFamily="18" charset="0"/>
                          <a:cs typeface="Times New Roman" pitchFamily="18" charset="0"/>
                        </a:rPr>
                        <a:t>Final closure of books</a:t>
                      </a:r>
                    </a:p>
                  </a:txBody>
                  <a:tcPr marL="110215" marR="110215" marT="142905" marB="142905" anchor="ctr"/>
                </a:tc>
                <a:tc>
                  <a:txBody>
                    <a:bodyPr/>
                    <a:lstStyle/>
                    <a:p>
                      <a:pPr algn="l" fontAlgn="ctr"/>
                      <a:r>
                        <a:rPr lang="en-US" sz="2000" b="0">
                          <a:latin typeface="Times New Roman" pitchFamily="18" charset="0"/>
                          <a:cs typeface="Times New Roman" pitchFamily="18" charset="0"/>
                        </a:rPr>
                        <a:t>Yes</a:t>
                      </a:r>
                    </a:p>
                  </a:txBody>
                  <a:tcPr marL="110215" marR="110215" marT="142905" marB="142905" anchor="ctr"/>
                </a:tc>
                <a:tc>
                  <a:txBody>
                    <a:bodyPr/>
                    <a:lstStyle/>
                    <a:p>
                      <a:pPr algn="l" fontAlgn="ctr"/>
                      <a:r>
                        <a:rPr lang="en-US" sz="2000" b="0" dirty="0">
                          <a:latin typeface="Times New Roman" pitchFamily="18" charset="0"/>
                          <a:cs typeface="Times New Roman" pitchFamily="18" charset="0"/>
                        </a:rPr>
                        <a:t>No</a:t>
                      </a:r>
                    </a:p>
                  </a:txBody>
                  <a:tcPr marL="110215" marR="110215" marT="142905" marB="142905"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6806823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75995"/>
          </a:xfrm>
        </p:spPr>
        <p:txBody>
          <a:bodyPr/>
          <a:lstStyle/>
          <a:p>
            <a:pPr algn="ctr"/>
            <a:r>
              <a:rPr lang="en-US" dirty="0">
                <a:latin typeface="Times New Roman" panose="02020603050405020304" pitchFamily="18" charset="0"/>
                <a:cs typeface="Times New Roman" panose="02020603050405020304" pitchFamily="18" charset="0"/>
              </a:rPr>
              <a:t>Question</a:t>
            </a:r>
          </a:p>
        </p:txBody>
      </p:sp>
      <p:sp>
        <p:nvSpPr>
          <p:cNvPr id="3" name="Content Placeholder 2"/>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A minor will automatically become a full-time partner on becoming 18. True or False?</a:t>
            </a:r>
          </a:p>
          <a:p>
            <a:pPr algn="just"/>
            <a:r>
              <a:rPr lang="en-US" dirty="0">
                <a:latin typeface="Times New Roman" panose="02020603050405020304" pitchFamily="18" charset="0"/>
                <a:cs typeface="Times New Roman" panose="02020603050405020304" pitchFamily="18" charset="0"/>
              </a:rPr>
              <a:t>Ans: This statement is False. When a minor attains majority, it will be his choice whether to become a full-time partner or retire from the firm. Once he makes his choice, he must give a public notice declaring the same.</a:t>
            </a:r>
          </a:p>
        </p:txBody>
      </p:sp>
    </p:spTree>
    <p:extLst>
      <p:ext uri="{BB962C8B-B14F-4D97-AF65-F5344CB8AC3E}">
        <p14:creationId xmlns:p14="http://schemas.microsoft.com/office/powerpoint/2010/main" val="8111282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8308" y="1044210"/>
            <a:ext cx="11451771" cy="5596392"/>
          </a:xfrm>
        </p:spPr>
        <p:txBody>
          <a:bodyPr rtlCol="0">
            <a:normAutofit lnSpcReduction="10000"/>
          </a:bodyPr>
          <a:lstStyle/>
          <a:p>
            <a:pPr algn="just">
              <a:defRPr/>
            </a:pPr>
            <a:r>
              <a:rPr lang="en-US" dirty="0">
                <a:latin typeface="Times New Roman" panose="02020603050405020304" pitchFamily="18" charset="0"/>
                <a:cs typeface="Times New Roman" panose="02020603050405020304" pitchFamily="18" charset="0"/>
              </a:rPr>
              <a:t>Q: Peter Chemicals is a firm in the business of trading a particular chemical. A new law bans the trading of that particular chemical. What happens to Peter Chemicals?</a:t>
            </a:r>
          </a:p>
          <a:p>
            <a:pPr algn="just">
              <a:defRPr/>
            </a:pPr>
            <a:r>
              <a:rPr lang="en-US" dirty="0">
                <a:latin typeface="Times New Roman" panose="02020603050405020304" pitchFamily="18" charset="0"/>
                <a:cs typeface="Times New Roman" panose="02020603050405020304" pitchFamily="18" charset="0"/>
              </a:rPr>
              <a:t>Answer: The business of the firm becomes unlawful after the passing of the law banning trading in the said chemical. Therefore, it is compulsory for Peter Chemicals to dissolve.</a:t>
            </a:r>
          </a:p>
          <a:p>
            <a:pPr algn="just">
              <a:defRPr/>
            </a:pPr>
            <a:r>
              <a:rPr lang="en-US" dirty="0">
                <a:latin typeface="Times New Roman" panose="02020603050405020304" pitchFamily="18" charset="0"/>
                <a:cs typeface="Times New Roman" panose="02020603050405020304" pitchFamily="18" charset="0"/>
              </a:rPr>
              <a:t>Q: Peter, John, and Oliver are partners in PJO &amp; Co. – a partnership firm. Peter and John know that Oliver has been keeping erroneous accounts for many months. He has also not heeded to their requests of entering receipts in time. Can they file a case against Oliver? Also, what stand can the court take?</a:t>
            </a:r>
          </a:p>
          <a:p>
            <a:pPr algn="just">
              <a:defRPr/>
            </a:pPr>
            <a:r>
              <a:rPr lang="en-US" dirty="0">
                <a:latin typeface="Times New Roman" panose="02020603050405020304" pitchFamily="18" charset="0"/>
                <a:cs typeface="Times New Roman" panose="02020603050405020304" pitchFamily="18" charset="0"/>
              </a:rPr>
              <a:t>Answer: Oliver’s behavior clearly destroys the mutual confidence between the partners. If Peter and John file a case against Oliver, then the court may order a dissolution of the firm.</a:t>
            </a:r>
          </a:p>
          <a:p>
            <a:pPr>
              <a:defRPr/>
            </a:pPr>
            <a:endParaRPr lang="en-US" dirty="0"/>
          </a:p>
        </p:txBody>
      </p:sp>
      <p:sp>
        <p:nvSpPr>
          <p:cNvPr id="4" name="Title 1"/>
          <p:cNvSpPr>
            <a:spLocks noGrp="1"/>
          </p:cNvSpPr>
          <p:nvPr>
            <p:ph type="title"/>
          </p:nvPr>
        </p:nvSpPr>
        <p:spPr>
          <a:xfrm>
            <a:off x="838200" y="365125"/>
            <a:ext cx="10515600" cy="523517"/>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Question</a:t>
            </a:r>
          </a:p>
        </p:txBody>
      </p:sp>
    </p:spTree>
    <p:extLst>
      <p:ext uri="{BB962C8B-B14F-4D97-AF65-F5344CB8AC3E}">
        <p14:creationId xmlns:p14="http://schemas.microsoft.com/office/powerpoint/2010/main" val="13305931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TotalTime>
  <Words>2756</Words>
  <Application>Microsoft Office PowerPoint</Application>
  <PresentationFormat>Widescreen</PresentationFormat>
  <Paragraphs>111</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Times New Roman</vt:lpstr>
      <vt:lpstr>Wingdings</vt:lpstr>
      <vt:lpstr>Office Theme</vt:lpstr>
      <vt:lpstr>PowerPoint Presentation</vt:lpstr>
      <vt:lpstr>Partnership Definition </vt:lpstr>
      <vt:lpstr> Key Elements of a Partnership </vt:lpstr>
      <vt:lpstr>PowerPoint Presentation</vt:lpstr>
      <vt:lpstr>Kinds of Partner</vt:lpstr>
      <vt:lpstr>Continue…</vt:lpstr>
      <vt:lpstr>PowerPoint Presentation</vt:lpstr>
      <vt:lpstr>Partnership registration</vt:lpstr>
      <vt:lpstr>Consequences of Non-Registration of Firm</vt:lpstr>
      <vt:lpstr>Question&amp; Answer</vt:lpstr>
      <vt:lpstr>Dissolution of a Firm</vt:lpstr>
      <vt:lpstr>Continue…….</vt:lpstr>
      <vt:lpstr> Rights of a Minor Partner </vt:lpstr>
      <vt:lpstr> Liabilities of a Minor Partner </vt:lpstr>
      <vt:lpstr>Difference between Dissolution of a firm and Dissolution of a Partnership</vt:lpstr>
      <vt:lpstr>Question</vt:lpstr>
      <vt:lpstr>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Naznin Akther</cp:lastModifiedBy>
  <cp:revision>21</cp:revision>
  <dcterms:created xsi:type="dcterms:W3CDTF">2021-08-23T07:39:48Z</dcterms:created>
  <dcterms:modified xsi:type="dcterms:W3CDTF">2026-02-09T05:22:54Z</dcterms:modified>
</cp:coreProperties>
</file>