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58" r:id="rId3"/>
    <p:sldId id="259" r:id="rId4"/>
    <p:sldId id="273" r:id="rId5"/>
    <p:sldId id="261" r:id="rId6"/>
    <p:sldId id="262" r:id="rId7"/>
    <p:sldId id="264" r:id="rId8"/>
    <p:sldId id="265" r:id="rId9"/>
    <p:sldId id="278" r:id="rId10"/>
    <p:sldId id="266" r:id="rId11"/>
    <p:sldId id="267" r:id="rId12"/>
    <p:sldId id="276" r:id="rId13"/>
    <p:sldId id="268" r:id="rId14"/>
    <p:sldId id="269" r:id="rId15"/>
    <p:sldId id="270" r:id="rId16"/>
    <p:sldId id="27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74E9-AF9D-43AF-979C-D340470FCF0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2514-B410-4D66-936A-5D811F63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75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74E9-AF9D-43AF-979C-D340470FCF0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2514-B410-4D66-936A-5D811F63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2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74E9-AF9D-43AF-979C-D340470FCF0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2514-B410-4D66-936A-5D811F63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82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74E9-AF9D-43AF-979C-D340470FCF0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2514-B410-4D66-936A-5D811F63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38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74E9-AF9D-43AF-979C-D340470FCF0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2514-B410-4D66-936A-5D811F63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62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74E9-AF9D-43AF-979C-D340470FCF0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2514-B410-4D66-936A-5D811F63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46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74E9-AF9D-43AF-979C-D340470FCF0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2514-B410-4D66-936A-5D811F63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76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74E9-AF9D-43AF-979C-D340470FCF0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2514-B410-4D66-936A-5D811F63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74E9-AF9D-43AF-979C-D340470FCF0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2514-B410-4D66-936A-5D811F63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91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74E9-AF9D-43AF-979C-D340470FCF0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2514-B410-4D66-936A-5D811F63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158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74E9-AF9D-43AF-979C-D340470FCF0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2514-B410-4D66-936A-5D811F63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779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74E9-AF9D-43AF-979C-D340470FCF0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2514-B410-4D66-936A-5D811F63DDC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76187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74E9-AF9D-43AF-979C-D340470FCF0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2514-B410-4D66-936A-5D811F63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351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74E9-AF9D-43AF-979C-D340470FCF0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2514-B410-4D66-936A-5D811F63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615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74E9-AF9D-43AF-979C-D340470FCF0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2514-B410-4D66-936A-5D811F63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0079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74E9-AF9D-43AF-979C-D340470FCF0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2514-B410-4D66-936A-5D811F63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073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74E9-AF9D-43AF-979C-D340470FCF0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2514-B410-4D66-936A-5D811F63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41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79374E9-AF9D-43AF-979C-D340470FCF0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32514-B410-4D66-936A-5D811F63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956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9318" y="2438400"/>
            <a:ext cx="7620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Chapter 2</a:t>
            </a:r>
          </a:p>
          <a:p>
            <a:pPr algn="ctr"/>
            <a:r>
              <a:rPr lang="en-US" sz="3200" dirty="0"/>
              <a:t>Communication &amp; Co-operation, Communication pyramid, Pareto principles, </a:t>
            </a:r>
            <a:r>
              <a:rPr lang="en-US" altLang="en-US" sz="3200" dirty="0"/>
              <a:t>Communication &amp; Image and Communication Barrier</a:t>
            </a:r>
            <a:r>
              <a:rPr lang="en-US" sz="3200" dirty="0"/>
              <a:t>  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04801"/>
            <a:ext cx="14478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3498" y="304801"/>
            <a:ext cx="1872302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1843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157163" y="50800"/>
            <a:ext cx="482600" cy="273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fld id="{38BDCD51-B2C8-4AAC-AF4A-C041CF1F284D}" type="datetime1">
              <a:rPr lang="en-US" altLang="en-US" b="1" smtClean="0">
                <a:solidFill>
                  <a:schemeClr val="bg1"/>
                </a:solidFill>
              </a:rPr>
              <a:pPr algn="ctr"/>
              <a:t>11/17/2025</a:t>
            </a:fld>
            <a:endParaRPr lang="en-US" altLang="en-US" b="1">
              <a:solidFill>
                <a:schemeClr val="bg1"/>
              </a:solidFill>
            </a:endParaRPr>
          </a:p>
        </p:txBody>
      </p:sp>
      <p:sp>
        <p:nvSpPr>
          <p:cNvPr id="2457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1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4580" name="TextBox 2"/>
          <p:cNvSpPr txBox="1">
            <a:spLocks noChangeArrowheads="1"/>
          </p:cNvSpPr>
          <p:nvPr/>
        </p:nvSpPr>
        <p:spPr bwMode="auto">
          <a:xfrm>
            <a:off x="1116013" y="358775"/>
            <a:ext cx="7010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3200"/>
              <a:t> </a:t>
            </a:r>
            <a:r>
              <a:rPr lang="en-US" altLang="en-US" sz="3200" b="1"/>
              <a:t>Communication and Co-operation</a:t>
            </a:r>
            <a:r>
              <a:rPr lang="en-US" altLang="en-US" sz="3200"/>
              <a:t>.</a:t>
            </a:r>
          </a:p>
        </p:txBody>
      </p:sp>
      <p:sp>
        <p:nvSpPr>
          <p:cNvPr id="24581" name="TextBox 8"/>
          <p:cNvSpPr txBox="1">
            <a:spLocks noChangeArrowheads="1"/>
          </p:cNvSpPr>
          <p:nvPr/>
        </p:nvSpPr>
        <p:spPr bwMode="auto">
          <a:xfrm>
            <a:off x="613569" y="1444169"/>
            <a:ext cx="8015287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en-US" altLang="en-US" sz="2400" dirty="0"/>
              <a:t>Ethical persuasion should respect the rights, goals and emotions of everyone concerned. </a:t>
            </a:r>
          </a:p>
          <a:p>
            <a:pPr algn="just" eaLnBrk="1" hangingPunct="1"/>
            <a:r>
              <a:rPr lang="en-US" altLang="en-US" sz="2400" dirty="0"/>
              <a:t>Creating co-operation should not involve the overriding of people’s needs and getting whatever you want at any cost.</a:t>
            </a:r>
          </a:p>
          <a:p>
            <a:pPr eaLnBrk="1" hangingPunct="1"/>
            <a:endParaRPr lang="en-US" altLang="en-US" sz="2000" dirty="0"/>
          </a:p>
        </p:txBody>
      </p:sp>
      <p:pic>
        <p:nvPicPr>
          <p:cNvPr id="245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3690938"/>
            <a:ext cx="71628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00188" y="3924300"/>
            <a:ext cx="3740150" cy="17541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b="1" dirty="0"/>
              <a:t>WHY DON’T  PEOPLE CO-OPERATE?</a:t>
            </a:r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2400" dirty="0"/>
              <a:t>Indirect   opposition</a:t>
            </a:r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2400" dirty="0"/>
              <a:t>Justifiable opposition</a:t>
            </a:r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2400" dirty="0"/>
              <a:t>Unjustified opposition</a:t>
            </a:r>
          </a:p>
        </p:txBody>
      </p:sp>
    </p:spTree>
    <p:extLst>
      <p:ext uri="{BB962C8B-B14F-4D97-AF65-F5344CB8AC3E}">
        <p14:creationId xmlns:p14="http://schemas.microsoft.com/office/powerpoint/2010/main" val="853943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157163" y="50800"/>
            <a:ext cx="482600" cy="273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fld id="{64377829-1EF2-446C-968D-36146000DF4B}" type="datetime1">
              <a:rPr lang="en-US" altLang="en-US" b="1" smtClean="0">
                <a:solidFill>
                  <a:schemeClr val="bg1"/>
                </a:solidFill>
              </a:rPr>
              <a:pPr algn="ctr"/>
              <a:t>11/17/2025</a:t>
            </a:fld>
            <a:endParaRPr lang="en-US" altLang="en-US" b="1">
              <a:solidFill>
                <a:schemeClr val="bg1"/>
              </a:solidFill>
            </a:endParaRPr>
          </a:p>
        </p:txBody>
      </p:sp>
      <p:sp>
        <p:nvSpPr>
          <p:cNvPr id="256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1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25604" name="TextBox 2"/>
          <p:cNvSpPr txBox="1">
            <a:spLocks noChangeArrowheads="1"/>
          </p:cNvSpPr>
          <p:nvPr/>
        </p:nvSpPr>
        <p:spPr bwMode="auto">
          <a:xfrm>
            <a:off x="1082675" y="72571"/>
            <a:ext cx="7010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sz="3200" dirty="0"/>
              <a:t>Fun Fact</a:t>
            </a:r>
          </a:p>
        </p:txBody>
      </p:sp>
      <p:pic>
        <p:nvPicPr>
          <p:cNvPr id="25605" name="Picture 2" descr="Image result for Communication and Cooper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756" y="1063423"/>
            <a:ext cx="7646488" cy="4672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1898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2" y="20782"/>
            <a:ext cx="893618" cy="893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0659" y="20782"/>
            <a:ext cx="1155631" cy="893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88571" y="259531"/>
            <a:ext cx="70104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Interpersonal Communication</a:t>
            </a:r>
            <a:r>
              <a:rPr lang="en-US" sz="3200"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1828800"/>
            <a:ext cx="3886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1. Aggression</a:t>
            </a:r>
          </a:p>
          <a:p>
            <a:r>
              <a:rPr lang="en-US" b="1" dirty="0">
                <a:solidFill>
                  <a:srgbClr val="FF0000"/>
                </a:solidFill>
              </a:rPr>
              <a:t>2. Passivity</a:t>
            </a:r>
          </a:p>
          <a:p>
            <a:r>
              <a:rPr lang="en-US" b="1" dirty="0">
                <a:solidFill>
                  <a:srgbClr val="FF0000"/>
                </a:solidFill>
              </a:rPr>
              <a:t>3. Manipulativeness</a:t>
            </a:r>
          </a:p>
          <a:p>
            <a:r>
              <a:rPr lang="en-US" b="1" dirty="0">
                <a:solidFill>
                  <a:srgbClr val="002060"/>
                </a:solidFill>
              </a:rPr>
              <a:t>4. Assertiveness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52600" y="3429000"/>
            <a:ext cx="3657600" cy="17543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Example:</a:t>
            </a:r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Would you....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This would mean....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I would feel....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What do you think?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971800" y="2819400"/>
            <a:ext cx="6858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05400" y="1676400"/>
            <a:ext cx="3124200" cy="14773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first three have flows:</a:t>
            </a:r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ineffective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stressful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counterproductive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3314700" y="1981200"/>
            <a:ext cx="17907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80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157163" y="50800"/>
            <a:ext cx="482600" cy="273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fld id="{DE47A715-EDF7-417E-9ADD-57D6C2D70427}" type="datetime1">
              <a:rPr lang="en-US" altLang="en-US" b="1" smtClean="0">
                <a:solidFill>
                  <a:schemeClr val="bg1"/>
                </a:solidFill>
              </a:rPr>
              <a:pPr algn="ctr"/>
              <a:t>11/17/2025</a:t>
            </a:fld>
            <a:endParaRPr lang="en-US" altLang="en-US" b="1">
              <a:solidFill>
                <a:schemeClr val="bg1"/>
              </a:solidFill>
            </a:endParaRPr>
          </a:p>
        </p:txBody>
      </p:sp>
      <p:sp>
        <p:nvSpPr>
          <p:cNvPr id="27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10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652" name="TextBox 2"/>
          <p:cNvSpPr txBox="1">
            <a:spLocks noChangeArrowheads="1"/>
          </p:cNvSpPr>
          <p:nvPr/>
        </p:nvSpPr>
        <p:spPr bwMode="auto">
          <a:xfrm>
            <a:off x="1066800" y="451644"/>
            <a:ext cx="7010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3200" b="1" dirty="0"/>
              <a:t>The Communication Pyramid</a:t>
            </a:r>
            <a:r>
              <a:rPr lang="en-US" altLang="en-US" sz="3200" dirty="0"/>
              <a:t>.</a:t>
            </a:r>
          </a:p>
        </p:txBody>
      </p:sp>
      <p:pic>
        <p:nvPicPr>
          <p:cNvPr id="2765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8" y="1747838"/>
            <a:ext cx="4970462" cy="464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4" name="TextBox 1"/>
          <p:cNvSpPr txBox="1">
            <a:spLocks noChangeArrowheads="1"/>
          </p:cNvSpPr>
          <p:nvPr/>
        </p:nvSpPr>
        <p:spPr bwMode="auto">
          <a:xfrm>
            <a:off x="5410200" y="1747838"/>
            <a:ext cx="35052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en-US" altLang="en-US" sz="2000"/>
              <a:t>A complex network of attitudes, beliefs, prejudices,</a:t>
            </a:r>
          </a:p>
          <a:p>
            <a:pPr algn="just" eaLnBrk="1" hangingPunct="1"/>
            <a:r>
              <a:rPr lang="en-US" altLang="en-US" sz="2000"/>
              <a:t>assumptions, ideas, associations, emotions and memories.</a:t>
            </a:r>
          </a:p>
        </p:txBody>
      </p:sp>
      <p:sp>
        <p:nvSpPr>
          <p:cNvPr id="27655" name="TextBox 8"/>
          <p:cNvSpPr txBox="1">
            <a:spLocks noChangeArrowheads="1"/>
          </p:cNvSpPr>
          <p:nvPr/>
        </p:nvSpPr>
        <p:spPr bwMode="auto">
          <a:xfrm>
            <a:off x="5410200" y="3503613"/>
            <a:ext cx="3249613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en-US" altLang="en-US" sz="2000" b="1"/>
              <a:t>The Pareto principle </a:t>
            </a:r>
            <a:r>
              <a:rPr lang="en-US" altLang="en-US" sz="2000"/>
              <a:t>can often apply to communication, as well as many other aspects of business, with up to 80% of a message being</a:t>
            </a:r>
          </a:p>
          <a:p>
            <a:pPr algn="just" eaLnBrk="1" hangingPunct="1"/>
            <a:r>
              <a:rPr lang="en-US" altLang="en-US" sz="2000"/>
              <a:t>contributed by the receiver of the message.</a:t>
            </a:r>
          </a:p>
        </p:txBody>
      </p:sp>
    </p:spTree>
    <p:extLst>
      <p:ext uri="{BB962C8B-B14F-4D97-AF65-F5344CB8AC3E}">
        <p14:creationId xmlns:p14="http://schemas.microsoft.com/office/powerpoint/2010/main" val="2623713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157163" y="50800"/>
            <a:ext cx="482600" cy="273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fld id="{3592294D-C90D-434D-BCC4-EEB0320F9BAB}" type="datetime1">
              <a:rPr lang="en-US" altLang="en-US" b="1" smtClean="0">
                <a:solidFill>
                  <a:schemeClr val="bg1"/>
                </a:solidFill>
              </a:rPr>
              <a:pPr algn="ctr"/>
              <a:t>11/17/2025</a:t>
            </a:fld>
            <a:endParaRPr lang="en-US" altLang="en-US" b="1">
              <a:solidFill>
                <a:schemeClr val="bg1"/>
              </a:solidFill>
            </a:endParaRPr>
          </a:p>
        </p:txBody>
      </p:sp>
      <p:sp>
        <p:nvSpPr>
          <p:cNvPr id="2867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10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28676" name="TextBox 2"/>
          <p:cNvSpPr txBox="1">
            <a:spLocks noChangeArrowheads="1"/>
          </p:cNvSpPr>
          <p:nvPr/>
        </p:nvSpPr>
        <p:spPr bwMode="auto">
          <a:xfrm>
            <a:off x="1219200" y="914400"/>
            <a:ext cx="7010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3200" b="1">
                <a:solidFill>
                  <a:srgbClr val="FF0000"/>
                </a:solidFill>
              </a:rPr>
              <a:t>Activity</a:t>
            </a:r>
          </a:p>
        </p:txBody>
      </p:sp>
      <p:pic>
        <p:nvPicPr>
          <p:cNvPr id="28677" name="Picture 2" descr="Image result for The Pareto princip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24"/>
          <a:stretch>
            <a:fillRect/>
          </a:stretch>
        </p:blipFill>
        <p:spPr bwMode="auto">
          <a:xfrm>
            <a:off x="3581400" y="474663"/>
            <a:ext cx="4438650" cy="545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685800" y="2119313"/>
            <a:ext cx="28956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How can we use Pareto’s Principle in Communication?</a:t>
            </a:r>
          </a:p>
          <a:p>
            <a:pPr eaLnBrk="1" hangingPunct="1"/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429030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157163" y="50800"/>
            <a:ext cx="482600" cy="273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fld id="{E58CECDB-89E2-4CA8-AC6A-DA9B2E46B766}" type="datetime1">
              <a:rPr lang="en-US" altLang="en-US" b="1" smtClean="0">
                <a:solidFill>
                  <a:schemeClr val="bg1"/>
                </a:solidFill>
              </a:rPr>
              <a:pPr algn="ctr"/>
              <a:t>11/17/2025</a:t>
            </a:fld>
            <a:endParaRPr lang="en-US" altLang="en-US" b="1" dirty="0">
              <a:solidFill>
                <a:schemeClr val="bg1"/>
              </a:solidFill>
            </a:endParaRPr>
          </a:p>
        </p:txBody>
      </p:sp>
      <p:sp>
        <p:nvSpPr>
          <p:cNvPr id="307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1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30724" name="TextBox 2"/>
          <p:cNvSpPr txBox="1">
            <a:spLocks noChangeArrowheads="1"/>
          </p:cNvSpPr>
          <p:nvPr/>
        </p:nvSpPr>
        <p:spPr bwMode="auto">
          <a:xfrm>
            <a:off x="879475" y="95379"/>
            <a:ext cx="7010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3200" b="1" dirty="0"/>
              <a:t>Communication and Image</a:t>
            </a:r>
            <a:r>
              <a:rPr lang="en-US" altLang="en-US" sz="3200" dirty="0"/>
              <a:t>.</a:t>
            </a:r>
          </a:p>
        </p:txBody>
      </p:sp>
      <p:pic>
        <p:nvPicPr>
          <p:cNvPr id="3072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55" y="1263780"/>
            <a:ext cx="8401546" cy="5298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0925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75" y="246063"/>
            <a:ext cx="8310563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dirty="0"/>
              <a:t>Purpose of Business Communication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idx="1"/>
          </p:nvPr>
        </p:nvSpPr>
        <p:spPr>
          <a:xfrm>
            <a:off x="416718" y="1219200"/>
            <a:ext cx="8310563" cy="4724400"/>
          </a:xfrm>
        </p:spPr>
        <p:txBody>
          <a:bodyPr rtlCol="0">
            <a:normAutofit/>
          </a:bodyPr>
          <a:lstStyle/>
          <a:p>
            <a:pPr marL="342906" indent="-342906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2200" b="1" dirty="0"/>
              <a:t>Basic for effective leadership</a:t>
            </a:r>
          </a:p>
          <a:p>
            <a:pPr marL="342906" indent="-342906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2200" b="1" dirty="0"/>
              <a:t>Sharing ideas and information</a:t>
            </a:r>
            <a:endParaRPr lang="en-US" altLang="en-US" sz="2200" dirty="0"/>
          </a:p>
          <a:p>
            <a:pPr marL="342906" indent="-342906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2200" b="1" dirty="0"/>
              <a:t>Rational decision making</a:t>
            </a:r>
            <a:endParaRPr lang="en-US" altLang="en-US" sz="2200" dirty="0"/>
          </a:p>
          <a:p>
            <a:pPr marL="342906" indent="-342906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2200" b="1" dirty="0"/>
              <a:t>Performance of managerial functions</a:t>
            </a:r>
          </a:p>
          <a:p>
            <a:pPr marL="342906" indent="-342906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2200" b="1" dirty="0"/>
              <a:t>Developing company’s public image</a:t>
            </a:r>
          </a:p>
          <a:p>
            <a:pPr marL="342906" indent="-342906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2200" b="1" dirty="0"/>
              <a:t>Helping delegation of authority and responsibility</a:t>
            </a:r>
          </a:p>
          <a:p>
            <a:pPr marL="342906" indent="-342906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2200" b="1" dirty="0"/>
              <a:t>Explaining policies and programs</a:t>
            </a:r>
          </a:p>
          <a:p>
            <a:pPr marL="342906" indent="-342906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2200" b="1" dirty="0"/>
              <a:t>Basis of information</a:t>
            </a:r>
            <a:endParaRPr lang="en-US" altLang="en-US" sz="2200" dirty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100">
                <a:solidFill>
                  <a:schemeClr val="bg1"/>
                </a:solidFill>
              </a:rPr>
              <a:t>1-</a:t>
            </a:r>
            <a:fld id="{088E2C88-E882-4593-8381-A49B1640477E}" type="slidenum">
              <a:rPr lang="en-US" altLang="en-US" sz="1100" smtClean="0">
                <a:solidFill>
                  <a:schemeClr val="bg1"/>
                </a:solidFill>
              </a:rPr>
              <a:pPr/>
              <a:t>8</a:t>
            </a:fld>
            <a:endParaRPr lang="en-US" altLang="en-US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2491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34400" cy="63976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Barriers to effective communication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33791"/>
            <a:ext cx="6929754" cy="464820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en-US" b="1" dirty="0"/>
              <a:t>Sender Related Barriers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b="1" dirty="0"/>
              <a:t>Receiver Related Barriers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b="1" dirty="0"/>
              <a:t>Sender &amp; Receiver Related Barriers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b="1" dirty="0"/>
              <a:t>Situation related Barriers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60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310563" cy="785813"/>
          </a:xfrm>
        </p:spPr>
        <p:txBody>
          <a:bodyPr>
            <a:normAutofit fontScale="90000"/>
          </a:bodyPr>
          <a:lstStyle/>
          <a:p>
            <a:r>
              <a:rPr lang="en-US" altLang="en-US" sz="4000" b="1" dirty="0"/>
              <a:t>Sender Related Barriers</a:t>
            </a:r>
            <a:br>
              <a:rPr lang="en-US" altLang="en-US" sz="4000" b="1" dirty="0"/>
            </a:br>
            <a:endParaRPr lang="en-US" altLang="en-US" sz="4000" dirty="0"/>
          </a:p>
        </p:txBody>
      </p:sp>
      <p:sp>
        <p:nvSpPr>
          <p:cNvPr id="40964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066800"/>
            <a:ext cx="8305800" cy="5059363"/>
          </a:xfrm>
        </p:spPr>
        <p:txBody>
          <a:bodyPr rtlCol="0">
            <a:normAutofit/>
          </a:bodyPr>
          <a:lstStyle/>
          <a:p>
            <a:pPr algn="just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en-US" altLang="en-US" dirty="0"/>
              <a:t>Lack of communication goals</a:t>
            </a:r>
          </a:p>
          <a:p>
            <a:pPr algn="just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en-US" altLang="en-US" dirty="0"/>
              <a:t>Absence of communication skills</a:t>
            </a:r>
          </a:p>
          <a:p>
            <a:pPr algn="just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en-US" altLang="en-US" dirty="0"/>
              <a:t>Wrong choice of media</a:t>
            </a:r>
          </a:p>
          <a:p>
            <a:pPr algn="just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en-US" altLang="en-US" dirty="0"/>
              <a:t>Abstracting: It may be understood as an act of focusing attention on some details and omitting others.</a:t>
            </a:r>
          </a:p>
          <a:p>
            <a:pPr algn="just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en-US" altLang="en-US" dirty="0"/>
              <a:t>Absence of interpersonal sensitivity: In describing a situation unfavorable aspects are emphasized.</a:t>
            </a:r>
          </a:p>
          <a:p>
            <a:pPr algn="just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en-US" altLang="en-US" dirty="0"/>
              <a:t>Inconsistent behavior: Insensitive individuals often use a language which is offensive to the receiver.</a:t>
            </a:r>
          </a:p>
          <a:p>
            <a:pPr algn="just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en-US" altLang="en-US" dirty="0"/>
              <a:t>Differing frames of reference: Lack of shared experience may result in miscommunication.</a:t>
            </a:r>
          </a:p>
          <a:p>
            <a:pPr marL="342906" indent="-342906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2" panose="05020102010507070707" pitchFamily="18" charset="2"/>
              <a:buNone/>
              <a:defRPr/>
            </a:pPr>
            <a:endParaRPr lang="en-US" altLang="en-US" dirty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100">
                <a:solidFill>
                  <a:schemeClr val="bg1"/>
                </a:solidFill>
              </a:rPr>
              <a:t>1-</a:t>
            </a:r>
            <a:fld id="{C9438E3E-BA54-4D36-BFF9-58E7ED08DE23}" type="slidenum">
              <a:rPr lang="en-US" altLang="en-US" sz="1100" smtClean="0">
                <a:solidFill>
                  <a:schemeClr val="bg1"/>
                </a:solidFill>
              </a:rPr>
              <a:pPr/>
              <a:t>10</a:t>
            </a:fld>
            <a:endParaRPr lang="en-US" altLang="en-US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495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382000" cy="914400"/>
          </a:xfrm>
        </p:spPr>
        <p:txBody>
          <a:bodyPr>
            <a:normAutofit/>
          </a:bodyPr>
          <a:lstStyle/>
          <a:p>
            <a:pPr marL="342906" indent="-342906" defTabSz="457207">
              <a:lnSpc>
                <a:spcPct val="90000"/>
              </a:lnSpc>
              <a:defRPr/>
            </a:pPr>
            <a:r>
              <a:rPr lang="en-US" altLang="en-US" sz="4000" b="1" dirty="0"/>
              <a:t>Receiver Related Barriers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413657" y="1219200"/>
            <a:ext cx="8014244" cy="4648200"/>
          </a:xfrm>
        </p:spPr>
        <p:txBody>
          <a:bodyPr rtlCol="0">
            <a:normAutofit/>
          </a:bodyPr>
          <a:lstStyle/>
          <a:p>
            <a:pPr algn="just" defTabSz="457207">
              <a:lnSpc>
                <a:spcPct val="90000"/>
              </a:lnSpc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en-US" altLang="en-US" u="sng" dirty="0"/>
              <a:t>Negative attitudes and opinions: </a:t>
            </a:r>
            <a:r>
              <a:rPr lang="en-US" altLang="en-US" dirty="0"/>
              <a:t>Wrong personal attitudes and opinions of receiver often act as barriers to effective communication. </a:t>
            </a:r>
          </a:p>
          <a:p>
            <a:pPr algn="just" defTabSz="457207">
              <a:lnSpc>
                <a:spcPct val="90000"/>
              </a:lnSpc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en-US" altLang="en-US" u="sng" dirty="0"/>
              <a:t>Wrong inferences: </a:t>
            </a:r>
            <a:r>
              <a:rPr lang="en-US" altLang="en-US" dirty="0"/>
              <a:t>Conclusions based on facts are called inferences.</a:t>
            </a:r>
          </a:p>
          <a:p>
            <a:pPr algn="just" defTabSz="457207">
              <a:lnSpc>
                <a:spcPct val="90000"/>
              </a:lnSpc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en-US" altLang="en-US" u="sng" dirty="0"/>
              <a:t>Poor retention: </a:t>
            </a:r>
            <a:r>
              <a:rPr lang="en-US" altLang="en-US" dirty="0"/>
              <a:t>An Average listener can retain only one-half of the message being heard.</a:t>
            </a:r>
          </a:p>
          <a:p>
            <a:pPr algn="just" defTabSz="457207">
              <a:lnSpc>
                <a:spcPct val="90000"/>
              </a:lnSpc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en-US" altLang="en-US" u="sng" dirty="0"/>
              <a:t>Non-evaluation of the message due to distrust of the receiver</a:t>
            </a:r>
            <a:r>
              <a:rPr lang="en-US" altLang="en-US" dirty="0"/>
              <a:t>: The receiver has a tendency to evaluate the sender and the message.</a:t>
            </a:r>
          </a:p>
          <a:p>
            <a:pPr marL="342906" indent="-342906" algn="just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Tx/>
              <a:buChar char="o"/>
              <a:defRPr/>
            </a:pPr>
            <a:endParaRPr lang="en-US" altLang="en-US" dirty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100">
                <a:solidFill>
                  <a:schemeClr val="bg1"/>
                </a:solidFill>
              </a:rPr>
              <a:t>1-</a:t>
            </a:r>
            <a:fld id="{138A3C2D-A774-45A6-A83D-73338B32EADB}" type="slidenum">
              <a:rPr lang="en-US" altLang="en-US" sz="1100" smtClean="0">
                <a:solidFill>
                  <a:schemeClr val="bg1"/>
                </a:solidFill>
              </a:rPr>
              <a:pPr/>
              <a:t>11</a:t>
            </a:fld>
            <a:endParaRPr lang="en-US" altLang="en-US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15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77200" cy="1020762"/>
          </a:xfrm>
        </p:spPr>
        <p:txBody>
          <a:bodyPr/>
          <a:lstStyle/>
          <a:p>
            <a:r>
              <a:rPr lang="en-US" altLang="en-US" b="1" dirty="0"/>
              <a:t>Receiver Related Barriers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05800" cy="4830763"/>
          </a:xfrm>
        </p:spPr>
        <p:txBody>
          <a:bodyPr>
            <a:normAutofit/>
          </a:bodyPr>
          <a:lstStyle/>
          <a:p>
            <a:pPr marL="0" indent="0" algn="just" defTabSz="457207">
              <a:lnSpc>
                <a:spcPct val="90000"/>
              </a:lnSpc>
              <a:buClr>
                <a:schemeClr val="bg2">
                  <a:lumMod val="40000"/>
                  <a:lumOff val="60000"/>
                </a:schemeClr>
              </a:buClr>
              <a:buNone/>
              <a:defRPr/>
            </a:pPr>
            <a:r>
              <a:rPr lang="en-US" altLang="en-US" u="sng" dirty="0"/>
              <a:t>Selective and poor listening: </a:t>
            </a:r>
            <a:r>
              <a:rPr lang="en-US" altLang="en-US" dirty="0"/>
              <a:t>Selective listening refers to the people’s tendency to hear only what they want.</a:t>
            </a:r>
          </a:p>
          <a:p>
            <a:pPr marL="0" indent="0" algn="just" defTabSz="457207">
              <a:lnSpc>
                <a:spcPct val="90000"/>
              </a:lnSpc>
              <a:buClr>
                <a:schemeClr val="bg2">
                  <a:lumMod val="40000"/>
                  <a:lumOff val="60000"/>
                </a:schemeClr>
              </a:buClr>
              <a:buNone/>
              <a:defRPr/>
            </a:pPr>
            <a:r>
              <a:rPr lang="en-US" altLang="en-US" u="sng" dirty="0"/>
              <a:t>Perceptions: </a:t>
            </a:r>
            <a:r>
              <a:rPr lang="en-US" altLang="en-US" dirty="0"/>
              <a:t>Stereotyping refers to the tendency to categories people into a single class on the basis of some trait. Projection is a perceptual process by which we try to attribute our own thoughts and feelings to others.</a:t>
            </a:r>
          </a:p>
          <a:p>
            <a:pPr marL="0" indent="0" algn="just" defTabSz="457207">
              <a:lnSpc>
                <a:spcPct val="90000"/>
              </a:lnSpc>
              <a:buClr>
                <a:schemeClr val="bg2">
                  <a:lumMod val="40000"/>
                  <a:lumOff val="60000"/>
                </a:schemeClr>
              </a:buClr>
              <a:buNone/>
              <a:defRPr/>
            </a:pPr>
            <a:r>
              <a:rPr lang="en-US" altLang="en-US" u="sng" dirty="0"/>
              <a:t>Lack of responsive feedback: </a:t>
            </a:r>
            <a:r>
              <a:rPr lang="en-US" altLang="en-US" dirty="0"/>
              <a:t>An inappropriate response hurts the sender’s ego or feelings.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792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altLang="en-US" sz="3600" b="1" dirty="0"/>
              <a:t>Sender &amp; Receiver Related Barriers</a:t>
            </a:r>
            <a:endParaRPr lang="en-US" sz="3600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557530" y="1295400"/>
            <a:ext cx="8129270" cy="4114800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anose="05000000000000000000" pitchFamily="2" charset="2"/>
              <a:buChar char="v"/>
            </a:pPr>
            <a:r>
              <a:rPr lang="en-US" altLang="en-US" u="sng" dirty="0"/>
              <a:t>Status consciousness: </a:t>
            </a:r>
            <a:r>
              <a:rPr lang="en-US" altLang="en-US" dirty="0"/>
              <a:t>If the sender is excited, nervous and perplexed, he will not be in a position to organize his message properly.</a:t>
            </a:r>
          </a:p>
          <a:p>
            <a:pPr algn="just" eaLnBrk="1" hangingPunct="1">
              <a:buFont typeface="Wingdings" panose="05000000000000000000" pitchFamily="2" charset="2"/>
              <a:buChar char="v"/>
            </a:pPr>
            <a:r>
              <a:rPr lang="en-US" altLang="en-US" u="sng" dirty="0"/>
              <a:t>Emotions: </a:t>
            </a:r>
            <a:r>
              <a:rPr lang="en-US" altLang="en-US" dirty="0"/>
              <a:t>Emotions, be it either from the side of the sender or the receiver, may create a barrier.</a:t>
            </a:r>
          </a:p>
          <a:p>
            <a:pPr algn="just" eaLnBrk="1" hangingPunct="1">
              <a:buFont typeface="Wingdings" panose="05000000000000000000" pitchFamily="2" charset="2"/>
              <a:buChar char="v"/>
            </a:pPr>
            <a:r>
              <a:rPr lang="en-US" altLang="en-US" u="sng" dirty="0"/>
              <a:t>Interpretation of words: </a:t>
            </a:r>
            <a:r>
              <a:rPr lang="en-US" altLang="en-US" dirty="0"/>
              <a:t>A single word that is used by the sender with an intended meaning may convey different meaning to the receiver.</a:t>
            </a: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100">
                <a:solidFill>
                  <a:schemeClr val="bg1"/>
                </a:solidFill>
              </a:rPr>
              <a:t>1-</a:t>
            </a:r>
            <a:fld id="{FD390CDC-2C51-4B52-9204-01925FAD16D2}" type="slidenum">
              <a:rPr lang="en-US" altLang="en-US" sz="1100" smtClean="0">
                <a:solidFill>
                  <a:schemeClr val="bg1"/>
                </a:solidFill>
              </a:rPr>
              <a:pPr/>
              <a:t>13</a:t>
            </a:fld>
            <a:endParaRPr lang="en-US" altLang="en-US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719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77200" cy="639762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Situation related Barriers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8172450" cy="4595812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u="sng" dirty="0"/>
              <a:t>Noise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u="sng" dirty="0"/>
              <a:t>Communication climate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u="sng" dirty="0"/>
              <a:t>Distance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u="sng" dirty="0"/>
              <a:t>Mechanical Failure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u="sng" dirty="0"/>
              <a:t>Time pressure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u="sng" dirty="0"/>
              <a:t>Information overload</a:t>
            </a:r>
            <a:r>
              <a:rPr lang="en-US" altLang="en-US" dirty="0"/>
              <a:t>: The receiver cannot accommodate a heavy load of message from the sender.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u="sng" dirty="0"/>
              <a:t>Jargon: </a:t>
            </a:r>
            <a:r>
              <a:rPr lang="en-US" altLang="en-US" dirty="0"/>
              <a:t>Each ``profession has its special vocabulary. When it is used outside the group, it becomes unintelligible.</a:t>
            </a: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100">
                <a:solidFill>
                  <a:schemeClr val="bg1"/>
                </a:solidFill>
              </a:rPr>
              <a:t>1-</a:t>
            </a:r>
            <a:fld id="{06BEB2AC-2701-4C77-A2DB-E6CB228CB1E4}" type="slidenum">
              <a:rPr lang="en-US" altLang="en-US" sz="1100" smtClean="0">
                <a:solidFill>
                  <a:schemeClr val="bg1"/>
                </a:solidFill>
              </a:rPr>
              <a:pPr/>
              <a:t>14</a:t>
            </a:fld>
            <a:endParaRPr lang="en-US" altLang="en-US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941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85738" y="295736"/>
            <a:ext cx="8958262" cy="923464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3400" b="1" dirty="0">
                <a:cs typeface="Times New Roman" panose="02020603050405020304" pitchFamily="18" charset="0"/>
              </a:rPr>
              <a:t>Ways to Improve Communication Effectiveness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idx="1"/>
          </p:nvPr>
        </p:nvSpPr>
        <p:spPr>
          <a:xfrm>
            <a:off x="245269" y="1240971"/>
            <a:ext cx="8653462" cy="5100637"/>
          </a:xfrm>
        </p:spPr>
        <p:txBody>
          <a:bodyPr rtlCol="0">
            <a:normAutofit/>
          </a:bodyPr>
          <a:lstStyle/>
          <a:p>
            <a:pPr marL="342906" indent="-342906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dirty="0"/>
              <a:t>Communication training</a:t>
            </a:r>
          </a:p>
          <a:p>
            <a:pPr marL="342906" indent="-342906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dirty="0"/>
              <a:t>Enhancing language knowledge</a:t>
            </a:r>
          </a:p>
          <a:p>
            <a:pPr marL="342906" indent="-342906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dirty="0"/>
              <a:t>Providing communication equipment's</a:t>
            </a:r>
          </a:p>
          <a:p>
            <a:pPr marL="342906" indent="-342906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dirty="0"/>
              <a:t>Appropriate organizational structure</a:t>
            </a:r>
          </a:p>
          <a:p>
            <a:pPr marL="342906" indent="-342906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dirty="0"/>
              <a:t>Use of informal communication</a:t>
            </a:r>
          </a:p>
          <a:p>
            <a:pPr marL="342906" indent="-342906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dirty="0"/>
              <a:t>Developing interpersonal trust</a:t>
            </a:r>
          </a:p>
          <a:p>
            <a:pPr marL="342906" indent="-342906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dirty="0"/>
              <a:t>Listening</a:t>
            </a:r>
          </a:p>
          <a:p>
            <a:pPr marL="342906" indent="-342906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dirty="0"/>
              <a:t>Effective feedback</a:t>
            </a:r>
          </a:p>
          <a:p>
            <a:pPr marL="342906" indent="-342906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dirty="0"/>
              <a:t>Nondirective counseling</a:t>
            </a:r>
          </a:p>
          <a:p>
            <a:pPr marL="342906" indent="-342906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dirty="0"/>
              <a:t>Nonverbal communication</a:t>
            </a:r>
          </a:p>
          <a:p>
            <a:pPr marL="342906" indent="-342906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dirty="0"/>
              <a:t>Motivation</a:t>
            </a:r>
          </a:p>
          <a:p>
            <a:pPr marL="0" indent="0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2" panose="05020102010507070707" pitchFamily="18" charset="2"/>
              <a:buNone/>
              <a:defRPr/>
            </a:pPr>
            <a:endParaRPr lang="en-US" dirty="0"/>
          </a:p>
          <a:p>
            <a:pPr marL="342906" indent="-342906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endParaRPr lang="en-US" dirty="0"/>
          </a:p>
          <a:p>
            <a:pPr marL="342906" indent="-342906" defTabSz="457207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endParaRPr lang="en-US" dirty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100">
                <a:solidFill>
                  <a:schemeClr val="bg1"/>
                </a:solidFill>
              </a:rPr>
              <a:t>1-</a:t>
            </a:r>
            <a:fld id="{1F9A96C4-BD10-44DC-B5F1-E459696F945B}" type="slidenum">
              <a:rPr lang="en-US" altLang="en-US" sz="1100" smtClean="0">
                <a:solidFill>
                  <a:schemeClr val="bg1"/>
                </a:solidFill>
              </a:rPr>
              <a:pPr/>
              <a:t>15</a:t>
            </a:fld>
            <a:endParaRPr lang="en-US" altLang="en-US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5871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 descr="Image result for Thank yo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2" y="762000"/>
            <a:ext cx="9142413" cy="522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44672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1090</TotalTime>
  <Words>642</Words>
  <Application>Microsoft Office PowerPoint</Application>
  <PresentationFormat>On-screen Show (4:3)</PresentationFormat>
  <Paragraphs>107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Century Gothic</vt:lpstr>
      <vt:lpstr>Times New Roman</vt:lpstr>
      <vt:lpstr>Wingdings</vt:lpstr>
      <vt:lpstr>Wingdings 2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Purpose of Business Communication</vt:lpstr>
      <vt:lpstr>Barriers to effective communication </vt:lpstr>
      <vt:lpstr>Sender Related Barriers </vt:lpstr>
      <vt:lpstr>Receiver Related Barriers</vt:lpstr>
      <vt:lpstr>Receiver Related Barriers</vt:lpstr>
      <vt:lpstr>Sender &amp; Receiver Related Barriers</vt:lpstr>
      <vt:lpstr>Situation related Barriers</vt:lpstr>
      <vt:lpstr>Ways to Improve Communication Effectiveness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Naznin Akther</cp:lastModifiedBy>
  <cp:revision>19</cp:revision>
  <dcterms:created xsi:type="dcterms:W3CDTF">2019-06-23T07:02:16Z</dcterms:created>
  <dcterms:modified xsi:type="dcterms:W3CDTF">2025-11-17T06:32:23Z</dcterms:modified>
</cp:coreProperties>
</file>