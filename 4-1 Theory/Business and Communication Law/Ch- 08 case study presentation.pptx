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27"/>
  </p:notesMasterIdLst>
  <p:sldIdLst>
    <p:sldId id="256" r:id="rId3"/>
    <p:sldId id="330" r:id="rId4"/>
    <p:sldId id="257" r:id="rId5"/>
    <p:sldId id="335" r:id="rId6"/>
    <p:sldId id="336" r:id="rId7"/>
    <p:sldId id="337" r:id="rId8"/>
    <p:sldId id="338" r:id="rId9"/>
    <p:sldId id="363" r:id="rId10"/>
    <p:sldId id="364" r:id="rId11"/>
    <p:sldId id="359" r:id="rId12"/>
    <p:sldId id="360" r:id="rId13"/>
    <p:sldId id="361" r:id="rId14"/>
    <p:sldId id="351" r:id="rId15"/>
    <p:sldId id="341" r:id="rId16"/>
    <p:sldId id="342" r:id="rId17"/>
    <p:sldId id="346" r:id="rId18"/>
    <p:sldId id="343" r:id="rId19"/>
    <p:sldId id="344" r:id="rId20"/>
    <p:sldId id="349" r:id="rId21"/>
    <p:sldId id="352" r:id="rId22"/>
    <p:sldId id="353" r:id="rId23"/>
    <p:sldId id="365" r:id="rId24"/>
    <p:sldId id="295" r:id="rId25"/>
    <p:sldId id="36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8"/>
    <p:restoredTop sz="94723"/>
  </p:normalViewPr>
  <p:slideViewPr>
    <p:cSldViewPr>
      <p:cViewPr varScale="1">
        <p:scale>
          <a:sx n="102" d="100"/>
          <a:sy n="102" d="100"/>
        </p:scale>
        <p:origin x="16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Relationship Id="rId4" Type="http://schemas.openxmlformats.org/officeDocument/2006/relationships/image" Target="../media/image1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Relationship Id="rId4" Type="http://schemas.openxmlformats.org/officeDocument/2006/relationships/image" Target="../media/image1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B2617B-242C-4B05-896D-47E20DEF5EDB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DA154C-5B2F-43F3-8675-9BD691007F98}">
      <dgm:prSet phldrT="[Text]"/>
      <dgm:spPr/>
      <dgm:t>
        <a:bodyPr/>
        <a:lstStyle/>
        <a:p>
          <a:r>
            <a:rPr lang="en-US" dirty="0"/>
            <a:t>Company</a:t>
          </a:r>
        </a:p>
      </dgm:t>
    </dgm:pt>
    <dgm:pt modelId="{B6B12DDF-800A-43EB-8082-3359A48492C2}" type="parTrans" cxnId="{30A9026B-2F49-4B68-BD0A-0A401C9A52DF}">
      <dgm:prSet/>
      <dgm:spPr/>
      <dgm:t>
        <a:bodyPr/>
        <a:lstStyle/>
        <a:p>
          <a:endParaRPr lang="en-US"/>
        </a:p>
      </dgm:t>
    </dgm:pt>
    <dgm:pt modelId="{5B2C33BC-0D0E-44CE-A2D6-AC2E88677FF9}" type="sibTrans" cxnId="{30A9026B-2F49-4B68-BD0A-0A401C9A52DF}">
      <dgm:prSet/>
      <dgm:spPr/>
      <dgm:t>
        <a:bodyPr/>
        <a:lstStyle/>
        <a:p>
          <a:endParaRPr lang="en-US"/>
        </a:p>
      </dgm:t>
    </dgm:pt>
    <dgm:pt modelId="{3EA1B88D-A533-44DA-A9EC-BA899E4BCC9A}">
      <dgm:prSet phldrT="[Text]"/>
      <dgm:spPr/>
      <dgm:t>
        <a:bodyPr/>
        <a:lstStyle/>
        <a:p>
          <a:r>
            <a:rPr lang="en-US" dirty="0"/>
            <a:t>Industry</a:t>
          </a:r>
        </a:p>
      </dgm:t>
    </dgm:pt>
    <dgm:pt modelId="{A8B3C374-87A2-4CD3-ADEE-9ECC858F1057}" type="parTrans" cxnId="{D66E3924-0466-48EA-ACEC-79FC7F78BCAD}">
      <dgm:prSet/>
      <dgm:spPr/>
      <dgm:t>
        <a:bodyPr/>
        <a:lstStyle/>
        <a:p>
          <a:endParaRPr lang="en-US"/>
        </a:p>
      </dgm:t>
    </dgm:pt>
    <dgm:pt modelId="{11F0A053-5B35-4F56-8C77-580788AABDB0}" type="sibTrans" cxnId="{D66E3924-0466-48EA-ACEC-79FC7F78BCAD}">
      <dgm:prSet/>
      <dgm:spPr/>
      <dgm:t>
        <a:bodyPr/>
        <a:lstStyle/>
        <a:p>
          <a:endParaRPr lang="en-US"/>
        </a:p>
      </dgm:t>
    </dgm:pt>
    <dgm:pt modelId="{02B79D0F-B9B2-4291-B29B-37D012642DAE}">
      <dgm:prSet phldrT="[Text]"/>
      <dgm:spPr/>
      <dgm:t>
        <a:bodyPr/>
        <a:lstStyle/>
        <a:p>
          <a:r>
            <a:rPr lang="en-US" dirty="0"/>
            <a:t>Competitor</a:t>
          </a:r>
        </a:p>
      </dgm:t>
    </dgm:pt>
    <dgm:pt modelId="{97223509-648C-4F08-9082-6533B0D9996A}" type="parTrans" cxnId="{D6BF0AC2-FB4D-4C5F-A9FD-0ABABEBFD9AE}">
      <dgm:prSet/>
      <dgm:spPr/>
      <dgm:t>
        <a:bodyPr/>
        <a:lstStyle/>
        <a:p>
          <a:endParaRPr lang="en-US"/>
        </a:p>
      </dgm:t>
    </dgm:pt>
    <dgm:pt modelId="{77521CA4-B438-4BF4-AE12-A2C12D4AAF7A}" type="sibTrans" cxnId="{D6BF0AC2-FB4D-4C5F-A9FD-0ABABEBFD9AE}">
      <dgm:prSet/>
      <dgm:spPr/>
      <dgm:t>
        <a:bodyPr/>
        <a:lstStyle/>
        <a:p>
          <a:endParaRPr lang="en-US"/>
        </a:p>
      </dgm:t>
    </dgm:pt>
    <dgm:pt modelId="{DE321636-5456-45C4-A6D9-E36213AF2121}">
      <dgm:prSet phldrT="[Text]"/>
      <dgm:spPr/>
      <dgm:t>
        <a:bodyPr/>
        <a:lstStyle/>
        <a:p>
          <a:r>
            <a:rPr lang="en-US" dirty="0"/>
            <a:t>Macro factor</a:t>
          </a:r>
        </a:p>
      </dgm:t>
    </dgm:pt>
    <dgm:pt modelId="{330A4443-C78A-4CBA-9D9D-838C0AC81D72}" type="parTrans" cxnId="{F431616E-D934-427A-B263-F941B7980728}">
      <dgm:prSet/>
      <dgm:spPr/>
      <dgm:t>
        <a:bodyPr/>
        <a:lstStyle/>
        <a:p>
          <a:endParaRPr lang="en-US"/>
        </a:p>
      </dgm:t>
    </dgm:pt>
    <dgm:pt modelId="{0FBB6C22-802F-47F7-89B6-A418D22084E6}" type="sibTrans" cxnId="{F431616E-D934-427A-B263-F941B7980728}">
      <dgm:prSet/>
      <dgm:spPr/>
      <dgm:t>
        <a:bodyPr/>
        <a:lstStyle/>
        <a:p>
          <a:endParaRPr lang="en-US"/>
        </a:p>
      </dgm:t>
    </dgm:pt>
    <dgm:pt modelId="{32BC0B06-1E96-4B18-A59C-D6E93DF66855}" type="pres">
      <dgm:prSet presAssocID="{D4B2617B-242C-4B05-896D-47E20DEF5EDB}" presName="Name0" presStyleCnt="0">
        <dgm:presLayoutVars>
          <dgm:dir/>
          <dgm:resizeHandles val="exact"/>
        </dgm:presLayoutVars>
      </dgm:prSet>
      <dgm:spPr/>
    </dgm:pt>
    <dgm:pt modelId="{89526107-7185-46B1-8C4F-A562C567A5A7}" type="pres">
      <dgm:prSet presAssocID="{84DA154C-5B2F-43F3-8675-9BD691007F98}" presName="compNode" presStyleCnt="0"/>
      <dgm:spPr/>
    </dgm:pt>
    <dgm:pt modelId="{7C19D901-617B-447F-8417-C32CE2F3A70D}" type="pres">
      <dgm:prSet presAssocID="{84DA154C-5B2F-43F3-8675-9BD691007F98}" presName="pict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744D610D-122B-4558-BB1F-07337A67E599}" type="pres">
      <dgm:prSet presAssocID="{84DA154C-5B2F-43F3-8675-9BD691007F98}" presName="textRect" presStyleLbl="revTx" presStyleIdx="0" presStyleCnt="4">
        <dgm:presLayoutVars>
          <dgm:bulletEnabled val="1"/>
        </dgm:presLayoutVars>
      </dgm:prSet>
      <dgm:spPr/>
    </dgm:pt>
    <dgm:pt modelId="{7D7E102B-8134-4957-9995-75E768DB3984}" type="pres">
      <dgm:prSet presAssocID="{5B2C33BC-0D0E-44CE-A2D6-AC2E88677FF9}" presName="sibTrans" presStyleLbl="sibTrans2D1" presStyleIdx="0" presStyleCnt="0"/>
      <dgm:spPr/>
    </dgm:pt>
    <dgm:pt modelId="{5F7324CD-64BA-4CC0-A19F-989153344DCC}" type="pres">
      <dgm:prSet presAssocID="{3EA1B88D-A533-44DA-A9EC-BA899E4BCC9A}" presName="compNode" presStyleCnt="0"/>
      <dgm:spPr/>
    </dgm:pt>
    <dgm:pt modelId="{82185BFE-B3FF-46E4-BC89-4DC215D5FF76}" type="pres">
      <dgm:prSet presAssocID="{3EA1B88D-A533-44DA-A9EC-BA899E4BCC9A}" presName="pictRect" presStyleLbl="nod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84B5E73E-7BA5-4E41-BDA4-7757124449C8}" type="pres">
      <dgm:prSet presAssocID="{3EA1B88D-A533-44DA-A9EC-BA899E4BCC9A}" presName="textRect" presStyleLbl="revTx" presStyleIdx="1" presStyleCnt="4">
        <dgm:presLayoutVars>
          <dgm:bulletEnabled val="1"/>
        </dgm:presLayoutVars>
      </dgm:prSet>
      <dgm:spPr/>
    </dgm:pt>
    <dgm:pt modelId="{E7D617B8-5C81-48BB-BD65-F69143D191AB}" type="pres">
      <dgm:prSet presAssocID="{11F0A053-5B35-4F56-8C77-580788AABDB0}" presName="sibTrans" presStyleLbl="sibTrans2D1" presStyleIdx="0" presStyleCnt="0"/>
      <dgm:spPr/>
    </dgm:pt>
    <dgm:pt modelId="{B5ACCD94-B76B-4A52-9B8A-3D284CB80507}" type="pres">
      <dgm:prSet presAssocID="{02B79D0F-B9B2-4291-B29B-37D012642DAE}" presName="compNode" presStyleCnt="0"/>
      <dgm:spPr/>
    </dgm:pt>
    <dgm:pt modelId="{7BBB7496-98BC-48E5-9D73-91B8D85EA225}" type="pres">
      <dgm:prSet presAssocID="{02B79D0F-B9B2-4291-B29B-37D012642DAE}" presName="pictRect" presStyleLbl="nod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5F4479CF-D08C-4F6F-88C3-9DC07E70BD49}" type="pres">
      <dgm:prSet presAssocID="{02B79D0F-B9B2-4291-B29B-37D012642DAE}" presName="textRect" presStyleLbl="revTx" presStyleIdx="2" presStyleCnt="4">
        <dgm:presLayoutVars>
          <dgm:bulletEnabled val="1"/>
        </dgm:presLayoutVars>
      </dgm:prSet>
      <dgm:spPr/>
    </dgm:pt>
    <dgm:pt modelId="{DECBE85F-7D86-48D7-B155-3B78B0A163FF}" type="pres">
      <dgm:prSet presAssocID="{77521CA4-B438-4BF4-AE12-A2C12D4AAF7A}" presName="sibTrans" presStyleLbl="sibTrans2D1" presStyleIdx="0" presStyleCnt="0"/>
      <dgm:spPr/>
    </dgm:pt>
    <dgm:pt modelId="{82B1EC1D-649D-4C7B-ACEA-788FBF56E87A}" type="pres">
      <dgm:prSet presAssocID="{DE321636-5456-45C4-A6D9-E36213AF2121}" presName="compNode" presStyleCnt="0"/>
      <dgm:spPr/>
    </dgm:pt>
    <dgm:pt modelId="{2ADD5884-7F62-4804-AD7E-1A4EE5585178}" type="pres">
      <dgm:prSet presAssocID="{DE321636-5456-45C4-A6D9-E36213AF2121}" presName="pictRect" presStyleLbl="nod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B777216A-E1CD-48A2-B900-1D4986AA5274}" type="pres">
      <dgm:prSet presAssocID="{DE321636-5456-45C4-A6D9-E36213AF2121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D66E3924-0466-48EA-ACEC-79FC7F78BCAD}" srcId="{D4B2617B-242C-4B05-896D-47E20DEF5EDB}" destId="{3EA1B88D-A533-44DA-A9EC-BA899E4BCC9A}" srcOrd="1" destOrd="0" parTransId="{A8B3C374-87A2-4CD3-ADEE-9ECC858F1057}" sibTransId="{11F0A053-5B35-4F56-8C77-580788AABDB0}"/>
    <dgm:cxn modelId="{B28C675D-B335-40D9-8772-139CC5E6D11E}" type="presOf" srcId="{3EA1B88D-A533-44DA-A9EC-BA899E4BCC9A}" destId="{84B5E73E-7BA5-4E41-BDA4-7757124449C8}" srcOrd="0" destOrd="0" presId="urn:microsoft.com/office/officeart/2005/8/layout/pList1"/>
    <dgm:cxn modelId="{4735405F-3FF2-44CF-B398-82BE5FCE6B0C}" type="presOf" srcId="{DE321636-5456-45C4-A6D9-E36213AF2121}" destId="{B777216A-E1CD-48A2-B900-1D4986AA5274}" srcOrd="0" destOrd="0" presId="urn:microsoft.com/office/officeart/2005/8/layout/pList1"/>
    <dgm:cxn modelId="{30A9026B-2F49-4B68-BD0A-0A401C9A52DF}" srcId="{D4B2617B-242C-4B05-896D-47E20DEF5EDB}" destId="{84DA154C-5B2F-43F3-8675-9BD691007F98}" srcOrd="0" destOrd="0" parTransId="{B6B12DDF-800A-43EB-8082-3359A48492C2}" sibTransId="{5B2C33BC-0D0E-44CE-A2D6-AC2E88677FF9}"/>
    <dgm:cxn modelId="{F431616E-D934-427A-B263-F941B7980728}" srcId="{D4B2617B-242C-4B05-896D-47E20DEF5EDB}" destId="{DE321636-5456-45C4-A6D9-E36213AF2121}" srcOrd="3" destOrd="0" parTransId="{330A4443-C78A-4CBA-9D9D-838C0AC81D72}" sibTransId="{0FBB6C22-802F-47F7-89B6-A418D22084E6}"/>
    <dgm:cxn modelId="{23141C75-CB8B-4CA0-8F73-E0F7C9B8842B}" type="presOf" srcId="{02B79D0F-B9B2-4291-B29B-37D012642DAE}" destId="{5F4479CF-D08C-4F6F-88C3-9DC07E70BD49}" srcOrd="0" destOrd="0" presId="urn:microsoft.com/office/officeart/2005/8/layout/pList1"/>
    <dgm:cxn modelId="{B943BC7B-B494-4F92-B93B-E0CBE32C2F2A}" type="presOf" srcId="{D4B2617B-242C-4B05-896D-47E20DEF5EDB}" destId="{32BC0B06-1E96-4B18-A59C-D6E93DF66855}" srcOrd="0" destOrd="0" presId="urn:microsoft.com/office/officeart/2005/8/layout/pList1"/>
    <dgm:cxn modelId="{3E420185-6612-4F12-ADC9-9625F86FFED0}" type="presOf" srcId="{77521CA4-B438-4BF4-AE12-A2C12D4AAF7A}" destId="{DECBE85F-7D86-48D7-B155-3B78B0A163FF}" srcOrd="0" destOrd="0" presId="urn:microsoft.com/office/officeart/2005/8/layout/pList1"/>
    <dgm:cxn modelId="{95A1788D-80C1-4722-B369-1070098B1336}" type="presOf" srcId="{5B2C33BC-0D0E-44CE-A2D6-AC2E88677FF9}" destId="{7D7E102B-8134-4957-9995-75E768DB3984}" srcOrd="0" destOrd="0" presId="urn:microsoft.com/office/officeart/2005/8/layout/pList1"/>
    <dgm:cxn modelId="{3BC2C9B6-8A7F-4652-B80A-2ABB677DE42A}" type="presOf" srcId="{84DA154C-5B2F-43F3-8675-9BD691007F98}" destId="{744D610D-122B-4558-BB1F-07337A67E599}" srcOrd="0" destOrd="0" presId="urn:microsoft.com/office/officeart/2005/8/layout/pList1"/>
    <dgm:cxn modelId="{D6BF0AC2-FB4D-4C5F-A9FD-0ABABEBFD9AE}" srcId="{D4B2617B-242C-4B05-896D-47E20DEF5EDB}" destId="{02B79D0F-B9B2-4291-B29B-37D012642DAE}" srcOrd="2" destOrd="0" parTransId="{97223509-648C-4F08-9082-6533B0D9996A}" sibTransId="{77521CA4-B438-4BF4-AE12-A2C12D4AAF7A}"/>
    <dgm:cxn modelId="{42A5BFF3-2E1B-4422-B414-3D662AC3470F}" type="presOf" srcId="{11F0A053-5B35-4F56-8C77-580788AABDB0}" destId="{E7D617B8-5C81-48BB-BD65-F69143D191AB}" srcOrd="0" destOrd="0" presId="urn:microsoft.com/office/officeart/2005/8/layout/pList1"/>
    <dgm:cxn modelId="{3CB1A227-2F8F-4396-9DA2-EAE1FD814AD2}" type="presParOf" srcId="{32BC0B06-1E96-4B18-A59C-D6E93DF66855}" destId="{89526107-7185-46B1-8C4F-A562C567A5A7}" srcOrd="0" destOrd="0" presId="urn:microsoft.com/office/officeart/2005/8/layout/pList1"/>
    <dgm:cxn modelId="{F4B6FE2F-80D2-4250-B164-E0E06D58868C}" type="presParOf" srcId="{89526107-7185-46B1-8C4F-A562C567A5A7}" destId="{7C19D901-617B-447F-8417-C32CE2F3A70D}" srcOrd="0" destOrd="0" presId="urn:microsoft.com/office/officeart/2005/8/layout/pList1"/>
    <dgm:cxn modelId="{D5A42A8A-E743-41C0-B90C-39D8A2BBCF88}" type="presParOf" srcId="{89526107-7185-46B1-8C4F-A562C567A5A7}" destId="{744D610D-122B-4558-BB1F-07337A67E599}" srcOrd="1" destOrd="0" presId="urn:microsoft.com/office/officeart/2005/8/layout/pList1"/>
    <dgm:cxn modelId="{6D6D2073-2768-4697-85D9-ECCE54CC247D}" type="presParOf" srcId="{32BC0B06-1E96-4B18-A59C-D6E93DF66855}" destId="{7D7E102B-8134-4957-9995-75E768DB3984}" srcOrd="1" destOrd="0" presId="urn:microsoft.com/office/officeart/2005/8/layout/pList1"/>
    <dgm:cxn modelId="{353DEF58-B9A6-4E52-873E-788E35CF563B}" type="presParOf" srcId="{32BC0B06-1E96-4B18-A59C-D6E93DF66855}" destId="{5F7324CD-64BA-4CC0-A19F-989153344DCC}" srcOrd="2" destOrd="0" presId="urn:microsoft.com/office/officeart/2005/8/layout/pList1"/>
    <dgm:cxn modelId="{95567D14-56C3-4180-8541-238CD159015D}" type="presParOf" srcId="{5F7324CD-64BA-4CC0-A19F-989153344DCC}" destId="{82185BFE-B3FF-46E4-BC89-4DC215D5FF76}" srcOrd="0" destOrd="0" presId="urn:microsoft.com/office/officeart/2005/8/layout/pList1"/>
    <dgm:cxn modelId="{A59F0F87-3DA5-4268-AE88-6370D64B195C}" type="presParOf" srcId="{5F7324CD-64BA-4CC0-A19F-989153344DCC}" destId="{84B5E73E-7BA5-4E41-BDA4-7757124449C8}" srcOrd="1" destOrd="0" presId="urn:microsoft.com/office/officeart/2005/8/layout/pList1"/>
    <dgm:cxn modelId="{DA046C08-A1CD-4C92-8E3E-7B6C528261A3}" type="presParOf" srcId="{32BC0B06-1E96-4B18-A59C-D6E93DF66855}" destId="{E7D617B8-5C81-48BB-BD65-F69143D191AB}" srcOrd="3" destOrd="0" presId="urn:microsoft.com/office/officeart/2005/8/layout/pList1"/>
    <dgm:cxn modelId="{C6CE1670-7660-42FA-8F8C-A6BC66AF7130}" type="presParOf" srcId="{32BC0B06-1E96-4B18-A59C-D6E93DF66855}" destId="{B5ACCD94-B76B-4A52-9B8A-3D284CB80507}" srcOrd="4" destOrd="0" presId="urn:microsoft.com/office/officeart/2005/8/layout/pList1"/>
    <dgm:cxn modelId="{A14ED4F9-7247-4FB7-8B0C-FAD4A8B7D9ED}" type="presParOf" srcId="{B5ACCD94-B76B-4A52-9B8A-3D284CB80507}" destId="{7BBB7496-98BC-48E5-9D73-91B8D85EA225}" srcOrd="0" destOrd="0" presId="urn:microsoft.com/office/officeart/2005/8/layout/pList1"/>
    <dgm:cxn modelId="{BDA32F90-1ED7-445A-8EDD-A03F0F0AA759}" type="presParOf" srcId="{B5ACCD94-B76B-4A52-9B8A-3D284CB80507}" destId="{5F4479CF-D08C-4F6F-88C3-9DC07E70BD49}" srcOrd="1" destOrd="0" presId="urn:microsoft.com/office/officeart/2005/8/layout/pList1"/>
    <dgm:cxn modelId="{3DAD65A0-0829-415E-8C5D-01E76F72058A}" type="presParOf" srcId="{32BC0B06-1E96-4B18-A59C-D6E93DF66855}" destId="{DECBE85F-7D86-48D7-B155-3B78B0A163FF}" srcOrd="5" destOrd="0" presId="urn:microsoft.com/office/officeart/2005/8/layout/pList1"/>
    <dgm:cxn modelId="{FADC61EE-A678-4E94-B853-C417D48A279F}" type="presParOf" srcId="{32BC0B06-1E96-4B18-A59C-D6E93DF66855}" destId="{82B1EC1D-649D-4C7B-ACEA-788FBF56E87A}" srcOrd="6" destOrd="0" presId="urn:microsoft.com/office/officeart/2005/8/layout/pList1"/>
    <dgm:cxn modelId="{33F44EE1-1E37-45D0-8F02-174F0D175C47}" type="presParOf" srcId="{82B1EC1D-649D-4C7B-ACEA-788FBF56E87A}" destId="{2ADD5884-7F62-4804-AD7E-1A4EE5585178}" srcOrd="0" destOrd="0" presId="urn:microsoft.com/office/officeart/2005/8/layout/pList1"/>
    <dgm:cxn modelId="{391EDA24-7DBD-4A1E-A123-2C110070DD04}" type="presParOf" srcId="{82B1EC1D-649D-4C7B-ACEA-788FBF56E87A}" destId="{B777216A-E1CD-48A2-B900-1D4986AA5274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9D901-617B-447F-8417-C32CE2F3A70D}">
      <dsp:nvSpPr>
        <dsp:cNvPr id="0" name=""/>
        <dsp:cNvSpPr/>
      </dsp:nvSpPr>
      <dsp:spPr>
        <a:xfrm>
          <a:off x="499135" y="1855"/>
          <a:ext cx="2307354" cy="1589767"/>
        </a:xfrm>
        <a:prstGeom prst="round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D610D-122B-4558-BB1F-07337A67E599}">
      <dsp:nvSpPr>
        <dsp:cNvPr id="0" name=""/>
        <dsp:cNvSpPr/>
      </dsp:nvSpPr>
      <dsp:spPr>
        <a:xfrm>
          <a:off x="499135" y="1591622"/>
          <a:ext cx="2307354" cy="856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Company</a:t>
          </a:r>
        </a:p>
      </dsp:txBody>
      <dsp:txXfrm>
        <a:off x="499135" y="1591622"/>
        <a:ext cx="2307354" cy="856028"/>
      </dsp:txXfrm>
    </dsp:sp>
    <dsp:sp modelId="{82185BFE-B3FF-46E4-BC89-4DC215D5FF76}">
      <dsp:nvSpPr>
        <dsp:cNvPr id="0" name=""/>
        <dsp:cNvSpPr/>
      </dsp:nvSpPr>
      <dsp:spPr>
        <a:xfrm>
          <a:off x="3037322" y="1855"/>
          <a:ext cx="2307354" cy="1589767"/>
        </a:xfrm>
        <a:prstGeom prst="round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E73E-7BA5-4E41-BDA4-7757124449C8}">
      <dsp:nvSpPr>
        <dsp:cNvPr id="0" name=""/>
        <dsp:cNvSpPr/>
      </dsp:nvSpPr>
      <dsp:spPr>
        <a:xfrm>
          <a:off x="3037322" y="1591622"/>
          <a:ext cx="2307354" cy="856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Industry</a:t>
          </a:r>
        </a:p>
      </dsp:txBody>
      <dsp:txXfrm>
        <a:off x="3037322" y="1591622"/>
        <a:ext cx="2307354" cy="856028"/>
      </dsp:txXfrm>
    </dsp:sp>
    <dsp:sp modelId="{7BBB7496-98BC-48E5-9D73-91B8D85EA225}">
      <dsp:nvSpPr>
        <dsp:cNvPr id="0" name=""/>
        <dsp:cNvSpPr/>
      </dsp:nvSpPr>
      <dsp:spPr>
        <a:xfrm>
          <a:off x="5575509" y="1855"/>
          <a:ext cx="2307354" cy="1589767"/>
        </a:xfrm>
        <a:prstGeom prst="round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479CF-D08C-4F6F-88C3-9DC07E70BD49}">
      <dsp:nvSpPr>
        <dsp:cNvPr id="0" name=""/>
        <dsp:cNvSpPr/>
      </dsp:nvSpPr>
      <dsp:spPr>
        <a:xfrm>
          <a:off x="5575509" y="1591622"/>
          <a:ext cx="2307354" cy="856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Competitor</a:t>
          </a:r>
        </a:p>
      </dsp:txBody>
      <dsp:txXfrm>
        <a:off x="5575509" y="1591622"/>
        <a:ext cx="2307354" cy="856028"/>
      </dsp:txXfrm>
    </dsp:sp>
    <dsp:sp modelId="{2ADD5884-7F62-4804-AD7E-1A4EE5585178}">
      <dsp:nvSpPr>
        <dsp:cNvPr id="0" name=""/>
        <dsp:cNvSpPr/>
      </dsp:nvSpPr>
      <dsp:spPr>
        <a:xfrm>
          <a:off x="3037322" y="2678386"/>
          <a:ext cx="2307354" cy="1589767"/>
        </a:xfrm>
        <a:prstGeom prst="round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7216A-E1CD-48A2-B900-1D4986AA5274}">
      <dsp:nvSpPr>
        <dsp:cNvPr id="0" name=""/>
        <dsp:cNvSpPr/>
      </dsp:nvSpPr>
      <dsp:spPr>
        <a:xfrm>
          <a:off x="3037322" y="4268154"/>
          <a:ext cx="2307354" cy="856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Macro factor</a:t>
          </a:r>
        </a:p>
      </dsp:txBody>
      <dsp:txXfrm>
        <a:off x="3037322" y="4268154"/>
        <a:ext cx="2307354" cy="856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45486-05A5-4E91-8BA1-361C4924AF1C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EFCDD-FBCB-43FE-9B8C-BEF0EE436C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4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9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4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4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6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4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0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9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34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33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44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13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9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94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92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82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4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982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0249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59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69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31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764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3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F010E1-34EE-49DA-9FBE-D979A99A01D7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F187-E1BC-497C-94C0-483E55C361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56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uys5fWCxJM" TargetMode="External"/><Relationship Id="rId2" Type="http://schemas.openxmlformats.org/officeDocument/2006/relationships/hyperlink" Target="https://www.youtube.com/watch?v=psuKyBsH1o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3" y="1"/>
            <a:ext cx="8153400" cy="236219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00"/>
                </a:solidFill>
              </a:rPr>
              <a:t>Chapter 8</a:t>
            </a:r>
            <a:br>
              <a:rPr lang="en-US" sz="4800" b="1" dirty="0">
                <a:solidFill>
                  <a:srgbClr val="FFFF00"/>
                </a:solidFill>
              </a:rPr>
            </a:br>
            <a:r>
              <a:rPr lang="en-US" sz="2400" b="1" dirty="0">
                <a:solidFill>
                  <a:srgbClr val="FFFF00"/>
                </a:solidFill>
              </a:rPr>
              <a:t>Business Communication PDF Book  By </a:t>
            </a:r>
            <a:r>
              <a:rPr lang="en-US" sz="2400" b="1" dirty="0" err="1">
                <a:solidFill>
                  <a:srgbClr val="FFFF00"/>
                </a:solidFill>
              </a:rPr>
              <a:t>Vikram</a:t>
            </a:r>
            <a:r>
              <a:rPr lang="en-US" sz="2400" b="1" dirty="0">
                <a:solidFill>
                  <a:srgbClr val="FFFF00"/>
                </a:solidFill>
              </a:rPr>
              <a:t> </a:t>
            </a:r>
            <a:r>
              <a:rPr lang="en-US" sz="2400" b="1" dirty="0" err="1">
                <a:solidFill>
                  <a:srgbClr val="FFFF00"/>
                </a:solidFill>
              </a:rPr>
              <a:t>Bisen</a:t>
            </a:r>
            <a:endParaRPr lang="en-US" sz="2400" b="1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78" y="3435998"/>
            <a:ext cx="6553200" cy="34535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153400" cy="1066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13531" cy="5638800"/>
          </a:xfrm>
        </p:spPr>
        <p:txBody>
          <a:bodyPr>
            <a:normAutofit fontScale="25000" lnSpcReduction="20000"/>
          </a:bodyPr>
          <a:lstStyle/>
          <a:p>
            <a:pPr marL="566928" indent="-457200" algn="ctr"/>
            <a:r>
              <a:rPr lang="en-US" sz="7200" dirty="0"/>
              <a:t>Define case Study</a:t>
            </a:r>
          </a:p>
          <a:p>
            <a:pPr marL="566928" indent="-457200" algn="ctr"/>
            <a:r>
              <a:rPr lang="en-US" sz="7200" dirty="0"/>
              <a:t>Types of Case Study</a:t>
            </a:r>
            <a:r>
              <a:rPr lang="en-US" sz="5600" dirty="0"/>
              <a:t> </a:t>
            </a:r>
          </a:p>
          <a:p>
            <a:pPr marL="566928" indent="-457200" algn="ctr"/>
            <a:r>
              <a:rPr lang="en-US" sz="7200" dirty="0"/>
              <a:t>Case study Competition</a:t>
            </a:r>
          </a:p>
          <a:p>
            <a:pPr marL="566928" indent="-457200" algn="ctr"/>
            <a:r>
              <a:rPr lang="en-US" sz="7200" dirty="0"/>
              <a:t>Preparing a case study: Reading strategy of case study and Solution strategy</a:t>
            </a:r>
          </a:p>
          <a:p>
            <a:pPr marL="566928" indent="-457200" algn="ctr"/>
            <a:r>
              <a:rPr lang="en-US" sz="7200" dirty="0"/>
              <a:t>Do’s and Don’ts for case preparation</a:t>
            </a:r>
            <a:endParaRPr lang="en-US" sz="7200" b="1" dirty="0">
              <a:hlinkClick r:id="rId2"/>
            </a:endParaRPr>
          </a:p>
          <a:p>
            <a:pPr marL="109728" indent="0" algn="just">
              <a:buNone/>
            </a:pPr>
            <a:endParaRPr lang="en-US" sz="7200" b="1" dirty="0">
              <a:hlinkClick r:id="rId2"/>
            </a:endParaRPr>
          </a:p>
          <a:p>
            <a:pPr marL="109728" indent="0" algn="just">
              <a:buNone/>
            </a:pPr>
            <a:endParaRPr lang="en-US" sz="7200" b="1" dirty="0">
              <a:hlinkClick r:id="rId2"/>
            </a:endParaRPr>
          </a:p>
          <a:p>
            <a:pPr marL="109728" indent="0" algn="just">
              <a:buNone/>
            </a:pPr>
            <a:r>
              <a:rPr lang="en-US" sz="7200" b="1" dirty="0">
                <a:hlinkClick r:id="rId2"/>
              </a:rPr>
              <a:t>Mock Consulting Interview - Consultant - YouTube</a:t>
            </a:r>
          </a:p>
          <a:p>
            <a:pPr marL="109728" indent="0" algn="just">
              <a:buNone/>
            </a:pPr>
            <a:r>
              <a:rPr lang="en-US" sz="7200" dirty="0">
                <a:hlinkClick r:id="rId2"/>
              </a:rPr>
              <a:t>https://www.youtube.com/watch?v=psuKyBsH1oo</a:t>
            </a:r>
            <a:endParaRPr lang="en-US" sz="7200" dirty="0"/>
          </a:p>
          <a:p>
            <a:pPr marL="109728" indent="0" algn="just">
              <a:buNone/>
            </a:pPr>
            <a:endParaRPr lang="en-US" sz="7200" dirty="0"/>
          </a:p>
          <a:p>
            <a:pPr marL="109728" indent="0" algn="just">
              <a:buNone/>
            </a:pPr>
            <a:r>
              <a:rPr lang="en-US" sz="7200" b="1" dirty="0">
                <a:hlinkClick r:id="rId3"/>
              </a:rPr>
              <a:t>case interview with former </a:t>
            </a:r>
            <a:r>
              <a:rPr lang="en-US" sz="7200" b="1" dirty="0" err="1">
                <a:hlinkClick r:id="rId3"/>
              </a:rPr>
              <a:t>mckinsey</a:t>
            </a:r>
            <a:r>
              <a:rPr lang="en-US" sz="7200" b="1" dirty="0">
                <a:hlinkClick r:id="rId3"/>
              </a:rPr>
              <a:t> interviewer ... - YouTube</a:t>
            </a:r>
          </a:p>
          <a:p>
            <a:pPr marL="109728" indent="0" algn="just">
              <a:buNone/>
            </a:pPr>
            <a:r>
              <a:rPr lang="en-US" sz="7200" dirty="0">
                <a:hlinkClick r:id="rId3"/>
              </a:rPr>
              <a:t>https://www.youtube.com/watch?v=fuys5fWCxJM</a:t>
            </a:r>
            <a:endParaRPr lang="en-US" sz="7200" dirty="0"/>
          </a:p>
          <a:p>
            <a:pPr marL="109728" indent="0" algn="just">
              <a:buNone/>
            </a:pPr>
            <a:endParaRPr lang="en-US" sz="7200" dirty="0"/>
          </a:p>
          <a:p>
            <a:pPr marL="109728" indent="0" algn="just">
              <a:buNone/>
            </a:pPr>
            <a:r>
              <a:rPr lang="en-US" sz="7200" dirty="0"/>
              <a:t>McKinsey &amp; Company is an American worldwide management consulting firm, founded in 1926 by University of Chicago professor James O. McKinsey,</a:t>
            </a:r>
          </a:p>
          <a:p>
            <a:pPr marL="109728" indent="0" algn="just">
              <a:buNone/>
            </a:pPr>
            <a:endParaRPr lang="en-US" sz="7200" dirty="0"/>
          </a:p>
          <a:p>
            <a:pPr marL="109728" indent="0" algn="just">
              <a:buNone/>
            </a:pPr>
            <a:r>
              <a:rPr lang="en-US" sz="7200" dirty="0"/>
              <a:t>McKinsey &amp; Company provides strategy and management consulting services, such as providing </a:t>
            </a:r>
            <a:r>
              <a:rPr lang="en-US" sz="7200" b="1" dirty="0"/>
              <a:t>advice</a:t>
            </a:r>
            <a:r>
              <a:rPr lang="en-US" sz="7200" dirty="0"/>
              <a:t> on an acquisition, developing a plan to restructure a sales force, creating a new business strategy or providing </a:t>
            </a:r>
            <a:r>
              <a:rPr lang="en-US" sz="7200" b="1" dirty="0"/>
              <a:t>advice </a:t>
            </a:r>
            <a:r>
              <a:rPr lang="en-US" sz="7200" dirty="0"/>
              <a:t>on strategic management to corporations, governments, and other organizations</a:t>
            </a:r>
          </a:p>
          <a:p>
            <a:pPr marL="109728" indent="0" algn="just">
              <a:buNone/>
            </a:pPr>
            <a:endParaRPr lang="en-US" dirty="0"/>
          </a:p>
          <a:p>
            <a:pPr marL="109728" indent="0" algn="just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0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cs typeface="Times New Roman" pitchFamily="18" charset="0"/>
              </a:rPr>
              <a:t>What is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886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A case study is a description of an actual administrative situation involving a decision to be made or a problem to be solved. It can be a real situation that actually happened just as described, or portions have been disguised for reasons of privacy.</a:t>
            </a:r>
          </a:p>
          <a:p>
            <a:pPr marL="0" indent="0" algn="just">
              <a:buNone/>
            </a:pPr>
            <a:r>
              <a:rPr lang="en-US" sz="2200" dirty="0"/>
              <a:t>Most case studies are written in such a way that the reader takes the place of manager whose responsibility is to make decisions to help solve the problem.</a:t>
            </a:r>
            <a:endParaRPr lang="en-US" sz="2200" dirty="0">
              <a:cs typeface="Times New Roman" pitchFamily="18" charset="0"/>
            </a:endParaRPr>
          </a:p>
          <a:p>
            <a:pPr marL="109728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5355336"/>
          </a:xfrm>
        </p:spPr>
        <p:txBody>
          <a:bodyPr/>
          <a:lstStyle/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Consultants/ Advisor               </a:t>
            </a:r>
            <a:r>
              <a:rPr lang="en-US" dirty="0" err="1"/>
              <a:t>BoD</a:t>
            </a:r>
            <a:r>
              <a:rPr lang="en-US" dirty="0"/>
              <a:t>/ Boss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749" y="3124200"/>
            <a:ext cx="3657599" cy="1013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Participants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600" y="3124200"/>
            <a:ext cx="2438400" cy="1005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Judges</a:t>
            </a:r>
          </a:p>
        </p:txBody>
      </p:sp>
      <p:pic>
        <p:nvPicPr>
          <p:cNvPr id="1026" name="Picture 2" descr="C:\Users\HP\Desktop\Court-gave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04900"/>
            <a:ext cx="25908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49" y="1229032"/>
            <a:ext cx="3657600" cy="1895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244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914400"/>
          </a:xfrm>
        </p:spPr>
        <p:txBody>
          <a:bodyPr/>
          <a:lstStyle/>
          <a:p>
            <a:r>
              <a:rPr lang="en-US" dirty="0"/>
              <a:t>Types of Case Study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90725"/>
            <a:ext cx="258942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>
          <a:xfrm>
            <a:off x="4495800" y="2171700"/>
            <a:ext cx="28194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</a:t>
            </a:r>
          </a:p>
        </p:txBody>
      </p:sp>
      <p:sp>
        <p:nvSpPr>
          <p:cNvPr id="5" name="Oval 4"/>
          <p:cNvSpPr/>
          <p:nvPr/>
        </p:nvSpPr>
        <p:spPr>
          <a:xfrm>
            <a:off x="4154256" y="4114800"/>
            <a:ext cx="2667000" cy="723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</a:t>
            </a:r>
          </a:p>
        </p:txBody>
      </p:sp>
      <p:sp>
        <p:nvSpPr>
          <p:cNvPr id="6" name="Oval 5"/>
          <p:cNvSpPr/>
          <p:nvPr/>
        </p:nvSpPr>
        <p:spPr>
          <a:xfrm>
            <a:off x="1389993" y="5029200"/>
            <a:ext cx="26670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91379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838200"/>
          </a:xfrm>
        </p:spPr>
        <p:txBody>
          <a:bodyPr/>
          <a:lstStyle/>
          <a:p>
            <a:r>
              <a:rPr lang="en-US" dirty="0"/>
              <a:t>Preparation of a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251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400" dirty="0"/>
              <a:t>Reading strategy of case study</a:t>
            </a:r>
          </a:p>
          <a:p>
            <a:pPr marL="566928" indent="-457200"/>
            <a:r>
              <a:rPr lang="en-US" sz="2400" dirty="0"/>
              <a:t>Speed Reading</a:t>
            </a:r>
          </a:p>
          <a:p>
            <a:pPr marL="566928" indent="-457200"/>
            <a:r>
              <a:rPr lang="en-US" sz="2400" dirty="0"/>
              <a:t>Appendices</a:t>
            </a:r>
          </a:p>
          <a:p>
            <a:pPr marL="566928" indent="-457200"/>
            <a:r>
              <a:rPr lang="en-US" sz="2400" dirty="0"/>
              <a:t>Case type</a:t>
            </a:r>
          </a:p>
          <a:p>
            <a:pPr marL="566928" indent="-457200"/>
            <a:r>
              <a:rPr lang="en-US" sz="2400" dirty="0"/>
              <a:t>Thorough reading</a:t>
            </a:r>
          </a:p>
        </p:txBody>
      </p:sp>
    </p:spTree>
    <p:extLst>
      <p:ext uri="{BB962C8B-B14F-4D97-AF65-F5344CB8AC3E}">
        <p14:creationId xmlns:p14="http://schemas.microsoft.com/office/powerpoint/2010/main" val="293537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Speed Reading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43251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400" dirty="0"/>
              <a:t>Goal: What the case is about?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Read first and last paragraph. First and last sentence.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Read Introduction and Conclusion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Find out key options and decision options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Structure of the case</a:t>
            </a:r>
          </a:p>
        </p:txBody>
      </p:sp>
    </p:spTree>
    <p:extLst>
      <p:ext uri="{BB962C8B-B14F-4D97-AF65-F5344CB8AC3E}">
        <p14:creationId xmlns:p14="http://schemas.microsoft.com/office/powerpoint/2010/main" val="133873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For Instance</a:t>
            </a:r>
            <a:br>
              <a:rPr lang="en-US" b="1" dirty="0"/>
            </a:br>
            <a:r>
              <a:rPr lang="en-US" b="1" dirty="0"/>
              <a:t>Business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62200"/>
            <a:ext cx="8153400" cy="4495800"/>
          </a:xfrm>
        </p:spPr>
        <p:txBody>
          <a:bodyPr>
            <a:normAutofit/>
          </a:bodyPr>
          <a:lstStyle/>
          <a:p>
            <a:r>
              <a:rPr lang="en-US" sz="2400" dirty="0"/>
              <a:t>Whether you’re a B2B or B2C company, case studies can be a powerful resource to help with your sales, marketing, and even internal departmental awareness and it encompasses strategic insights alongside anecdotal and qualitative findings</a:t>
            </a:r>
          </a:p>
          <a:p>
            <a:r>
              <a:rPr lang="en-US" sz="2400" b="1" dirty="0"/>
              <a:t>Conduct a B2B case study by researching the company</a:t>
            </a:r>
          </a:p>
          <a:p>
            <a:r>
              <a:rPr lang="en-US" sz="2400" b="1" dirty="0"/>
              <a:t>Identify the short-term and long term goals and solutions</a:t>
            </a:r>
          </a:p>
          <a:p>
            <a:r>
              <a:rPr lang="en-US" sz="2400" b="1" dirty="0"/>
              <a:t>Use Model</a:t>
            </a:r>
          </a:p>
          <a:p>
            <a:r>
              <a:rPr lang="en-US" sz="2400" b="1" dirty="0"/>
              <a:t>Use charts to visualize data in your business case studies</a:t>
            </a:r>
          </a:p>
          <a:p>
            <a:endParaRPr lang="en-US" sz="2400" b="1" dirty="0"/>
          </a:p>
          <a:p>
            <a:endParaRPr lang="en-US" b="1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25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99" y="1799506"/>
            <a:ext cx="5639117" cy="3181402"/>
          </a:xfrm>
        </p:spPr>
      </p:pic>
    </p:spTree>
    <p:extLst>
      <p:ext uri="{BB962C8B-B14F-4D97-AF65-F5344CB8AC3E}">
        <p14:creationId xmlns:p14="http://schemas.microsoft.com/office/powerpoint/2010/main" val="240438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33400"/>
            <a:ext cx="3886200" cy="1981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Solving case with different models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80999"/>
            <a:ext cx="2777836" cy="263415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14600"/>
            <a:ext cx="6486831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6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838200"/>
            <a:ext cx="5048828" cy="5124814"/>
          </a:xfrm>
        </p:spPr>
      </p:pic>
      <p:sp>
        <p:nvSpPr>
          <p:cNvPr id="6" name="TextBox 5"/>
          <p:cNvSpPr txBox="1"/>
          <p:nvPr/>
        </p:nvSpPr>
        <p:spPr>
          <a:xfrm>
            <a:off x="381000" y="25908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426423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609600"/>
            <a:ext cx="5750644" cy="5638800"/>
          </a:xfrm>
        </p:spPr>
      </p:pic>
      <p:sp>
        <p:nvSpPr>
          <p:cNvPr id="7" name="TextBox 6"/>
          <p:cNvSpPr txBox="1"/>
          <p:nvPr/>
        </p:nvSpPr>
        <p:spPr>
          <a:xfrm>
            <a:off x="228600" y="2590800"/>
            <a:ext cx="228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Porter’s Five Force Model</a:t>
            </a:r>
          </a:p>
        </p:txBody>
      </p:sp>
    </p:spTree>
    <p:extLst>
      <p:ext uri="{BB962C8B-B14F-4D97-AF65-F5344CB8AC3E}">
        <p14:creationId xmlns:p14="http://schemas.microsoft.com/office/powerpoint/2010/main" val="383378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269" y="152400"/>
            <a:ext cx="8229600" cy="914400"/>
          </a:xfrm>
        </p:spPr>
        <p:txBody>
          <a:bodyPr/>
          <a:lstStyle/>
          <a:p>
            <a:r>
              <a:rPr lang="en-US" dirty="0"/>
              <a:t>Solution Strategy 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174340"/>
            <a:ext cx="2667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Situation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48300" y="1387578"/>
            <a:ext cx="3124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Issue Identification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3048000"/>
            <a:ext cx="2362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 Alternative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76600"/>
            <a:ext cx="3581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Recommendation 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0400" y="1485592"/>
            <a:ext cx="2247900" cy="540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6553200" y="2424881"/>
            <a:ext cx="457200" cy="6231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/>
          <p:cNvSpPr/>
          <p:nvPr/>
        </p:nvSpPr>
        <p:spPr>
          <a:xfrm>
            <a:off x="4267200" y="3733800"/>
            <a:ext cx="1752600" cy="51373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30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Situation Analysis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340923"/>
              </p:ext>
            </p:extLst>
          </p:nvPr>
        </p:nvGraphicFramePr>
        <p:xfrm>
          <a:off x="304800" y="1447800"/>
          <a:ext cx="8382000" cy="5126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16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Company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546509"/>
              </p:ext>
            </p:extLst>
          </p:nvPr>
        </p:nvGraphicFramePr>
        <p:xfrm>
          <a:off x="457200" y="1600200"/>
          <a:ext cx="822960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Background</a:t>
                      </a:r>
                    </a:p>
                    <a:p>
                      <a:r>
                        <a:rPr lang="en-US" sz="2000" dirty="0"/>
                        <a:t>Key stakeholder</a:t>
                      </a:r>
                    </a:p>
                    <a:p>
                      <a:r>
                        <a:rPr lang="en-US" sz="2000" dirty="0"/>
                        <a:t>Recent</a:t>
                      </a:r>
                      <a:r>
                        <a:rPr lang="en-US" sz="2000" baseline="0" dirty="0"/>
                        <a:t> Performance: Financial Analysis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aseline="0" dirty="0"/>
                        <a:t>Decision Type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aseline="0" dirty="0"/>
                        <a:t>Model:  SOWT, Stakeholder Analysis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01136" y="1600200"/>
            <a:ext cx="3318463" cy="2588341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2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/>
          <a:lstStyle/>
          <a:p>
            <a:r>
              <a:rPr lang="en-US" dirty="0"/>
              <a:t>Financial Analysis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697207"/>
              </p:ext>
            </p:extLst>
          </p:nvPr>
        </p:nvGraphicFramePr>
        <p:xfrm>
          <a:off x="457200" y="1600200"/>
          <a:ext cx="822960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aseline="0" dirty="0"/>
                        <a:t>Profitability: ROI,  ROA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aseline="0" dirty="0"/>
                        <a:t>Liquidity: Current ration, Quick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aseline="0" dirty="0"/>
                        <a:t>Risk position: Debt to equity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aseline="0" dirty="0"/>
                        <a:t>Forecasting: Prediction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10969" y="2613522"/>
            <a:ext cx="2307354" cy="1589767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4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066800"/>
          </a:xfrm>
        </p:spPr>
        <p:txBody>
          <a:bodyPr/>
          <a:lstStyle/>
          <a:p>
            <a:r>
              <a:rPr lang="en-US" dirty="0"/>
              <a:t>Industry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699831"/>
              </p:ext>
            </p:extLst>
          </p:nvPr>
        </p:nvGraphicFramePr>
        <p:xfrm>
          <a:off x="457200" y="1676400"/>
          <a:ext cx="8229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Lifecycle Stage</a:t>
                      </a:r>
                    </a:p>
                    <a:p>
                      <a:r>
                        <a:rPr lang="en-US" sz="2000" dirty="0"/>
                        <a:t>Key success factor</a:t>
                      </a:r>
                    </a:p>
                    <a:p>
                      <a:r>
                        <a:rPr lang="en-US" sz="2000" dirty="0"/>
                        <a:t>Recent Changes</a:t>
                      </a:r>
                    </a:p>
                    <a:p>
                      <a:r>
                        <a:rPr lang="en-US" sz="2000" dirty="0"/>
                        <a:t>Insight</a:t>
                      </a:r>
                    </a:p>
                    <a:p>
                      <a:endParaRPr lang="en-US" sz="2000" dirty="0"/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Model: Pestle, Porters five forces</a:t>
                      </a:r>
                    </a:p>
                    <a:p>
                      <a:r>
                        <a:rPr lang="en-US" sz="2000" dirty="0"/>
                        <a:t>Source: Industry, Country Section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1676400"/>
            <a:ext cx="3200400" cy="3581400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000" r="-1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67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Competitors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195906"/>
              </p:ext>
            </p:extLst>
          </p:nvPr>
        </p:nvGraphicFramePr>
        <p:xfrm>
          <a:off x="462455" y="1295400"/>
          <a:ext cx="82296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Key</a:t>
                      </a:r>
                      <a:r>
                        <a:rPr lang="en-US" sz="2000" baseline="0" dirty="0"/>
                        <a:t> competitors</a:t>
                      </a:r>
                    </a:p>
                    <a:p>
                      <a:r>
                        <a:rPr lang="en-US" sz="2000" baseline="0" dirty="0"/>
                        <a:t>Differentiation Point </a:t>
                      </a:r>
                    </a:p>
                    <a:p>
                      <a:r>
                        <a:rPr lang="en-US" sz="2000" baseline="0" dirty="0"/>
                        <a:t>Strategic Plan</a:t>
                      </a:r>
                    </a:p>
                    <a:p>
                      <a:r>
                        <a:rPr lang="en-US" sz="2000" baseline="0" dirty="0"/>
                        <a:t>Recent Performance</a:t>
                      </a:r>
                      <a:endParaRPr lang="en-US" sz="2000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90600" y="1219200"/>
            <a:ext cx="3581400" cy="2971800"/>
          </a:xfrm>
          <a:prstGeom prst="round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r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200" y="4800600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Cost Leadership strategy</a:t>
            </a:r>
          </a:p>
          <a:p>
            <a:r>
              <a:rPr lang="en-US" sz="2000" b="1" dirty="0"/>
              <a:t>Differentiation Strategy</a:t>
            </a:r>
          </a:p>
          <a:p>
            <a:r>
              <a:rPr lang="en-US" sz="2000" b="1" dirty="0"/>
              <a:t>Niche marketing strategy</a:t>
            </a:r>
          </a:p>
        </p:txBody>
      </p:sp>
    </p:spTree>
    <p:extLst>
      <p:ext uri="{BB962C8B-B14F-4D97-AF65-F5344CB8AC3E}">
        <p14:creationId xmlns:p14="http://schemas.microsoft.com/office/powerpoint/2010/main" val="870161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295400"/>
          </a:xfrm>
        </p:spPr>
        <p:txBody>
          <a:bodyPr>
            <a:noAutofit/>
          </a:bodyPr>
          <a:lstStyle/>
          <a:p>
            <a:r>
              <a:rPr lang="en-US" sz="3200" dirty="0"/>
              <a:t>Competitor Analysis</a:t>
            </a:r>
            <a:br>
              <a:rPr lang="en-US" sz="3200" dirty="0"/>
            </a:br>
            <a:r>
              <a:rPr lang="en-US" sz="3200" dirty="0"/>
              <a:t>Tea market in BD with established market player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565554"/>
              </p:ext>
            </p:extLst>
          </p:nvPr>
        </p:nvGraphicFramePr>
        <p:xfrm>
          <a:off x="457200" y="17526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Positioning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Feelings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Isphahani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Mirzapore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Mass( Middle,</a:t>
                      </a:r>
                      <a:r>
                        <a:rPr lang="en-US" baseline="0" dirty="0"/>
                        <a:t> Top)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Fulfillment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Kazi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Kazi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Niche (Upper health conscious)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 among</a:t>
                      </a:r>
                      <a:r>
                        <a:rPr lang="en-US" baseline="0" dirty="0"/>
                        <a:t> healthy 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 organic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302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6397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Issue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752600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Problem (what might be the reasons of  sales/profit reduction, project failure)</a:t>
            </a:r>
          </a:p>
          <a:p>
            <a:pPr marL="342900" indent="-342900">
              <a:buAutoNum type="arabicPeriod"/>
            </a:pPr>
            <a:r>
              <a:rPr lang="en-US" sz="2400" dirty="0"/>
              <a:t>Proposal ( as a top level manager, you can make a proposal for better solution/decision) e.g. COVID situation online class conduct.</a:t>
            </a:r>
          </a:p>
          <a:p>
            <a:pPr marL="342900" indent="-342900">
              <a:buAutoNum type="arabicPeriod"/>
            </a:pPr>
            <a:r>
              <a:rPr lang="en-US" sz="2400" dirty="0"/>
              <a:t>Ethical </a:t>
            </a:r>
          </a:p>
        </p:txBody>
      </p:sp>
    </p:spTree>
    <p:extLst>
      <p:ext uri="{BB962C8B-B14F-4D97-AF65-F5344CB8AC3E}">
        <p14:creationId xmlns:p14="http://schemas.microsoft.com/office/powerpoint/2010/main" val="299911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8683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Prioritization of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Nature ( nature of an incident,       SWOT,          solve it)</a:t>
            </a:r>
          </a:p>
          <a:p>
            <a:r>
              <a:rPr lang="en-US" sz="2400" dirty="0"/>
              <a:t>Impact ( to maintain a sustainable market position you need R&amp;D, advertising, investing decision etc.)</a:t>
            </a:r>
          </a:p>
          <a:p>
            <a:r>
              <a:rPr lang="en-US" sz="2400" dirty="0"/>
              <a:t>Urgency ( long run and short run project urgency)</a:t>
            </a:r>
          </a:p>
          <a:p>
            <a:r>
              <a:rPr lang="en-US" sz="2400" dirty="0"/>
              <a:t>Priority (top issue)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48200" y="18288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943600" y="18288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69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Decision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From a number of alternative criteria/ solutions, choose the best one.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Recommendation</a:t>
            </a:r>
          </a:p>
          <a:p>
            <a:pPr marL="0" indent="0" algn="just">
              <a:buNone/>
            </a:pPr>
            <a:r>
              <a:rPr lang="en-US" sz="2800" dirty="0"/>
              <a:t>Recommend the decision to your boss/company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65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8382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DO’S AND DON’TS FOR CASE PREPARATION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36095"/>
              </p:ext>
            </p:extLst>
          </p:nvPr>
        </p:nvGraphicFramePr>
        <p:xfrm>
          <a:off x="381000" y="1371600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DO’S: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DON’TS: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1. Know the case backwards and forwards before you begin your case study analysis. </a:t>
                      </a:r>
                    </a:p>
                    <a:p>
                      <a:pPr algn="just">
                        <a:buNone/>
                      </a:pPr>
                      <a:r>
                        <a:rPr lang="en-US" dirty="0"/>
                        <a:t>2. Give yourself enough time to write the case study analysis. You don't want to rush through it. </a:t>
                      </a:r>
                    </a:p>
                    <a:p>
                      <a:pPr algn="just">
                        <a:buNone/>
                      </a:pPr>
                      <a:r>
                        <a:rPr lang="en-US" dirty="0"/>
                        <a:t>3. Be honest in your evaluations. Don't let personal issues and opinions cloud your judgment.</a:t>
                      </a:r>
                    </a:p>
                    <a:p>
                      <a:pPr algn="just">
                        <a:buNone/>
                      </a:pPr>
                      <a:r>
                        <a:rPr lang="en-US" dirty="0"/>
                        <a:t>4. Be analytical, not descriptive. </a:t>
                      </a:r>
                    </a:p>
                    <a:p>
                      <a:pPr algn="just">
                        <a:buNone/>
                      </a:pPr>
                      <a:r>
                        <a:rPr lang="en-US" dirty="0"/>
                        <a:t>5. Proof-read your work.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1. Don’t quit at the most obvious answer-try playing devil's advocate; put yourself in the other person's shoes. </a:t>
                      </a:r>
                    </a:p>
                    <a:p>
                      <a:pPr algn="just"/>
                      <a:r>
                        <a:rPr lang="en-US" dirty="0"/>
                        <a:t>2. Don’t try to solve all the problems you identify. It is better to try to address a very few well rather than attempting to do so much. </a:t>
                      </a:r>
                    </a:p>
                    <a:p>
                      <a:pPr algn="just"/>
                      <a:r>
                        <a:rPr lang="en-US" dirty="0"/>
                        <a:t>3. Try to avoid confusing symptoms with problems making premature evaluations. </a:t>
                      </a:r>
                    </a:p>
                    <a:p>
                      <a:pPr algn="just"/>
                      <a:r>
                        <a:rPr lang="en-US" dirty="0"/>
                        <a:t>4. Write in a formal manner suitable for scholarly work, rather than a letter to a friend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76400"/>
            <a:ext cx="5715000" cy="2143125"/>
          </a:xfrm>
        </p:spPr>
      </p:pic>
    </p:spTree>
    <p:extLst>
      <p:ext uri="{BB962C8B-B14F-4D97-AF65-F5344CB8AC3E}">
        <p14:creationId xmlns:p14="http://schemas.microsoft.com/office/powerpoint/2010/main" val="69103462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3003</TotalTime>
  <Words>818</Words>
  <Application>Microsoft Office PowerPoint</Application>
  <PresentationFormat>On-screen Show (4:3)</PresentationFormat>
  <Paragraphs>166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Times New Roman</vt:lpstr>
      <vt:lpstr>Wingdings</vt:lpstr>
      <vt:lpstr>Wingdings 3</vt:lpstr>
      <vt:lpstr>Office Theme</vt:lpstr>
      <vt:lpstr>Ion</vt:lpstr>
      <vt:lpstr>Chapter 8 Business Communication PDF Book  By Vikram Bisen</vt:lpstr>
      <vt:lpstr>Content</vt:lpstr>
      <vt:lpstr>What is Case Study</vt:lpstr>
      <vt:lpstr>Case study Competition</vt:lpstr>
      <vt:lpstr>Types of Case Study</vt:lpstr>
      <vt:lpstr>Preparation of a case study</vt:lpstr>
      <vt:lpstr>Speed Reading </vt:lpstr>
      <vt:lpstr>For Instance Business Case Study</vt:lpstr>
      <vt:lpstr>PowerPoint Presentation</vt:lpstr>
      <vt:lpstr>Solving case with different models</vt:lpstr>
      <vt:lpstr>PowerPoint Presentation</vt:lpstr>
      <vt:lpstr>PowerPoint Presentation</vt:lpstr>
      <vt:lpstr>Solution Strategy </vt:lpstr>
      <vt:lpstr>Situation Analysis</vt:lpstr>
      <vt:lpstr>Company</vt:lpstr>
      <vt:lpstr>Financial Analysis</vt:lpstr>
      <vt:lpstr>Industry</vt:lpstr>
      <vt:lpstr>Competitors</vt:lpstr>
      <vt:lpstr>Competitor Analysis Tea market in BD with established market player</vt:lpstr>
      <vt:lpstr>Issue Identification</vt:lpstr>
      <vt:lpstr>Prioritization of Issues</vt:lpstr>
      <vt:lpstr>Decision Alternatives</vt:lpstr>
      <vt:lpstr> DO’S AND DON’TS FOR CASE PREPARATION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Nazmus Sadiq</cp:lastModifiedBy>
  <cp:revision>333</cp:revision>
  <dcterms:created xsi:type="dcterms:W3CDTF">2018-09-09T02:11:58Z</dcterms:created>
  <dcterms:modified xsi:type="dcterms:W3CDTF">2026-02-15T19:30:53Z</dcterms:modified>
</cp:coreProperties>
</file>